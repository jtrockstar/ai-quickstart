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4"/>
  </p:sldMasterIdLst>
  <p:notesMasterIdLst>
    <p:notesMasterId r:id="rId33"/>
  </p:notesMasterIdLst>
  <p:handoutMasterIdLst>
    <p:handoutMasterId r:id="rId34"/>
  </p:handoutMasterIdLst>
  <p:sldIdLst>
    <p:sldId id="305" r:id="rId5"/>
    <p:sldId id="306" r:id="rId6"/>
    <p:sldId id="307" r:id="rId7"/>
    <p:sldId id="308" r:id="rId8"/>
    <p:sldId id="310" r:id="rId9"/>
    <p:sldId id="309" r:id="rId10"/>
    <p:sldId id="311" r:id="rId11"/>
    <p:sldId id="313" r:id="rId12"/>
    <p:sldId id="314" r:id="rId13"/>
    <p:sldId id="315" r:id="rId14"/>
    <p:sldId id="316" r:id="rId15"/>
    <p:sldId id="317" r:id="rId16"/>
    <p:sldId id="318" r:id="rId17"/>
    <p:sldId id="319" r:id="rId18"/>
    <p:sldId id="323" r:id="rId19"/>
    <p:sldId id="312" r:id="rId20"/>
    <p:sldId id="324" r:id="rId21"/>
    <p:sldId id="278" r:id="rId22"/>
    <p:sldId id="331" r:id="rId23"/>
    <p:sldId id="322" r:id="rId24"/>
    <p:sldId id="320" r:id="rId25"/>
    <p:sldId id="321" r:id="rId26"/>
    <p:sldId id="325" r:id="rId27"/>
    <p:sldId id="326" r:id="rId28"/>
    <p:sldId id="327" r:id="rId29"/>
    <p:sldId id="328" r:id="rId30"/>
    <p:sldId id="329" r:id="rId31"/>
    <p:sldId id="33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F4E"/>
    <a:srgbClr val="7FB241"/>
    <a:srgbClr val="1ABFE5"/>
    <a:srgbClr val="2476BA"/>
    <a:srgbClr val="0C2F4F"/>
    <a:srgbClr val="102F4E"/>
    <a:srgbClr val="E51D3E"/>
    <a:srgbClr val="08BDE2"/>
    <a:srgbClr val="898989"/>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3DBF0-8DA4-4E48-93FC-72803DA6344E}" v="7" dt="2026-10-20T19:20:11.6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94"/>
    <p:restoredTop sz="77561"/>
  </p:normalViewPr>
  <p:slideViewPr>
    <p:cSldViewPr snapToGrid="0">
      <p:cViewPr varScale="1">
        <p:scale>
          <a:sx n="121" d="100"/>
          <a:sy n="121" d="100"/>
        </p:scale>
        <p:origin x="808" y="17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vell, Jt (IBM)" userId="a01ef114-f416-43a9-bb98-240fc8e09bb5" providerId="ADAL" clId="{6A483BB6-98D8-41FD-9C48-12F3D3264B28}"/>
    <pc:docChg chg="custSel modSld sldOrd">
      <pc:chgData name="Lovell, Jt (IBM)" userId="a01ef114-f416-43a9-bb98-240fc8e09bb5" providerId="ADAL" clId="{6A483BB6-98D8-41FD-9C48-12F3D3264B28}" dt="2026-10-20T19:20:11.606" v="2414"/>
      <pc:docMkLst>
        <pc:docMk/>
      </pc:docMkLst>
      <pc:sldChg chg="modNotesTx">
        <pc:chgData name="Lovell, Jt (IBM)" userId="a01ef114-f416-43a9-bb98-240fc8e09bb5" providerId="ADAL" clId="{6A483BB6-98D8-41FD-9C48-12F3D3264B28}" dt="2026-10-20T18:18:19.640" v="1" actId="6549"/>
        <pc:sldMkLst>
          <pc:docMk/>
          <pc:sldMk cId="3528552188" sldId="305"/>
        </pc:sldMkLst>
      </pc:sldChg>
      <pc:sldChg chg="modSp modNotesTx">
        <pc:chgData name="Lovell, Jt (IBM)" userId="a01ef114-f416-43a9-bb98-240fc8e09bb5" providerId="ADAL" clId="{6A483BB6-98D8-41FD-9C48-12F3D3264B28}" dt="2026-10-20T19:20:04.517" v="2413"/>
        <pc:sldMkLst>
          <pc:docMk/>
          <pc:sldMk cId="0" sldId="306"/>
        </pc:sldMkLst>
        <pc:spChg chg="mod">
          <ac:chgData name="Lovell, Jt (IBM)" userId="a01ef114-f416-43a9-bb98-240fc8e09bb5" providerId="ADAL" clId="{6A483BB6-98D8-41FD-9C48-12F3D3264B28}" dt="2026-10-20T19:20:04.517" v="2413"/>
          <ac:spMkLst>
            <pc:docMk/>
            <pc:sldMk cId="0" sldId="306"/>
            <ac:spMk id="3" creationId="{00000000-0000-0000-0000-000000000000}"/>
          </ac:spMkLst>
        </pc:spChg>
      </pc:sldChg>
      <pc:sldChg chg="modSp modNotesTx">
        <pc:chgData name="Lovell, Jt (IBM)" userId="a01ef114-f416-43a9-bb98-240fc8e09bb5" providerId="ADAL" clId="{6A483BB6-98D8-41FD-9C48-12F3D3264B28}" dt="2026-10-20T19:20:11.606" v="2414"/>
        <pc:sldMkLst>
          <pc:docMk/>
          <pc:sldMk cId="0" sldId="307"/>
        </pc:sldMkLst>
        <pc:spChg chg="mod">
          <ac:chgData name="Lovell, Jt (IBM)" userId="a01ef114-f416-43a9-bb98-240fc8e09bb5" providerId="ADAL" clId="{6A483BB6-98D8-41FD-9C48-12F3D3264B28}" dt="2026-10-20T19:20:11.606" v="2414"/>
          <ac:spMkLst>
            <pc:docMk/>
            <pc:sldMk cId="0" sldId="307"/>
            <ac:spMk id="3" creationId="{00000000-0000-0000-0000-000000000000}"/>
          </ac:spMkLst>
        </pc:spChg>
      </pc:sldChg>
      <pc:sldChg chg="modNotesTx">
        <pc:chgData name="Lovell, Jt (IBM)" userId="a01ef114-f416-43a9-bb98-240fc8e09bb5" providerId="ADAL" clId="{6A483BB6-98D8-41FD-9C48-12F3D3264B28}" dt="2026-10-20T18:42:23.064" v="1917" actId="6549"/>
        <pc:sldMkLst>
          <pc:docMk/>
          <pc:sldMk cId="0" sldId="308"/>
        </pc:sldMkLst>
      </pc:sldChg>
      <pc:sldChg chg="modSp mod modNotesTx">
        <pc:chgData name="Lovell, Jt (IBM)" userId="a01ef114-f416-43a9-bb98-240fc8e09bb5" providerId="ADAL" clId="{6A483BB6-98D8-41FD-9C48-12F3D3264B28}" dt="2026-10-20T18:44:27.762" v="2064" actId="6549"/>
        <pc:sldMkLst>
          <pc:docMk/>
          <pc:sldMk cId="0" sldId="309"/>
        </pc:sldMkLst>
        <pc:spChg chg="mod">
          <ac:chgData name="Lovell, Jt (IBM)" userId="a01ef114-f416-43a9-bb98-240fc8e09bb5" providerId="ADAL" clId="{6A483BB6-98D8-41FD-9C48-12F3D3264B28}" dt="2026-10-20T18:43:48.544" v="1949" actId="20577"/>
          <ac:spMkLst>
            <pc:docMk/>
            <pc:sldMk cId="0" sldId="309"/>
            <ac:spMk id="9004" creationId="{00000000-0000-0000-0000-000000000000}"/>
          </ac:spMkLst>
        </pc:spChg>
        <pc:spChg chg="mod">
          <ac:chgData name="Lovell, Jt (IBM)" userId="a01ef114-f416-43a9-bb98-240fc8e09bb5" providerId="ADAL" clId="{6A483BB6-98D8-41FD-9C48-12F3D3264B28}" dt="2026-10-20T18:43:54.104" v="1957" actId="20577"/>
          <ac:spMkLst>
            <pc:docMk/>
            <pc:sldMk cId="0" sldId="309"/>
            <ac:spMk id="9007" creationId="{00000000-0000-0000-0000-000000000000}"/>
          </ac:spMkLst>
        </pc:spChg>
      </pc:sldChg>
      <pc:sldChg chg="ord modNotesTx">
        <pc:chgData name="Lovell, Jt (IBM)" userId="a01ef114-f416-43a9-bb98-240fc8e09bb5" providerId="ADAL" clId="{6A483BB6-98D8-41FD-9C48-12F3D3264B28}" dt="2026-10-20T18:48:20.211" v="2069"/>
        <pc:sldMkLst>
          <pc:docMk/>
          <pc:sldMk cId="0" sldId="310"/>
        </pc:sldMkLst>
      </pc:sldChg>
      <pc:sldChg chg="modNotesTx">
        <pc:chgData name="Lovell, Jt (IBM)" userId="a01ef114-f416-43a9-bb98-240fc8e09bb5" providerId="ADAL" clId="{6A483BB6-98D8-41FD-9C48-12F3D3264B28}" dt="2026-10-20T18:49:55.266" v="2304" actId="6549"/>
        <pc:sldMkLst>
          <pc:docMk/>
          <pc:sldMk cId="0" sldId="311"/>
        </pc:sldMkLst>
      </pc:sldChg>
      <pc:sldChg chg="modSp mod modNotesTx">
        <pc:chgData name="Lovell, Jt (IBM)" userId="a01ef114-f416-43a9-bb98-240fc8e09bb5" providerId="ADAL" clId="{6A483BB6-98D8-41FD-9C48-12F3D3264B28}" dt="2026-10-20T18:54:30.524" v="2375" actId="20577"/>
        <pc:sldMkLst>
          <pc:docMk/>
          <pc:sldMk cId="0" sldId="313"/>
        </pc:sldMkLst>
        <pc:spChg chg="mod">
          <ac:chgData name="Lovell, Jt (IBM)" userId="a01ef114-f416-43a9-bb98-240fc8e09bb5" providerId="ADAL" clId="{6A483BB6-98D8-41FD-9C48-12F3D3264B28}" dt="2026-10-20T18:54:30.524" v="2375" actId="20577"/>
          <ac:spMkLst>
            <pc:docMk/>
            <pc:sldMk cId="0" sldId="313"/>
            <ac:spMk id="2" creationId="{00000000-0000-0000-0000-000000000000}"/>
          </ac:spMkLst>
        </pc:spChg>
      </pc:sldChg>
      <pc:sldChg chg="modSp mod">
        <pc:chgData name="Lovell, Jt (IBM)" userId="a01ef114-f416-43a9-bb98-240fc8e09bb5" providerId="ADAL" clId="{6A483BB6-98D8-41FD-9C48-12F3D3264B28}" dt="2026-10-20T18:55:31.498" v="2384" actId="20577"/>
        <pc:sldMkLst>
          <pc:docMk/>
          <pc:sldMk cId="0" sldId="314"/>
        </pc:sldMkLst>
        <pc:spChg chg="mod">
          <ac:chgData name="Lovell, Jt (IBM)" userId="a01ef114-f416-43a9-bb98-240fc8e09bb5" providerId="ADAL" clId="{6A483BB6-98D8-41FD-9C48-12F3D3264B28}" dt="2026-10-20T18:55:31.498" v="2384" actId="20577"/>
          <ac:spMkLst>
            <pc:docMk/>
            <pc:sldMk cId="0" sldId="314"/>
            <ac:spMk id="2" creationId="{00000000-0000-0000-0000-000000000000}"/>
          </ac:spMkLst>
        </pc:spChg>
      </pc:sldChg>
      <pc:sldChg chg="modSp mod">
        <pc:chgData name="Lovell, Jt (IBM)" userId="a01ef114-f416-43a9-bb98-240fc8e09bb5" providerId="ADAL" clId="{6A483BB6-98D8-41FD-9C48-12F3D3264B28}" dt="2026-10-20T18:57:03.692" v="2389" actId="115"/>
        <pc:sldMkLst>
          <pc:docMk/>
          <pc:sldMk cId="0" sldId="316"/>
        </pc:sldMkLst>
        <pc:spChg chg="mod">
          <ac:chgData name="Lovell, Jt (IBM)" userId="a01ef114-f416-43a9-bb98-240fc8e09bb5" providerId="ADAL" clId="{6A483BB6-98D8-41FD-9C48-12F3D3264B28}" dt="2026-10-20T18:57:03.692" v="2389" actId="115"/>
          <ac:spMkLst>
            <pc:docMk/>
            <pc:sldMk cId="0" sldId="316"/>
            <ac:spMk id="2" creationId="{00000000-0000-0000-0000-000000000000}"/>
          </ac:spMkLst>
        </pc:spChg>
      </pc:sldChg>
      <pc:sldChg chg="ord">
        <pc:chgData name="Lovell, Jt (IBM)" userId="a01ef114-f416-43a9-bb98-240fc8e09bb5" providerId="ADAL" clId="{6A483BB6-98D8-41FD-9C48-12F3D3264B28}" dt="2026-10-20T19:02:31.279" v="2391"/>
        <pc:sldMkLst>
          <pc:docMk/>
          <pc:sldMk cId="0" sldId="322"/>
        </pc:sldMkLst>
      </pc:sldChg>
      <pc:sldChg chg="modSp mod">
        <pc:chgData name="Lovell, Jt (IBM)" userId="a01ef114-f416-43a9-bb98-240fc8e09bb5" providerId="ADAL" clId="{6A483BB6-98D8-41FD-9C48-12F3D3264B28}" dt="2026-10-20T19:19:17.894" v="2412" actId="20577"/>
        <pc:sldMkLst>
          <pc:docMk/>
          <pc:sldMk cId="0" sldId="324"/>
        </pc:sldMkLst>
        <pc:spChg chg="mod">
          <ac:chgData name="Lovell, Jt (IBM)" userId="a01ef114-f416-43a9-bb98-240fc8e09bb5" providerId="ADAL" clId="{6A483BB6-98D8-41FD-9C48-12F3D3264B28}" dt="2026-10-20T19:19:17.894" v="2412" actId="20577"/>
          <ac:spMkLst>
            <pc:docMk/>
            <pc:sldMk cId="0" sldId="324"/>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2E1065"/>
                </a:solidFill>
                <a:latin typeface="Segoe UI"/>
                <a:ea typeface="Segoe UI"/>
                <a:cs typeface="Segoe UI"/>
              </a:rPr>
              <a:t>Story points</a:t>
            </a:r>
          </a:p>
        </c:rich>
      </c:tx>
      <c:overlay val="0"/>
    </c:title>
    <c:autoTitleDeleted val="0"/>
    <c:plotArea>
      <c:layout/>
      <c:barChart>
        <c:barDir val="col"/>
        <c:grouping val="clustered"/>
        <c:varyColors val="1"/>
        <c:ser>
          <c:idx val="0"/>
          <c:order val="0"/>
          <c:tx>
            <c:strRef>
              <c:f>Sheet1!$B$1</c:f>
              <c:strCache>
                <c:ptCount val="1"/>
                <c:pt idx="0">
                  <c:v>Story points</c:v>
                </c:pt>
              </c:strCache>
            </c:strRef>
          </c:tx>
          <c:invertIfNegative val="1"/>
          <c:dPt>
            <c:idx val="0"/>
            <c:invertIfNegative val="1"/>
            <c:bubble3D val="0"/>
            <c:spPr>
              <a:solidFill>
                <a:srgbClr val="919191"/>
              </a:solidFill>
            </c:spPr>
            <c:extLst>
              <c:ext xmlns:c16="http://schemas.microsoft.com/office/drawing/2014/chart" uri="{C3380CC4-5D6E-409C-BE32-E72D297353CC}">
                <c16:uniqueId val="{00000001-97AD-824B-9995-E2BADCA854B1}"/>
              </c:ext>
            </c:extLst>
          </c:dPt>
          <c:dPt>
            <c:idx val="1"/>
            <c:invertIfNegative val="1"/>
            <c:bubble3D val="0"/>
            <c:spPr>
              <a:solidFill>
                <a:srgbClr val="C084FC"/>
              </a:solidFill>
            </c:spPr>
            <c:extLst>
              <c:ext xmlns:c16="http://schemas.microsoft.com/office/drawing/2014/chart" uri="{C3380CC4-5D6E-409C-BE32-E72D297353CC}">
                <c16:uniqueId val="{00000003-97AD-824B-9995-E2BADCA854B1}"/>
              </c:ext>
            </c:extLst>
          </c:dPt>
          <c:dPt>
            <c:idx val="2"/>
            <c:invertIfNegative val="1"/>
            <c:bubble3D val="0"/>
            <c:spPr>
              <a:solidFill>
                <a:srgbClr val="2E1065"/>
              </a:solidFill>
            </c:spPr>
            <c:extLst>
              <c:ext xmlns:c16="http://schemas.microsoft.com/office/drawing/2014/chart" uri="{C3380CC4-5D6E-409C-BE32-E72D297353CC}">
                <c16:uniqueId val="{00000005-97AD-824B-9995-E2BADCA854B1}"/>
              </c:ext>
            </c:extLst>
          </c:dPt>
          <c:dLbls>
            <c:numFmt formatCode="#,##0" sourceLinked="0"/>
            <c:spPr>
              <a:noFill/>
              <a:ln>
                <a:noFill/>
              </a:ln>
              <a:effectLst/>
            </c:spPr>
            <c:txPr>
              <a:bodyPr/>
              <a:lstStyle/>
              <a:p>
                <a:pPr>
                  <a:defRPr sz="1600" b="1">
                    <a:solidFill>
                      <a:srgbClr val="2E1065"/>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PI-1</c:v>
                </c:pt>
                <c:pt idx="1">
                  <c:v>PI-2</c:v>
                </c:pt>
                <c:pt idx="2">
                  <c:v>PI-3</c:v>
                </c:pt>
              </c:strCache>
            </c:strRef>
          </c:cat>
          <c:val>
            <c:numRef>
              <c:f>Sheet1!$B$2:$B$4</c:f>
              <c:numCache>
                <c:formatCode>General</c:formatCode>
                <c:ptCount val="3"/>
                <c:pt idx="0">
                  <c:v>28</c:v>
                </c:pt>
                <c:pt idx="1">
                  <c:v>72</c:v>
                </c:pt>
                <c:pt idx="2">
                  <c:v>263</c:v>
                </c:pt>
              </c:numCache>
            </c:numRef>
          </c:val>
          <c:extLst>
            <c:ext xmlns:c16="http://schemas.microsoft.com/office/drawing/2014/chart" uri="{C3380CC4-5D6E-409C-BE32-E72D297353CC}">
              <c16:uniqueId val="{00000006-97AD-824B-9995-E2BADCA854B1}"/>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A949E"/>
            </a:solidFill>
          </a:ln>
        </c:spPr>
        <c:txPr>
          <a:bodyPr/>
          <a:lstStyle/>
          <a:p>
            <a:pPr>
              <a:defRPr sz="1600">
                <a:latin typeface="Segoe UI"/>
              </a:defRPr>
            </a:pPr>
            <a:endParaRPr lang="en-US"/>
          </a:p>
        </c:txPr>
        <c:crossAx val="-2113994440"/>
        <c:crosses val="autoZero"/>
        <c:auto val="1"/>
        <c:lblAlgn val="ctr"/>
        <c:lblOffset val="100"/>
        <c:noMultiLvlLbl val="0"/>
      </c:catAx>
      <c:valAx>
        <c:axId val="-2113994440"/>
        <c:scaling>
          <c:orientation val="minMax"/>
          <c:max val="310.33999999999997"/>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3A3A3A"/>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600" b="1">
                <a:solidFill>
                  <a:srgbClr val="2E1065"/>
                </a:solidFill>
                <a:latin typeface="Segoe UI"/>
                <a:ea typeface="Segoe UI"/>
                <a:cs typeface="Segoe UI"/>
              </a:rPr>
              <a:t>Issues closed</a:t>
            </a:r>
          </a:p>
        </c:rich>
      </c:tx>
      <c:overlay val="0"/>
    </c:title>
    <c:autoTitleDeleted val="0"/>
    <c:plotArea>
      <c:layout/>
      <c:barChart>
        <c:barDir val="col"/>
        <c:grouping val="clustered"/>
        <c:varyColors val="1"/>
        <c:ser>
          <c:idx val="0"/>
          <c:order val="0"/>
          <c:tx>
            <c:strRef>
              <c:f>Sheet1!$B$1</c:f>
              <c:strCache>
                <c:ptCount val="1"/>
                <c:pt idx="0">
                  <c:v>Issues closed</c:v>
                </c:pt>
              </c:strCache>
            </c:strRef>
          </c:tx>
          <c:invertIfNegative val="1"/>
          <c:dPt>
            <c:idx val="0"/>
            <c:invertIfNegative val="1"/>
            <c:bubble3D val="0"/>
            <c:spPr>
              <a:solidFill>
                <a:srgbClr val="919191"/>
              </a:solidFill>
            </c:spPr>
            <c:extLst>
              <c:ext xmlns:c16="http://schemas.microsoft.com/office/drawing/2014/chart" uri="{C3380CC4-5D6E-409C-BE32-E72D297353CC}">
                <c16:uniqueId val="{00000001-0D7F-B043-A4FC-B3E918955164}"/>
              </c:ext>
            </c:extLst>
          </c:dPt>
          <c:dPt>
            <c:idx val="1"/>
            <c:invertIfNegative val="1"/>
            <c:bubble3D val="0"/>
            <c:spPr>
              <a:solidFill>
                <a:srgbClr val="C084FC"/>
              </a:solidFill>
            </c:spPr>
            <c:extLst>
              <c:ext xmlns:c16="http://schemas.microsoft.com/office/drawing/2014/chart" uri="{C3380CC4-5D6E-409C-BE32-E72D297353CC}">
                <c16:uniqueId val="{00000003-0D7F-B043-A4FC-B3E918955164}"/>
              </c:ext>
            </c:extLst>
          </c:dPt>
          <c:dPt>
            <c:idx val="2"/>
            <c:invertIfNegative val="1"/>
            <c:bubble3D val="0"/>
            <c:spPr>
              <a:solidFill>
                <a:srgbClr val="2E1065"/>
              </a:solidFill>
            </c:spPr>
            <c:extLst>
              <c:ext xmlns:c16="http://schemas.microsoft.com/office/drawing/2014/chart" uri="{C3380CC4-5D6E-409C-BE32-E72D297353CC}">
                <c16:uniqueId val="{00000005-0D7F-B043-A4FC-B3E918955164}"/>
              </c:ext>
            </c:extLst>
          </c:dPt>
          <c:dLbls>
            <c:numFmt formatCode="#,##0" sourceLinked="0"/>
            <c:spPr>
              <a:noFill/>
              <a:ln>
                <a:noFill/>
              </a:ln>
              <a:effectLst/>
            </c:spPr>
            <c:txPr>
              <a:bodyPr/>
              <a:lstStyle/>
              <a:p>
                <a:pPr>
                  <a:defRPr sz="1600" b="1">
                    <a:solidFill>
                      <a:srgbClr val="2E1065"/>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PI-1</c:v>
                </c:pt>
                <c:pt idx="1">
                  <c:v>PI-2</c:v>
                </c:pt>
                <c:pt idx="2">
                  <c:v>PI-3</c:v>
                </c:pt>
              </c:strCache>
            </c:strRef>
          </c:cat>
          <c:val>
            <c:numRef>
              <c:f>Sheet1!$B$2:$B$4</c:f>
              <c:numCache>
                <c:formatCode>General</c:formatCode>
                <c:ptCount val="3"/>
                <c:pt idx="0">
                  <c:v>8</c:v>
                </c:pt>
                <c:pt idx="1">
                  <c:v>28</c:v>
                </c:pt>
                <c:pt idx="2">
                  <c:v>60</c:v>
                </c:pt>
              </c:numCache>
            </c:numRef>
          </c:val>
          <c:extLst>
            <c:ext xmlns:c16="http://schemas.microsoft.com/office/drawing/2014/chart" uri="{C3380CC4-5D6E-409C-BE32-E72D297353CC}">
              <c16:uniqueId val="{00000006-0D7F-B043-A4FC-B3E918955164}"/>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A949E"/>
            </a:solidFill>
          </a:ln>
        </c:spPr>
        <c:txPr>
          <a:bodyPr/>
          <a:lstStyle/>
          <a:p>
            <a:pPr>
              <a:defRPr sz="1600">
                <a:latin typeface="Segoe UI"/>
              </a:defRPr>
            </a:pPr>
            <a:endParaRPr lang="en-US"/>
          </a:p>
        </c:txPr>
        <c:crossAx val="-2113994440"/>
        <c:crosses val="autoZero"/>
        <c:auto val="1"/>
        <c:lblAlgn val="ctr"/>
        <c:lblOffset val="100"/>
        <c:noMultiLvlLbl val="0"/>
      </c:catAx>
      <c:valAx>
        <c:axId val="-2113994440"/>
        <c:scaling>
          <c:orientation val="minMax"/>
          <c:max val="70.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3A3A3A"/>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US" sz="1600" b="1">
                <a:solidFill>
                  <a:srgbClr val="2E1065"/>
                </a:solidFill>
                <a:latin typeface="Segoe UI"/>
                <a:ea typeface="Segoe UI"/>
                <a:cs typeface="Segoe UI"/>
              </a:rPr>
              <a:t>Statement coverage</a:t>
            </a:r>
          </a:p>
        </c:rich>
      </c:tx>
      <c:overlay val="0"/>
    </c:title>
    <c:autoTitleDeleted val="0"/>
    <c:plotArea>
      <c:layout>
        <c:manualLayout>
          <c:layoutTarget val="inner"/>
          <c:xMode val="edge"/>
          <c:yMode val="edge"/>
          <c:x val="0.2"/>
          <c:y val="0.15"/>
          <c:w val="0.6"/>
          <c:h val="0.66"/>
        </c:manualLayout>
      </c:layout>
      <c:doughnutChart>
        <c:varyColors val="1"/>
        <c:ser>
          <c:idx val="0"/>
          <c:order val="0"/>
          <c:tx>
            <c:strRef>
              <c:f>Sheet1!$B$1</c:f>
              <c:strCache>
                <c:ptCount val="1"/>
                <c:pt idx="0">
                  <c:v>Statement coverage</c:v>
                </c:pt>
              </c:strCache>
            </c:strRef>
          </c:tx>
          <c:dPt>
            <c:idx val="0"/>
            <c:bubble3D val="0"/>
            <c:spPr>
              <a:solidFill>
                <a:srgbClr val="7C3AED"/>
              </a:solidFill>
            </c:spPr>
            <c:extLst>
              <c:ext xmlns:c16="http://schemas.microsoft.com/office/drawing/2014/chart" uri="{C3380CC4-5D6E-409C-BE32-E72D297353CC}">
                <c16:uniqueId val="{00000001-A1FD-004E-9FF3-D6ED52F7C3AE}"/>
              </c:ext>
            </c:extLst>
          </c:dPt>
          <c:dPt>
            <c:idx val="1"/>
            <c:bubble3D val="0"/>
            <c:spPr>
              <a:solidFill>
                <a:srgbClr val="C9D3DD"/>
              </a:solidFill>
            </c:spPr>
            <c:extLst>
              <c:ext xmlns:c16="http://schemas.microsoft.com/office/drawing/2014/chart" uri="{C3380CC4-5D6E-409C-BE32-E72D297353CC}">
                <c16:uniqueId val="{00000003-A1FD-004E-9FF3-D6ED52F7C3AE}"/>
              </c:ext>
            </c:extLst>
          </c:dPt>
          <c:cat>
            <c:strRef>
              <c:f>Sheet1!$A$2:$A$3</c:f>
              <c:strCache>
                <c:ptCount val="2"/>
                <c:pt idx="0">
                  <c:v>Covered (79%)</c:v>
                </c:pt>
                <c:pt idx="1">
                  <c:v>Not covered (21%)</c:v>
                </c:pt>
              </c:strCache>
            </c:strRef>
          </c:cat>
          <c:val>
            <c:numRef>
              <c:f>Sheet1!$B$2:$B$3</c:f>
              <c:numCache>
                <c:formatCode>General</c:formatCode>
                <c:ptCount val="2"/>
                <c:pt idx="0">
                  <c:v>0.79</c:v>
                </c:pt>
                <c:pt idx="1">
                  <c:v>0.21</c:v>
                </c:pt>
              </c:numCache>
            </c:numRef>
          </c:val>
          <c:extLst>
            <c:ext xmlns:c16="http://schemas.microsoft.com/office/drawing/2014/chart" uri="{C3380CC4-5D6E-409C-BE32-E72D297353CC}">
              <c16:uniqueId val="{00000004-A1FD-004E-9FF3-D6ED52F7C3AE}"/>
            </c:ext>
          </c:extLst>
        </c:ser>
        <c:dLbls>
          <c:showLegendKey val="0"/>
          <c:showVal val="0"/>
          <c:showCatName val="0"/>
          <c:showSerName val="0"/>
          <c:showPercent val="0"/>
          <c:showBubbleSize val="0"/>
          <c:showLeaderLines val="1"/>
        </c:dLbls>
        <c:firstSliceAng val="0"/>
        <c:holeSize val="62"/>
      </c:doughnutChart>
    </c:plotArea>
    <c:legend>
      <c:legendPos val="b"/>
      <c:overlay val="0"/>
      <c:txPr>
        <a:bodyPr/>
        <a:lstStyle/>
        <a:p>
          <a:pPr>
            <a:defRPr sz="1400">
              <a:latin typeface="Segoe UI"/>
            </a:defRPr>
          </a:pPr>
          <a:endParaRPr lang="en-US"/>
        </a:p>
      </c:txPr>
    </c:legend>
    <c:plotVisOnly val="1"/>
    <c:dispBlanksAs val="gap"/>
    <c:showDLblsOverMax val="0"/>
  </c:chart>
  <c:txPr>
    <a:bodyPr/>
    <a:lstStyle/>
    <a:p>
      <a:pPr>
        <a:defRPr sz="1800">
          <a:latin typeface="Segoe U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4EA599-9803-B04C-B3FB-2B0E7F023161}" type="datetimeFigureOut">
              <a:rPr lang="en-US" smtClean="0"/>
              <a:t>10/21/26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DA192-9301-2E4C-82C0-B2B1A3F60873}" type="slidenum">
              <a:rPr lang="en-US" smtClean="0"/>
              <a:t>‹#›</a:t>
            </a:fld>
            <a:endParaRPr lang="en-US"/>
          </a:p>
        </p:txBody>
      </p:sp>
    </p:spTree>
    <p:extLst>
      <p:ext uri="{BB962C8B-B14F-4D97-AF65-F5344CB8AC3E}">
        <p14:creationId xmlns:p14="http://schemas.microsoft.com/office/powerpoint/2010/main" val="16625192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FAF83-101F-2B48-87AB-16089F66384F}"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1FA43-6C0E-6047-B106-ADAB81A86D51}" type="slidenum">
              <a:rPr lang="en-US" smtClean="0"/>
              <a:t>‹#›</a:t>
            </a:fld>
            <a:endParaRPr lang="en-US"/>
          </a:p>
        </p:txBody>
      </p:sp>
    </p:spTree>
    <p:extLst>
      <p:ext uri="{BB962C8B-B14F-4D97-AF65-F5344CB8AC3E}">
        <p14:creationId xmlns:p14="http://schemas.microsoft.com/office/powerpoint/2010/main" val="51174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Open with </a:t>
            </a:r>
            <a:r>
              <a:rPr lang="en-US" dirty="0"/>
              <a:t>the </a:t>
            </a:r>
            <a:r>
              <a:rPr dirty="0"/>
              <a:t>idea to release in days, without sacrificing quality. Then go straight to the bottom line on the next slide.</a:t>
            </a:r>
          </a:p>
          <a:p>
            <a:endParaRPr dirty="0"/>
          </a:p>
          <a:p>
            <a:r>
              <a:rPr dirty="0"/>
              <a:t>The title is a little playful on purpose. The content behind it is rigorous, and the next two slides show the results before I explain how they happened.</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I’ve been using AI for a few years now, and in these first 2 periods I used it to solve problems, review code, </a:t>
            </a:r>
            <a:r>
              <a:rPr dirty="0"/>
              <a:t>write a story, fix a bu</a:t>
            </a:r>
            <a:r>
              <a:rPr lang="en-US" dirty="0"/>
              <a:t>g, etc</a:t>
            </a:r>
            <a:r>
              <a:rPr dirty="0"/>
              <a:t>.</a:t>
            </a:r>
          </a:p>
          <a:p>
            <a:br>
              <a:rPr lang="en-US" dirty="0"/>
            </a:br>
            <a:r>
              <a:rPr lang="en-US" dirty="0"/>
              <a:t>In the middle of this last period, I decided to run an experiment to see what would happen if I used AI for every step of the product development process and I’ll show details of that process in a moment.</a:t>
            </a:r>
            <a:br>
              <a:rPr lang="en-US" dirty="0"/>
            </a:br>
            <a:br>
              <a:rPr lang="en-US" dirty="0"/>
            </a:br>
            <a:r>
              <a:rPr lang="en-US" dirty="0"/>
              <a:t>The results were pretty dramatic, it was a 3x improvement velocity. </a:t>
            </a:r>
            <a:br>
              <a:rPr lang="en-US" dirty="0"/>
            </a:br>
            <a:br>
              <a:rPr lang="en-US" dirty="0"/>
            </a:br>
            <a:r>
              <a:rPr lang="en-US" dirty="0"/>
              <a:t>People who have used AI a lot are likely not surprised by this.</a:t>
            </a:r>
            <a:br>
              <a:rPr lang="en-US" dirty="0"/>
            </a:br>
            <a:br>
              <a:rPr lang="en-US" dirty="0"/>
            </a:br>
            <a:r>
              <a:rPr lang="en-US" dirty="0"/>
              <a:t>What I didn’t really expect is what happened next.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Using the learnings from the first epic to roll into the next epic and then the next and then the next, my velocity kept improving. </a:t>
            </a:r>
            <a:br>
              <a:rPr lang="en-US" dirty="0"/>
            </a:br>
            <a:br>
              <a:rPr lang="en-US" dirty="0"/>
            </a:br>
            <a:r>
              <a:rPr dirty="0"/>
              <a:t>FY26 PI-3 closed at 263 points</a:t>
            </a:r>
            <a:r>
              <a:rPr lang="en-US" dirty="0"/>
              <a:t>. That’s 40 full-time weeks worth of value delivered in about 17 half-time weeks.</a:t>
            </a:r>
            <a:br>
              <a:rPr lang="en-US" dirty="0"/>
            </a:br>
            <a:br>
              <a:rPr lang="en-US" dirty="0"/>
            </a:br>
            <a:r>
              <a:rPr dirty="0"/>
              <a:t>This came from compounding</a:t>
            </a:r>
            <a:r>
              <a:rPr lang="en-US" dirty="0"/>
              <a:t>, much the same way as compounding earnings on a 401k. </a:t>
            </a:r>
            <a:r>
              <a:rPr dirty="0"/>
              <a:t>Each epic left behind reusable assets</a:t>
            </a:r>
            <a:r>
              <a:rPr lang="en-US" dirty="0"/>
              <a:t> including:</a:t>
            </a:r>
            <a:br>
              <a:rPr lang="en-US" dirty="0"/>
            </a:br>
            <a:r>
              <a:rPr lang="en-US" dirty="0"/>
              <a:t>- </a:t>
            </a:r>
            <a:r>
              <a:rPr dirty="0"/>
              <a:t>working agreements</a:t>
            </a:r>
            <a:endParaRPr lang="en-US" dirty="0"/>
          </a:p>
          <a:p>
            <a:pPr marL="171450" indent="-171450">
              <a:buFontTx/>
              <a:buChar char="-"/>
            </a:pPr>
            <a:r>
              <a:rPr dirty="0"/>
              <a:t>written memory</a:t>
            </a:r>
            <a:endParaRPr lang="en-US" dirty="0"/>
          </a:p>
          <a:p>
            <a:pPr marL="171450" indent="-171450">
              <a:buFontTx/>
              <a:buChar char="-"/>
            </a:pPr>
            <a:r>
              <a:rPr dirty="0"/>
              <a:t>problem </a:t>
            </a:r>
            <a:r>
              <a:rPr lang="en-US" dirty="0"/>
              <a:t>solutions remembered</a:t>
            </a:r>
          </a:p>
          <a:p>
            <a:pPr marL="171450" indent="-171450">
              <a:buFontTx/>
              <a:buChar char="-"/>
            </a:pPr>
            <a:r>
              <a:rPr dirty="0"/>
              <a:t>tooling </a:t>
            </a:r>
            <a:endParaRPr lang="en-US" dirty="0"/>
          </a:p>
          <a:p>
            <a:pPr marL="171450" indent="-171450">
              <a:buFontTx/>
              <a:buChar char="-"/>
            </a:pPr>
            <a:endParaRPr lang="en-US" dirty="0"/>
          </a:p>
          <a:p>
            <a:pPr marL="0" indent="0">
              <a:buFontTx/>
              <a:buNone/>
            </a:pPr>
            <a:r>
              <a:rPr dirty="0"/>
              <a:t>That's why the curve accelerates instead of stepping up once. </a:t>
            </a:r>
            <a:r>
              <a:rPr lang="en-US" dirty="0"/>
              <a:t>Operational work still took up half my time.</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That first epic was such a success that I started singling the praises of AI.</a:t>
            </a:r>
            <a:br>
              <a:rPr lang="en-US" dirty="0"/>
            </a:br>
            <a:br>
              <a:rPr lang="en-US" dirty="0"/>
            </a:br>
            <a:r>
              <a:rPr lang="en-US" dirty="0"/>
              <a:t>I got </a:t>
            </a:r>
            <a:r>
              <a:rPr dirty="0"/>
              <a:t>asked </a:t>
            </a:r>
            <a:r>
              <a:rPr lang="en-US" dirty="0"/>
              <a:t>h</a:t>
            </a:r>
            <a:r>
              <a:rPr dirty="0"/>
              <a:t>ow did you do it, and how can </a:t>
            </a:r>
            <a:r>
              <a:rPr lang="en-US" dirty="0"/>
              <a:t>they? I didn’t really have a ready answer because so much of it depended on the process and their knowledge.</a:t>
            </a:r>
          </a:p>
          <a:p>
            <a:endParaRPr lang="en-US" dirty="0"/>
          </a:p>
          <a:p>
            <a:r>
              <a:rPr dirty="0"/>
              <a:t>So my </a:t>
            </a:r>
            <a:r>
              <a:rPr lang="en-US" dirty="0"/>
              <a:t>new experiment became “How can I make this re-usable? Attempts to make it re-usable is how it escalated. </a:t>
            </a:r>
          </a:p>
          <a:p>
            <a:endParaRPr lang="en-US" dirty="0"/>
          </a:p>
          <a:p>
            <a:r>
              <a:rPr lang="en-US" dirty="0"/>
              <a:t>Instead of just doing work fast, I focused on ensuring that every working agreement or decision or solved problem was rolled back into the instruction set that was in the repo already so that the AI never forgot what we did or why. Including if the session changed or the developer.</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AI helps you go faster. </a:t>
            </a:r>
            <a:endParaRPr lang="en-US" dirty="0"/>
          </a:p>
          <a:p>
            <a:r>
              <a:rPr dirty="0"/>
              <a:t>Structure helps you navigate at speed. </a:t>
            </a:r>
            <a:endParaRPr lang="en-US" dirty="0"/>
          </a:p>
          <a:p>
            <a:r>
              <a:rPr dirty="0"/>
              <a:t>Context helps you remember the shortcuts.</a:t>
            </a:r>
          </a:p>
          <a:p>
            <a:endParaRPr dirty="0"/>
          </a:p>
          <a:p>
            <a:r>
              <a:rPr dirty="0"/>
              <a:t>Think of it as a car:</a:t>
            </a:r>
          </a:p>
          <a:p>
            <a:r>
              <a:rPr dirty="0"/>
              <a:t>- AI is the engine. The agent does the heavy lifting: code, tests, diagrams, docs. Raw speed is the easy part now, and it's the part everyone already has.</a:t>
            </a:r>
          </a:p>
          <a:p>
            <a:r>
              <a:rPr dirty="0"/>
              <a:t>- Structure steers. Going fast in the wrong direction just gets you lost faster. The lifecycle (slides 7 and 8), the Definition of Done (slide 10), testing that proves it works (slide 12), and humans controlling the risky steps and gates (slide 11) keep the speed pointed the right way, with quality, every time.</a:t>
            </a:r>
          </a:p>
          <a:p>
            <a:r>
              <a:rPr dirty="0"/>
              <a:t>- Context is the map. Agreements, decisions, and lessons learned live in the repo (slide 9), and every mistake becomes a written rule (slide 14). That's the shortcut: each session and each epic starts further ahead instead of from scratch.</a:t>
            </a:r>
          </a:p>
          <a:p>
            <a:endParaRPr dirty="0"/>
          </a:p>
          <a:p>
            <a:r>
              <a:rPr dirty="0"/>
              <a:t>Everything after this slide shows how each part works, and it explains the jetpack.</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Most</a:t>
            </a:r>
            <a:r>
              <a:rPr lang="en-US" dirty="0"/>
              <a:t> people using AI start on the left side and that’s fine. </a:t>
            </a:r>
          </a:p>
          <a:p>
            <a:endParaRPr lang="en-US" dirty="0"/>
          </a:p>
          <a:p>
            <a:r>
              <a:rPr lang="en-US" dirty="0"/>
              <a:t>But the power is in the right side.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Here is the actual way I used context. If you’ve worked in product management before this will sound pretty familiar. It’s not a new idea, it’s just the old idea faster.</a:t>
            </a:r>
          </a:p>
          <a:p>
            <a:endParaRPr lang="en-US" dirty="0"/>
          </a:p>
          <a:p>
            <a:r>
              <a:rPr dirty="0"/>
              <a:t>Walk it left to right:</a:t>
            </a:r>
          </a:p>
          <a:p>
            <a:r>
              <a:rPr dirty="0"/>
              <a:t>- Ideate: anyone can contribute (users, stakeholders, the team). Ideas, brainstorms, and the backlog get collected. AI helps shape raw ideas into a scope.</a:t>
            </a:r>
          </a:p>
          <a:p>
            <a:r>
              <a:rPr dirty="0"/>
              <a:t>- Define: the Product Manager writes the PRD (Product Requirements Document). The PRD holds both the why and the what: the problem, the goals, the scope, and the constraints. AI drafts it and asks clarifying questions.</a:t>
            </a:r>
          </a:p>
          <a:p>
            <a:r>
              <a:rPr dirty="0"/>
              <a:t>- Design: the Technical Architect writes the TDD (Technical Design Document). The TDD holds the how: the architecture, with a diagram for every module. AI drafts the design and the diagrams.</a:t>
            </a:r>
          </a:p>
          <a:p>
            <a:r>
              <a:rPr dirty="0"/>
              <a:t>- Write and refine: the Product Owner and Business Analyst create the epics, spikes, and stories with acceptance criteria. Spikes come first: short, time-boxed investigations against the real system, so the expensive surprises (API limits, vendor quirks) get caught before they become rework. AI runs the spikes and drafts the stories.</a:t>
            </a:r>
          </a:p>
          <a:p>
            <a:r>
              <a:rPr dirty="0"/>
              <a:t>- Build and test: Business Analysts, developers, and QA build and test the stories: code, unit tests, and functional test plans. AI writes the code, tests, and docs together.</a:t>
            </a:r>
          </a:p>
          <a:p>
            <a:r>
              <a:rPr dirty="0"/>
              <a:t>- Release: the Release Manager launches, with release notes and the internal and external docs. AI drafts the release notes.</a:t>
            </a:r>
          </a:p>
          <a:p>
            <a:endParaRPr dirty="0"/>
          </a:p>
          <a:p>
            <a:r>
              <a:rPr dirty="0"/>
              <a:t>The bottom row is the point: at every step, AI drafts, asks questions, or does the heavy lifting, but the person in that role still owns the step and its output. Nothing traditional is skipped.</a:t>
            </a:r>
          </a:p>
          <a:p>
            <a:endParaRPr dirty="0"/>
          </a:p>
          <a:p>
            <a:r>
              <a:rPr dirty="0"/>
              <a:t>You can enter at any step. If your team already has a PRD, start at Design. If you only have an idea, start at Ideate. And it works with whatever AI tool you have.</a:t>
            </a:r>
          </a:p>
          <a:p>
            <a:endParaRPr dirty="0"/>
          </a:p>
          <a:p>
            <a:r>
              <a:rPr dirty="0"/>
              <a:t>For the Salesforce user group: the next slide shows each of these artifacts as a real file you can open.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I broke this down into some specific rules.</a:t>
            </a:r>
            <a:br>
              <a:rPr lang="en-US" dirty="0"/>
            </a:br>
            <a:br>
              <a:rPr lang="en-US" dirty="0"/>
            </a:br>
            <a:br>
              <a:rPr lang="en-US" dirty="0"/>
            </a:br>
            <a:r>
              <a:rPr dirty="0"/>
              <a:t>This is the single most important idea for anyone new to working this way.</a:t>
            </a:r>
          </a:p>
          <a:p>
            <a:endParaRPr dirty="0"/>
          </a:p>
          <a:p>
            <a:r>
              <a:rPr dirty="0"/>
              <a:t>The agent starts every chat with no memory of your project. So the repo has to be its memory. Every new chat is a new hire on day one, and AGENTS.md is the onboarding packet it reads every session: the working agreement, the conventions, the lessons learned.</a:t>
            </a:r>
          </a:p>
          <a:p>
            <a:endParaRPr dirty="0"/>
          </a:p>
          <a:p>
            <a:r>
              <a:rPr dirty="0"/>
              <a:t>The pointer pattern keeps it tool-agnostic. There's one source of truth, AGENTS.md. Claude Code imports it through CLAUDE.md, GitHub Copilot is pointed to it by copilot-instructions.md, and Codex and other AGENTS.md-aware tools read it directly.</a:t>
            </a:r>
          </a:p>
          <a:p>
            <a:endParaRPr dirty="0"/>
          </a:p>
          <a:p>
            <a:r>
              <a:rPr dirty="0"/>
              <a:t>One wrinkle: Copilot code review can't follow a pointer and reads only about the first 4,000 characters of an instruction file. So short, self-contained review checklists live in .</a:t>
            </a:r>
            <a:r>
              <a:rPr dirty="0" err="1"/>
              <a:t>github</a:t>
            </a:r>
            <a:r>
              <a:rPr dirty="0"/>
              <a:t>/instructions/, and when a rule changes in AGENTS.md, the matching checklist gets updated in the same change.</a:t>
            </a:r>
          </a:p>
          <a:p>
            <a:endParaRPr dirty="0"/>
          </a:p>
          <a:p>
            <a:r>
              <a:rPr dirty="0"/>
              <a:t>If it isn't written down, the agent doesn't know it next session, and next month, neither will you. Appendix A7 walks through the actual AGENTS.md.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Every story ships complete: its code, its unit tests (with network calls mocked), the updated module diagram in the TDD, the admin, developer, and end-user docs, the test-plan update, and an ADR for any decision. All in the same change.</a:t>
            </a:r>
          </a:p>
          <a:p>
            <a:endParaRPr dirty="0"/>
          </a:p>
          <a:p>
            <a:r>
              <a:rPr dirty="0"/>
              <a:t>That's the opposite of slop. Humans often skip the tedious parts, or put them off until the end or after. Agents don't mind tedious work, so the documents stay up to date in real time, and code and paperwork get reviewed together.</a:t>
            </a:r>
          </a:p>
          <a:p>
            <a:endParaRPr dirty="0"/>
          </a:p>
          <a:p>
            <a:r>
              <a:rPr dirty="0"/>
              <a:t>This is part of why 263 points didn't come with a quality collapse. If asked for proof, the receipts at the start of the appendix show the counts: hundreds of test cases, dozens of decision records, and diagrams, all counted from git.</a:t>
            </a:r>
          </a:p>
          <a:p>
            <a:endParaRPr dirty="0"/>
          </a:p>
          <a:p>
            <a:r>
              <a:rPr dirty="0"/>
              <a:t>For VA teams: the Definition of Done text is in AGENTS.md and the templates folder. Copy it and adjust it to your team.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This is the risk slide, especially for leadership and IBM managers.</a:t>
            </a:r>
          </a:p>
          <a:p>
            <a:endParaRPr dirty="0"/>
          </a:p>
          <a:p>
            <a:r>
              <a:rPr dirty="0"/>
              <a:t>The agent's freedom is matched to the risk. Low-risk work runs at full speed: reading, searching, and drafting; code and tests in my working copy; docs, diagrams, and draft decision records; running tests and local scripts.</a:t>
            </a:r>
          </a:p>
          <a:p>
            <a:endParaRPr dirty="0"/>
          </a:p>
          <a:p>
            <a:r>
              <a:rPr dirty="0"/>
              <a:t>Higher-risk steps are gates where a human decides. These are written into the working agreement:</a:t>
            </a:r>
          </a:p>
          <a:p>
            <a:r>
              <a:rPr dirty="0"/>
              <a:t>- Commits, pull requests, and merges. Version control is mine to drive; the agent doesn't commit, push, or open a pull request unless I explicitly ask.</a:t>
            </a:r>
          </a:p>
          <a:p>
            <a:r>
              <a:rPr dirty="0"/>
              <a:t>- Closing a Jira story needs my explicit confirmation. The agent finishes the work, gives me a spot check to run, and asks.</a:t>
            </a:r>
          </a:p>
          <a:p>
            <a:r>
              <a:rPr dirty="0"/>
              <a:t>- Destructive or shared-system actions need confirmation.</a:t>
            </a:r>
          </a:p>
          <a:p>
            <a:r>
              <a:rPr dirty="0"/>
              <a:t>- When to move to higher environments is a human decision.</a:t>
            </a:r>
          </a:p>
          <a:p>
            <a:endParaRPr dirty="0"/>
          </a:p>
          <a:p>
            <a:r>
              <a:rPr dirty="0"/>
              <a:t>The metaphor is the lines on the road: the proper speed in the proper lanes, and stops at the right points where a human decides whether it's okay to proceed.</a:t>
            </a:r>
          </a:p>
          <a:p>
            <a:endParaRPr dirty="0"/>
          </a:p>
          <a:p>
            <a:r>
              <a:rPr dirty="0"/>
              <a:t>Functional testing, security review, and release decisions also stay with people.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"It should work." In this process, "should" means you must test.</a:t>
            </a:r>
          </a:p>
          <a:p>
            <a:endParaRPr dirty="0"/>
          </a:p>
          <a:p>
            <a:r>
              <a:rPr dirty="0"/>
              <a:t>Sounding right isn't the same as being right. AI writes smoothly and confidently whether it's right or wrong, and a polished answer feels correct. People get tired, rushed, or used to the AI being right, so we don't rely on catching mistakes by eye. The checks are built into the process so they happen automatically:</a:t>
            </a:r>
          </a:p>
          <a:p>
            <a:r>
              <a:rPr dirty="0"/>
              <a:t>- Spikes are actual tests, and we record the results, not just reading the docs or assuming something works.</a:t>
            </a:r>
          </a:p>
          <a:p>
            <a:r>
              <a:rPr dirty="0"/>
              <a:t>- Run the tests before claiming done. A claim of done comes with a passing run.</a:t>
            </a:r>
          </a:p>
          <a:p>
            <a:r>
              <a:rPr dirty="0"/>
              <a:t>- Vendor fixes are suspect until confirmed. A release note saying "fixed" isn't proof; we confirm the original issue now works on the new version.</a:t>
            </a:r>
          </a:p>
          <a:p>
            <a:r>
              <a:rPr dirty="0"/>
              <a:t>- Confirm visuals visually. Render the output the way a person will see it (with Playwright, a browser, or the target app itself) to spot formatting or rendering issues that a text read-back would miss.</a:t>
            </a:r>
          </a:p>
          <a:p>
            <a:r>
              <a:rPr dirty="0"/>
              <a:t>- Don't trust a blank screen. A run that shows nothing may have worked or may have failed, so the results get saved to a file and checked. The broader point: build testability into your system so you know when it works or fails.</a:t>
            </a:r>
          </a:p>
          <a:p>
            <a:endParaRPr dirty="0"/>
          </a:p>
          <a:p>
            <a:r>
              <a:rPr dirty="0"/>
              <a:t>Verification runs in both directions: I verify the agent, and the agent is expected to push back on me with a source when I'm wrong. That's the next slide.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This is how the agent stays a partner rather than a loose cannon or a yes-man. It's all in the working agreement.</a:t>
            </a:r>
          </a:p>
          <a:p>
            <a:endParaRPr dirty="0"/>
          </a:p>
          <a:p>
            <a:r>
              <a:rPr dirty="0"/>
              <a:t>- Ask when intent is unclear. The agent is empowered and expected to ask for clarification when my intent isn't clear, when I contradict myself, or when I skip a step.</a:t>
            </a:r>
          </a:p>
          <a:p>
            <a:r>
              <a:rPr dirty="0"/>
              <a:t>- One or a few questions at a time when the topics depend on each other, because later answers can change earlier ones.</a:t>
            </a:r>
          </a:p>
          <a:p>
            <a:r>
              <a:rPr dirty="0"/>
              <a:t>- Push back with reasoning, and cite a source when possible. "No sycophancy" is written into the agreement on purpose; an agent that always agrees is a liability.</a:t>
            </a:r>
          </a:p>
          <a:p>
            <a:r>
              <a:rPr dirty="0"/>
              <a:t>- Build only what was asked: no surprise refactors and no speculative creations.</a:t>
            </a:r>
          </a:p>
          <a:p>
            <a:endParaRPr dirty="0"/>
          </a:p>
          <a:p>
            <a:r>
              <a:rPr dirty="0"/>
              <a:t>Agile teams will recognize this as a working agreement, the same thing we write for a human team.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This is the least obvious habit and probably the most powerful. It's a big part of why the curve kept accelerating.</a:t>
            </a:r>
          </a:p>
          <a:p>
            <a:endParaRPr dirty="0"/>
          </a:p>
          <a:p>
            <a:r>
              <a:rPr dirty="0"/>
              <a:t>When something goes wrong, we don't just fix it that once. We write a rule into the working agreement (</a:t>
            </a:r>
            <a:r>
              <a:rPr dirty="0" err="1"/>
              <a:t>AGENTS.md</a:t>
            </a:r>
            <a:r>
              <a:rPr dirty="0"/>
              <a:t>) so it can't happen again. Each lesson is paid for once.</a:t>
            </a:r>
          </a:p>
          <a:p>
            <a:endParaRPr dirty="0"/>
          </a:p>
          <a:p>
            <a:r>
              <a:rPr dirty="0"/>
              <a:t>The rules aren't all guardrails. They cover memory, quality, control, and how the rules themselves change. All four of these really happened:</a:t>
            </a:r>
          </a:p>
          <a:p>
            <a:r>
              <a:rPr dirty="0"/>
              <a:t>- Memory: each new session forgot our earlier agreements, and long chats got compacted (summarized to save space), so the early agreements effectively scrolled away. I kept re-establishing the basics. The rule: write shared understanding into the repo as markdown as we go, so every chat starts grounded in prior agreements, decisions, and reasoning.</a:t>
            </a:r>
          </a:p>
          <a:p>
            <a:r>
              <a:rPr dirty="0"/>
              <a:t>- Quality: the agent left the documentation stale, and I had to remind it to update the docs. The rule: the design document, user stories, and end-user docs are updated with every code change, so code and paperwork get reviewed together.</a:t>
            </a:r>
          </a:p>
          <a:p>
            <a:r>
              <a:rPr dirty="0"/>
              <a:t>- Control: the agent closed one of my Jira stories before I had tested it. The rule: only I close stories, every story gets tested first, and each step has clear guidelines and a clear owner.</a:t>
            </a:r>
          </a:p>
          <a:p>
            <a:r>
              <a:rPr dirty="0"/>
              <a:t>- Change: we made a decision, then realized we had defined it too narrowly and it was boxing us in. The rule: agreements are amendable guardrails, not set in stone. Change them on purpose, record the new decision (an ADR), and update the PRD and TDD in the same change.</a:t>
            </a:r>
          </a:p>
          <a:p>
            <a:endParaRPr dirty="0"/>
          </a:p>
          <a:p>
            <a:r>
              <a:rPr dirty="0"/>
              <a:t>Also in the rulebook: the agent doesn't start a new story, or move from design to build, until I say so; and it always sets a resolution when it closes a Jira issue.</a:t>
            </a:r>
          </a:p>
          <a:p>
            <a:endParaRPr dirty="0"/>
          </a:p>
          <a:p>
            <a:r>
              <a:rPr dirty="0"/>
              <a:t>This is the "memory and rules" part of the growth engine from slide 4.</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Plan for reuse. This is where spot-use turns into capability other people can share.</a:t>
            </a:r>
          </a:p>
          <a:p>
            <a:endParaRPr dirty="0"/>
          </a:p>
          <a:p>
            <a:r>
              <a:rPr dirty="0"/>
              <a:t>Early on, I had a mishmash of one-off scripts. Now repeated work becomes tested, documented toolkits, and they sit on a spectrum of reuse:</a:t>
            </a:r>
          </a:p>
          <a:p>
            <a:r>
              <a:rPr dirty="0"/>
              <a:t>- Tempo: just started. It matters because it establishes the pattern of one toolkit per capability.</a:t>
            </a:r>
          </a:p>
          <a:p>
            <a:r>
              <a:rPr dirty="0"/>
              <a:t>- CodeScan: specific to our team, but shared across three repos instead of copy-pasted into each.</a:t>
            </a:r>
          </a:p>
          <a:p>
            <a:r>
              <a:rPr dirty="0"/>
              <a:t>- Jira: fully general. Anyone can use it, and it's in the public </a:t>
            </a:r>
            <a:r>
              <a:rPr dirty="0" err="1"/>
              <a:t>quickstart</a:t>
            </a:r>
            <a:r>
              <a:rPr dirty="0"/>
              <a:t> repo today.</a:t>
            </a:r>
          </a:p>
          <a:p>
            <a:endParaRPr dirty="0"/>
          </a:p>
          <a:p>
            <a:r>
              <a:rPr dirty="0"/>
              <a:t>The principle: the agent calls a known-good, tested script instead of rebuilding API calls from scratch every chat. Conventions are written once. And every process is documented the same way: a flowchart followed by a walkthrough table, so someone who can't see the diagram still gets the whole picture.</a:t>
            </a:r>
          </a:p>
          <a:p>
            <a:endParaRPr dirty="0"/>
          </a:p>
          <a:p>
            <a:r>
              <a:rPr dirty="0"/>
              <a:t>This is the tooling part of the growth engine. The next slide shows the whole setup these toolkits plug into.</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Just start. Everyone should find their own line.</a:t>
            </a:r>
          </a:p>
          <a:p>
            <a:endParaRPr dirty="0"/>
          </a:p>
          <a:p>
            <a:r>
              <a:rPr dirty="0"/>
              <a:t>- Leaders: support and fund the process. The results take time to grow; remember that it snowballs.</a:t>
            </a:r>
          </a:p>
          <a:p>
            <a:r>
              <a:rPr dirty="0"/>
              <a:t>- Builders: be open to working outside your comfort zone. Fail fast, and don't give up.</a:t>
            </a:r>
          </a:p>
          <a:p>
            <a:r>
              <a:rPr dirty="0"/>
              <a:t>- Teams: set up a team repo to start collaborating and make this your own. Run an epic with AI.</a:t>
            </a:r>
          </a:p>
          <a:p>
            <a:r>
              <a:rPr dirty="0"/>
              <a:t>- Community: share what you learn.</a:t>
            </a:r>
          </a:p>
          <a:p>
            <a:endParaRPr dirty="0"/>
          </a:p>
          <a:p>
            <a:r>
              <a:rPr dirty="0"/>
              <a:t>The first-week recipe is the same for everyone: create </a:t>
            </a:r>
            <a:r>
              <a:rPr dirty="0" err="1"/>
              <a:t>AGENTS.md</a:t>
            </a:r>
            <a:r>
              <a:rPr dirty="0"/>
              <a:t>, pick a reference project, run the full lifecycle on one small thing, add an ADR folder, write your Definition of Done, turn every mistake into a rule, and wrap repeated API work in a tested script.</a:t>
            </a:r>
          </a:p>
          <a:p>
            <a:endParaRPr dirty="0"/>
          </a:p>
          <a:p>
            <a:r>
              <a:rPr dirty="0"/>
              <a:t>Remember the growth engine: don't try to build the whole system first. Start small and let it snowball.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These are the tangible product-management artifacts, and every one is a real file in the public </a:t>
            </a:r>
            <a:r>
              <a:rPr dirty="0" err="1"/>
              <a:t>quickstart</a:t>
            </a:r>
            <a:r>
              <a:rPr dirty="0"/>
              <a:t> repo.</a:t>
            </a:r>
          </a:p>
          <a:p>
            <a:endParaRPr dirty="0"/>
          </a:p>
          <a:p>
            <a:r>
              <a:rPr dirty="0"/>
              <a:t>- PRD (Product Requirements Document): the why and the what, plus the project constraints. documentation/example-report-product-</a:t>
            </a:r>
            <a:r>
              <a:rPr dirty="0" err="1"/>
              <a:t>requirements.md</a:t>
            </a:r>
            <a:endParaRPr dirty="0"/>
          </a:p>
          <a:p>
            <a:r>
              <a:rPr dirty="0"/>
              <a:t>- TDD (Technical Design Document): the how, with a Mermaid diagram for every module. documentation/example-report-technical-</a:t>
            </a:r>
            <a:r>
              <a:rPr dirty="0" err="1"/>
              <a:t>design.md</a:t>
            </a:r>
            <a:endParaRPr dirty="0"/>
          </a:p>
          <a:p>
            <a:r>
              <a:rPr dirty="0"/>
              <a:t>- Epic, spikes, and stories, with acceptance criteria: documentation/example-report-user-</a:t>
            </a:r>
            <a:r>
              <a:rPr dirty="0" err="1"/>
              <a:t>stories.md</a:t>
            </a:r>
            <a:r>
              <a:rPr dirty="0"/>
              <a:t>, plus spike-</a:t>
            </a:r>
            <a:r>
              <a:rPr dirty="0" err="1"/>
              <a:t>findings.md</a:t>
            </a:r>
            <a:endParaRPr dirty="0"/>
          </a:p>
          <a:p>
            <a:r>
              <a:rPr dirty="0"/>
              <a:t>- Build: code and config, with one unit-test file per script (network calls mocked), plus build docs.</a:t>
            </a:r>
          </a:p>
          <a:p>
            <a:r>
              <a:rPr dirty="0"/>
              <a:t>- Testing docs: documentation/functional-testing/ holds the end-to-end plan and script.</a:t>
            </a:r>
          </a:p>
          <a:p>
            <a:r>
              <a:rPr dirty="0"/>
              <a:t>- Other docs: end-user guides (confluence/), developer guides (developer/), and release notes.</a:t>
            </a:r>
          </a:p>
          <a:p>
            <a:r>
              <a:rPr dirty="0"/>
              <a:t>- ADRs (Architecture Decision Records): documentation/decisions/, numbered 0001, 0002, and so on.</a:t>
            </a:r>
          </a:p>
          <a:p>
            <a:r>
              <a:rPr dirty="0"/>
              <a:t>- Templates: documentation/templates/ has a blank template for each document type.</a:t>
            </a:r>
          </a:p>
          <a:p>
            <a:endParaRPr dirty="0"/>
          </a:p>
          <a:p>
            <a:r>
              <a:rPr dirty="0"/>
              <a:t>For the Salesforce user group and VA teams: this is the slide to slow down on. Many people have never seen a real PRD or TDD. Offer to pull one up after the talk.</a:t>
            </a:r>
          </a:p>
          <a:p>
            <a:endParaRPr dirty="0"/>
          </a:p>
          <a:p>
            <a:r>
              <a:rPr dirty="0"/>
              <a:t>For leadership and IBM: a quick pass is enough. The point is that the paperwork exists and stays current.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Leave them something real. Scan the code or type the address: </a:t>
            </a:r>
            <a:r>
              <a:rPr dirty="0" err="1"/>
              <a:t>github.com</a:t>
            </a:r>
            <a:r>
              <a:rPr dirty="0"/>
              <a:t>/</a:t>
            </a:r>
            <a:r>
              <a:rPr dirty="0" err="1"/>
              <a:t>jtrockstar</a:t>
            </a:r>
            <a:r>
              <a:rPr dirty="0"/>
              <a:t>/ai-</a:t>
            </a:r>
            <a:r>
              <a:rPr dirty="0" err="1"/>
              <a:t>quickstart</a:t>
            </a:r>
            <a:r>
              <a:rPr dirty="0"/>
              <a:t>. It's a public, sanitized repo with examples of every file mentioned in this talk: </a:t>
            </a:r>
            <a:r>
              <a:rPr dirty="0" err="1"/>
              <a:t>AGENTS.md</a:t>
            </a:r>
            <a:r>
              <a:rPr dirty="0"/>
              <a:t>, the pointer files, the sample PRD, TDD, user stories, spike findings, ADRs, the templates, and the Jira toolkit.</a:t>
            </a:r>
          </a:p>
          <a:p>
            <a:endParaRPr dirty="0"/>
          </a:p>
          <a:p>
            <a:r>
              <a:rPr dirty="0"/>
              <a:t>It's a working repo you can get started with today, and it keeps evolving:</a:t>
            </a:r>
          </a:p>
          <a:p>
            <a:r>
              <a:rPr dirty="0"/>
              <a:t>- Each repo gets lighter pointer instruction files.</a:t>
            </a:r>
          </a:p>
          <a:p>
            <a:r>
              <a:rPr dirty="0"/>
              <a:t>- It stays tool-agnostic. That's why it ships </a:t>
            </a:r>
            <a:r>
              <a:rPr dirty="0" err="1"/>
              <a:t>AGENTS.md</a:t>
            </a:r>
            <a:r>
              <a:rPr dirty="0"/>
              <a:t>, </a:t>
            </a:r>
            <a:r>
              <a:rPr dirty="0" err="1"/>
              <a:t>CLAUDE.md</a:t>
            </a:r>
            <a:r>
              <a:rPr dirty="0"/>
              <a:t>, and copilot-</a:t>
            </a:r>
            <a:r>
              <a:rPr dirty="0" err="1"/>
              <a:t>instructions.md</a:t>
            </a:r>
            <a:r>
              <a:rPr dirty="0"/>
              <a:t> side by side.</a:t>
            </a:r>
          </a:p>
          <a:p>
            <a:endParaRPr dirty="0"/>
          </a:p>
          <a:p>
            <a:r>
              <a:rPr dirty="0"/>
              <a:t>Close the loop from the growth engine: the system is never done, and the expectation is that each PI is better than the last.</a:t>
            </a:r>
          </a:p>
          <a:p>
            <a:endParaRPr dirty="0"/>
          </a:p>
          <a:p>
            <a:r>
              <a:rPr dirty="0"/>
              <a:t>Then open it up for questions. Leave this slide up so people can scan the code while we talk.</a:t>
            </a:r>
          </a:p>
          <a:p>
            <a:endParaRPr dirty="0"/>
          </a:p>
          <a:p>
            <a:r>
              <a:rPr dirty="0"/>
              <a:t>If the room is quiet, prompts that usually get people going:</a:t>
            </a:r>
          </a:p>
          <a:p>
            <a:r>
              <a:rPr dirty="0"/>
              <a:t>- "Where would you start on your own team?" (back to the Just Start slide)</a:t>
            </a:r>
          </a:p>
          <a:p>
            <a:r>
              <a:rPr dirty="0"/>
              <a:t>- "Which of these artifacts does your team already have, and which do you skip?"</a:t>
            </a:r>
          </a:p>
          <a:p>
            <a:r>
              <a:rPr dirty="0"/>
              <a:t>- "What's the first mistake you'd turn into a written rule?"</a:t>
            </a:r>
          </a:p>
          <a:p>
            <a:endParaRPr dirty="0"/>
          </a:p>
          <a:p>
            <a:r>
              <a:rPr dirty="0"/>
              <a:t>Where to go for common questions:</a:t>
            </a:r>
          </a:p>
          <a:p>
            <a:r>
              <a:rPr dirty="0"/>
              <a:t>- How the 263 holds up, or "are the points inflated?": A1 and A2, the receipts.</a:t>
            </a:r>
          </a:p>
          <a:p>
            <a:r>
              <a:rPr dirty="0"/>
              <a:t>- How things are counted, or the current PI: A3.</a:t>
            </a:r>
          </a:p>
          <a:p>
            <a:r>
              <a:rPr dirty="0"/>
              <a:t>- Cycle time or lead time: A4.</a:t>
            </a:r>
          </a:p>
          <a:p>
            <a:r>
              <a:rPr dirty="0"/>
              <a:t>- "What does a real design doc look like?": A5 and A6.</a:t>
            </a:r>
          </a:p>
          <a:p>
            <a:r>
              <a:rPr dirty="0"/>
              <a:t>- "What's actually in </a:t>
            </a:r>
            <a:r>
              <a:rPr dirty="0" err="1"/>
              <a:t>AGENTS.md</a:t>
            </a:r>
            <a:r>
              <a:rPr dirty="0"/>
              <a:t>?": A7.</a:t>
            </a:r>
          </a:p>
          <a:p>
            <a:r>
              <a:rPr dirty="0"/>
              <a:t>- Setup or environment problems: A8, and the setup slide in the main talk.</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Backup material. Jump to a specific slide when a question calls for it.</a:t>
            </a:r>
          </a:p>
          <a:p>
            <a:endParaRPr dirty="0"/>
          </a:p>
          <a:p>
            <a:r>
              <a:rPr dirty="0"/>
              <a:t>A1: the receipts, part 1: the detailed stats behind the 263 (throughput and the artifact wall)</a:t>
            </a:r>
          </a:p>
          <a:p>
            <a:r>
              <a:rPr dirty="0"/>
              <a:t>A2: the receipts, part 2: live test results and the caveats</a:t>
            </a:r>
          </a:p>
          <a:p>
            <a:r>
              <a:rPr dirty="0"/>
              <a:t>A3: full metrics and how they're counted</a:t>
            </a:r>
          </a:p>
          <a:p>
            <a:r>
              <a:rPr dirty="0"/>
              <a:t>A4: why I don't headline cycle time</a:t>
            </a:r>
          </a:p>
          <a:p>
            <a:r>
              <a:rPr dirty="0"/>
              <a:t>A5 and A6: a real artifact, full size (TDD flowchart, then its walkthrough table)</a:t>
            </a:r>
          </a:p>
          <a:p>
            <a:r>
              <a:rPr dirty="0"/>
              <a:t>A7: a tour of </a:t>
            </a:r>
            <a:r>
              <a:rPr dirty="0" err="1"/>
              <a:t>AGENTS.md</a:t>
            </a:r>
            <a:endParaRPr dirty="0"/>
          </a:p>
          <a:p>
            <a:r>
              <a:rPr dirty="0"/>
              <a:t>A8: environment lessons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This is the practical "what do I install?" slide, mainly for the VA-team and IBM rooms. It pulls the last few slides together: the repo, the rules, and the toolkits from the previous slide, all in one picture.</a:t>
            </a:r>
          </a:p>
          <a:p>
            <a:endParaRPr/>
          </a:p>
          <a:p>
            <a:r>
              <a:t>The landscape, left to right:</a:t>
            </a:r>
          </a:p>
          <a:p>
            <a:r>
              <a:t>- You and the agent: I work in VS Code with GitHub Copilot in agent mode. That's my daily setup at the VA, and it works great.</a:t>
            </a:r>
          </a:p>
          <a:p>
            <a:r>
              <a:t>- The repo is the center of everything: AGENTS.md (the rules), the PRD, TDD, stories, and ADRs, the code and tests, and the toolkits.</a:t>
            </a:r>
          </a:p>
          <a:p>
            <a:r>
              <a:t>- The agent reaches outside systems (Jira, GitHub, CodeScan) through the tested toolkit scripts, and the human gates from the risk slide still apply: merges and closing stories are my call.</a:t>
            </a:r>
          </a:p>
          <a:p>
            <a:endParaRPr/>
          </a:p>
          <a:p>
            <a:r>
              <a:t>Will it work with your AI tool? Rather than list every product, here's the test. The tool needs to do three things:</a:t>
            </a:r>
          </a:p>
          <a:p>
            <a:r>
              <a:t>1. Read the repo's instruction files (AGENTS.md, directly or through the pointer files).</a:t>
            </a:r>
          </a:p>
          <a:p>
            <a:r>
              <a:t>2. Read and edit files in the repo, so the docs move with the code.</a:t>
            </a:r>
          </a:p>
          <a:p>
            <a:r>
              <a:t>3. Run commands, so tests and toolkit scripts actually run. "Should work" means you must test.</a:t>
            </a:r>
          </a:p>
          <a:p>
            <a:endParaRPr/>
          </a:p>
          <a:p>
            <a:r>
              <a:t>Where it's been used: VS Code with GitHub Copilot agent mode daily at the VA, and GitHub Copilot Chat for smaller things. Other agents that meet all three needs should work too; the repo already ships CLAUDE.md and copilot-instructions.md pointers, and AGENTS.md-aware tools read it directly. I haven't tried them here, because they aren't fully available at the VA yet.</a:t>
            </a:r>
          </a:p>
          <a:p>
            <a:endParaRPr/>
          </a:p>
          <a:p>
            <a:r>
              <a:t>If asked about a specific tool: does it meet those three needs? Then it should work. A chat-only app without access to the repo can still help draft a PRD or think through a design, but it can't keep the docs in sync or run the tests, so you lose the Definition of Done and the testing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This slide is meant to be skimmed. Pick the two or three items that fit the room and leave the rest as a takeaway.</a:t>
            </a:r>
          </a:p>
          <a:p>
            <a:endParaRPr/>
          </a:p>
          <a:p>
            <a:r>
              <a:t>Reminders:</a:t>
            </a:r>
          </a:p>
          <a:p>
            <a:r>
              <a:t>- It doesn't remember you. Every chat starts fresh unless the repo carries the memory.</a:t>
            </a:r>
          </a:p>
          <a:p>
            <a:r>
              <a:t>- Tool output can lie: a run that "produced no output" may have succeeded.</a:t>
            </a:r>
          </a:p>
          <a:p>
            <a:r>
              <a:t>- An agent that agrees with everything is a real failure mode; you want one that pushes back.</a:t>
            </a:r>
          </a:p>
          <a:p>
            <a:r>
              <a:t>- Scope creep sneaks in as helpful extras you didn't ask for.</a:t>
            </a:r>
          </a:p>
          <a:p>
            <a:r>
              <a:t>- Your role changes rather than shrinks: you spend less time typing and more time on judgment, review, and decisions.</a:t>
            </a:r>
          </a:p>
          <a:p>
            <a:endParaRPr/>
          </a:p>
          <a:p>
            <a:r>
              <a:t>Anti-patterns:</a:t>
            </a:r>
          </a:p>
          <a:p>
            <a:r>
              <a:t>- Asking for a whole app in one prompt.</a:t>
            </a:r>
          </a:p>
          <a:p>
            <a:r>
              <a:t>- Accepting code you can't explain.</a:t>
            </a:r>
          </a:p>
          <a:p>
            <a:r>
              <a:t>- Letting it deploy unsupervised.</a:t>
            </a:r>
          </a:p>
          <a:p>
            <a:r>
              <a:t>- Re-explaining your project every chat instead of writing it down once.</a:t>
            </a:r>
          </a:p>
          <a:p>
            <a:r>
              <a:t>- Fixing the same mistake twice instead of writing a rule.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Use this when someone asks how the 263 holds up. </a:t>
            </a:r>
          </a:p>
          <a:p>
            <a:r>
              <a:t>Left: throughput. Points went 28 to 72 to 263 across the three FY26 PIs, and the number of issues closed went 8 to 28 to 60 alongside them. I closed about seven times as many items, so the growth isn't bigger estimates on the same work.</a:t>
            </a:r>
          </a:p>
          <a:p>
            <a:endParaRPr/>
          </a:p>
          <a:p>
            <a:r>
              <a:t>Right: the artifact wall. In FY26 PI-3 alone, counted from git: 717 test cases in 67 test files, 31 ADRs, 75 doc pages, 48 Mermaid diagrams, 111 rules with 156 rule tests, across 219 commits.</a:t>
            </a:r>
          </a:p>
          <a:p>
            <a:endParaRPr/>
          </a:p>
          <a:p>
            <a:r>
              <a:t>Per item, across the active PIs: about nine test cases, most of a doc page, and often a diagram or a recorded decision. That's the discipline a human team usually skips because it's tedious.</a:t>
            </a:r>
          </a:p>
          <a:p>
            <a:endParaRPr/>
          </a:p>
          <a:p>
            <a:r>
              <a:t>Why git: commit timestamps record when the work actually happened. Jira dates can reflect scheduling and batch bookkeeping, which is why I don't headline cycle time (appendix A4 explains).</a:t>
            </a:r>
          </a:p>
          <a:p>
            <a:endParaRPr/>
          </a:p>
          <a:p>
            <a:r>
              <a:t>Optional story if time allows: the rules-testing harness, from scaffolding to scheduled runs, built in about two weeks in August. (Confirm the exact span from commit history before using it.)</a:t>
            </a:r>
          </a:p>
          <a:p>
            <a:endParaRPr/>
          </a:p>
          <a:p>
            <a:r>
              <a:t>Story size, if asked: the median points per item went 2, then 3, then 5. Stories stayed in a reviewable range; nothing ballooned into one risky drop. They didn't get smaller.</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And it works. Right now: 1,167 tests passing, zero failing, 79 percent statement coverage across 8 projects and 8,758 statements. This is working software headed into functional testing, not a demo.</a:t>
            </a:r>
          </a:p>
          <a:p>
            <a:endParaRPr/>
          </a:p>
          <a:p>
            <a:r>
              <a:t>Coverage by project, if asked: the shipped components are the highest (rules-testing at 86 percent, the CodeScan scanner at 97 percent). A few internal helper toolkits are lower, in the 44 to 58 percent range, and they're on the list to raise.</a:t>
            </a:r>
          </a:p>
          <a:p>
            <a:endParaRPr/>
          </a:p>
          <a:p>
            <a:r>
              <a:t>The caveats are on the slide on purpose:</a:t>
            </a:r>
          </a:p>
          <a:p>
            <a:r>
              <a:t>- About half my time is operational work, on average across the PI. That's context for the 263, not a discount on it.</a:t>
            </a:r>
          </a:p>
          <a:p>
            <a:r>
              <a:t>- Story points are relative estimates. I present them as magnitude and direction.</a:t>
            </a:r>
          </a:p>
          <a:p>
            <a:r>
              <a:t>- The system took time to build and it isn't finished. The way to start is small; it compounds from there.</a:t>
            </a:r>
          </a:p>
          <a:p>
            <a:endParaRPr/>
          </a:p>
          <a:p>
            <a:r>
              <a:t>Functional testing, security review, and release decisions remain human.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full numbers behind the hero chart, with the counting rules.</a:t>
            </a:r>
          </a:p>
          <a:p>
            <a:endParaRPr/>
          </a:p>
          <a:p>
            <a:r>
              <a:t>The current PI (FY27 PI-1) is partial, so it's not on the hero chart. 10 of its 71 points are the held final rollout of the sixth epic, which was built in PI-3 and closed on day one of PI-1. If that epic had closed entirely in PI-3, PI-3 would read 273, so the 263 on the chart is slightly conservative. That's release timing, not a change in how anything was counted.</a:t>
            </a:r>
          </a:p>
          <a:p>
            <a:endParaRPr/>
          </a:p>
          <a:p>
            <a:r>
              <a:t>Low start and high finish within a PI is our normal cadence; the monthly breakdown is available if a room wants it.</a:t>
            </a:r>
          </a:p>
          <a:p>
            <a:endParaRPr/>
          </a:p>
          <a:p>
            <a:r>
              <a:t>Issue counts are shown for the three PIs on the throughput chart; the other two weren't part of that summary.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Use this if someone asks about per-item velocity, cycle time, or lead time.</a:t>
            </a:r>
          </a:p>
          <a:p>
            <a:endParaRPr/>
          </a:p>
          <a:p>
            <a:r>
              <a:t>In my workflow, the dates on a Jira item often reflect scheduling and bookkeeping rather than how long the work took. Items get closed in batches, which creates clusters of identical durations. And some fixes depend on a vendor: a few rule fixes waited more than 300 days for the vendor's release, which says nothing about our speed.</a:t>
            </a:r>
          </a:p>
          <a:p>
            <a:endParaRPr/>
          </a:p>
          <a:p>
            <a:r>
              <a:t>So I headline measures that are hard to distort: throughput (points and item counts together), artifacts counted from git commits, and live test coverage.</a:t>
            </a:r>
          </a:p>
          <a:p>
            <a:endParaRPr/>
          </a:p>
          <a:p>
            <a:r>
              <a:t>I'm happy to share the cycle-time data with that caveat attached.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This is a real section from the sample TDD in the public repo: documentation/example-report-technical-design.md, section 5.0. It's a simple daily data-collection run.</a:t>
            </a:r>
          </a:p>
          <a:p>
            <a:endParaRPr/>
          </a:p>
          <a:p>
            <a:r>
              <a:t>Point out the conventions from AGENTS.md: every node has a stable letter ID; start and end are rounded, processes are rectangles, decisions are diamonds; every arrow out of a decision is labeled.</a:t>
            </a:r>
          </a:p>
          <a:p>
            <a:endParaRPr/>
          </a:p>
          <a:p>
            <a:r>
              <a:t>The next slide is the matching walkthrough table. Together they're the "two-part doc rule": the table makes the diagram accessible to anyone using a screen reader or reading a plain-text export.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walkthrough table for the flowchart on the previous slide. Each row reads like a spoken sentence, in the order of the flow. A decision gets two rows, one per branch ("if No" and "but if Yes"), and a node where branches converge is listed once.</a:t>
            </a:r>
          </a:p>
          <a:p>
            <a:endParaRPr/>
          </a:p>
          <a:p>
            <a:r>
              <a:t>Rows 8 to 12 continue in the repo file. The quality bar here is the point: every process in the TDD gets this treatment, and the agent keeps it in sync as the code changes.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 rooms that want the real thing. AGENTS.md is about 17,000 characters, and it's read at the start of every session.</a:t>
            </a:r>
          </a:p>
          <a:p>
            <a:endParaRPr/>
          </a:p>
          <a:p>
            <a:r>
              <a:t>The working agreement (section 2) is the heart of it. The quotes on the right are verbatim from the file. Pull it up live from the public repo if the room wants to see it.</a:t>
            </a:r>
          </a:p>
          <a:p>
            <a:endParaRPr/>
          </a:p>
          <a:p>
            <a:r>
              <a:t>Note the instruction at the top: AGENTS.md is the single source, and CLAUDE.md and copilot-instructions.md are only pointers to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Everyday friction from working in a locked-down Windows environment, and the rule each one became. They're small, but each one used to cost time over and over until it was written down.</a:t>
            </a:r>
          </a:p>
          <a:p>
            <a:endParaRPr/>
          </a:p>
          <a:p>
            <a:r>
              <a:t>- Commands for the wrong system: a lot of example commands assume Mac or Linux. On our Windows machines they failed, so the patterns that work here are written down and the agent uses them first.</a:t>
            </a:r>
          </a:p>
          <a:p>
            <a:r>
              <a:t>- A blank screen isn't always a failure: the tool window sometimes showed nothing even when a run had succeeded, which looked like the agent was stuck. Now the results are saved to a file and read from there.</a:t>
            </a:r>
          </a:p>
          <a:p>
            <a:r>
              <a:t>- Work-network security, kept on: some tools couldn't connect through our secure network at first. The approved fix is written down, so the answer is never to turn a security check off.</a:t>
            </a:r>
          </a:p>
          <a:p>
            <a:endParaRPr/>
          </a:p>
          <a:p>
            <a:r>
              <a:t>These are why the system keeps getting faster: each one cost time exactly once. The details are in the "Local shell" and "Network" sections of AGENTS.md if anyone wants them.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bout the templat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solidFill>
                  <a:schemeClr val="accent2"/>
                </a:solidFill>
              </a:defRPr>
            </a:lvl1pPr>
          </a:lstStyle>
          <a:p>
            <a:r>
              <a:rPr lang="en-US"/>
              <a:t>How to use this template</a:t>
            </a:r>
          </a:p>
        </p:txBody>
      </p:sp>
      <p:sp>
        <p:nvSpPr>
          <p:cNvPr id="12" name="Content Placeholder"/>
          <p:cNvSpPr>
            <a:spLocks noGrp="1"/>
          </p:cNvSpPr>
          <p:nvPr>
            <p:ph sz="quarter" idx="13"/>
          </p:nvPr>
        </p:nvSpPr>
        <p:spPr>
          <a:xfrm>
            <a:off x="838201" y="1562100"/>
            <a:ext cx="10515599" cy="4359730"/>
          </a:xfrm>
        </p:spPr>
        <p:txBody>
          <a:bodyPr numCol="2" spcCol="914400"/>
          <a:lstStyle>
            <a:lvl1pPr>
              <a:defRPr sz="2200">
                <a:solidFill>
                  <a:schemeClr val="tx2"/>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
        <p:nvSpPr>
          <p:cNvPr id="5" name="Footer Placeholde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Tree>
    <p:extLst>
      <p:ext uri="{BB962C8B-B14F-4D97-AF65-F5344CB8AC3E}">
        <p14:creationId xmlns:p14="http://schemas.microsoft.com/office/powerpoint/2010/main" val="1640459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Presentation 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E09A4-B2AE-0741-913B-DD91AC2D3E4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5" name="VA logo" descr="Logo and seal for the U.S. Department of Veterans Affairs, Office of Information and Technology"/>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838200" y="5802964"/>
            <a:ext cx="3374138" cy="660157"/>
          </a:xfrm>
          <a:prstGeom prst="rect">
            <a:avLst/>
          </a:prstGeom>
        </p:spPr>
      </p:pic>
      <p:sp>
        <p:nvSpPr>
          <p:cNvPr id="16" name="Presentation Title"/>
          <p:cNvSpPr>
            <a:spLocks noGrp="1"/>
          </p:cNvSpPr>
          <p:nvPr>
            <p:ph type="title" hasCustomPrompt="1"/>
          </p:nvPr>
        </p:nvSpPr>
        <p:spPr>
          <a:xfrm>
            <a:off x="838199" y="1572610"/>
            <a:ext cx="7848600" cy="789590"/>
          </a:xfrm>
        </p:spPr>
        <p:txBody>
          <a:bodyPr anchor="t">
            <a:noAutofit/>
          </a:bodyPr>
          <a:lstStyle>
            <a:lvl1pPr>
              <a:defRPr sz="3600" b="1" i="0" cap="all" baseline="0">
                <a:solidFill>
                  <a:schemeClr val="accent2"/>
                </a:solidFill>
                <a:latin typeface="Segoe UI" panose="020B0502040204020203" pitchFamily="34" charset="0"/>
                <a:ea typeface="Segoe UI" panose="020B0502040204020203" pitchFamily="34" charset="0"/>
                <a:cs typeface="Segoe UI" panose="020B0502040204020203" pitchFamily="34" charset="0"/>
              </a:defRPr>
            </a:lvl1pPr>
          </a:lstStyle>
          <a:p>
            <a:r>
              <a:rPr lang="en-US"/>
              <a:t>Presentation Title</a:t>
            </a:r>
          </a:p>
        </p:txBody>
      </p:sp>
      <p:sp>
        <p:nvSpPr>
          <p:cNvPr id="7" name="Name of Presenter"/>
          <p:cNvSpPr>
            <a:spLocks noGrp="1"/>
          </p:cNvSpPr>
          <p:nvPr>
            <p:ph type="body" sz="quarter" idx="10" hasCustomPrompt="1"/>
          </p:nvPr>
        </p:nvSpPr>
        <p:spPr>
          <a:xfrm>
            <a:off x="838198" y="2533916"/>
            <a:ext cx="7848601" cy="374904"/>
          </a:xfrm>
        </p:spPr>
        <p:txBody>
          <a:bodyPr>
            <a:noAutofit/>
          </a:bodyPr>
          <a:lstStyle>
            <a:lvl1pPr marL="0" indent="0">
              <a:buNone/>
              <a:defRPr sz="2200" b="1">
                <a:solidFill>
                  <a:srgbClr val="112F4E"/>
                </a:solidFill>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Name of Presenter</a:t>
            </a:r>
          </a:p>
        </p:txBody>
      </p:sp>
      <p:sp>
        <p:nvSpPr>
          <p:cNvPr id="18" name="Title of Presenter"/>
          <p:cNvSpPr>
            <a:spLocks noGrp="1"/>
          </p:cNvSpPr>
          <p:nvPr>
            <p:ph type="body" sz="quarter" idx="11" hasCustomPrompt="1"/>
          </p:nvPr>
        </p:nvSpPr>
        <p:spPr>
          <a:xfrm>
            <a:off x="838200" y="2957656"/>
            <a:ext cx="7848600" cy="393192"/>
          </a:xfrm>
        </p:spPr>
        <p:txBody>
          <a:bodyPr>
            <a:noAutofit/>
          </a:bodyPr>
          <a:lstStyle>
            <a:lvl1pPr marL="0" indent="0">
              <a:buNone/>
              <a:defRPr lang="en-US" sz="2200" i="0" kern="1200" baseline="0" dirty="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Title of Presenter</a:t>
            </a:r>
          </a:p>
        </p:txBody>
      </p:sp>
      <p:sp>
        <p:nvSpPr>
          <p:cNvPr id="22" name="Presenter's Organization"/>
          <p:cNvSpPr>
            <a:spLocks noGrp="1"/>
          </p:cNvSpPr>
          <p:nvPr>
            <p:ph type="body" sz="quarter" idx="12" hasCustomPrompt="1"/>
          </p:nvPr>
        </p:nvSpPr>
        <p:spPr>
          <a:xfrm>
            <a:off x="838200" y="3523469"/>
            <a:ext cx="7848600" cy="303022"/>
          </a:xfrm>
        </p:spPr>
        <p:txBody>
          <a:bodyPr>
            <a:noAutofit/>
          </a:bodyPr>
          <a:lstStyle>
            <a:lvl1pPr marL="0" indent="0">
              <a:buNone/>
              <a:defRPr lang="en-US" sz="1600" kern="1200" baseline="0" dirty="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Presenter’s Organization</a:t>
            </a:r>
          </a:p>
        </p:txBody>
      </p:sp>
      <p:sp>
        <p:nvSpPr>
          <p:cNvPr id="27" name="Audience Name"/>
          <p:cNvSpPr>
            <a:spLocks noGrp="1"/>
          </p:cNvSpPr>
          <p:nvPr>
            <p:ph type="body" sz="quarter" idx="13" hasCustomPrompt="1"/>
          </p:nvPr>
        </p:nvSpPr>
        <p:spPr>
          <a:xfrm>
            <a:off x="838198" y="3946304"/>
            <a:ext cx="7848601" cy="246888"/>
          </a:xfr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kern="1200" baseline="0" dirty="0" smtClean="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Audience Name</a:t>
            </a:r>
          </a:p>
        </p:txBody>
      </p:sp>
      <p:sp>
        <p:nvSpPr>
          <p:cNvPr id="29" name="Month Day, YYYY"/>
          <p:cNvSpPr>
            <a:spLocks noGrp="1"/>
          </p:cNvSpPr>
          <p:nvPr>
            <p:ph type="body" sz="quarter" idx="14" hasCustomPrompt="1"/>
          </p:nvPr>
        </p:nvSpPr>
        <p:spPr>
          <a:xfrm>
            <a:off x="838199" y="4230904"/>
            <a:ext cx="7848599" cy="265176"/>
          </a:xfrm>
        </p:spPr>
        <p:txBody>
          <a:bodyPr>
            <a:noAutofit/>
          </a:bodyPr>
          <a:lstStyle>
            <a:lvl1pPr marL="0" indent="0">
              <a:buNone/>
              <a:defRPr lang="en-US" sz="1600" kern="1200" baseline="0" dirty="0" smtClean="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a:t>Month Day, YYYY</a:t>
            </a:r>
          </a:p>
        </p:txBody>
      </p:sp>
      <p:sp>
        <p:nvSpPr>
          <p:cNvPr id="3" name="Text Placeholder 2">
            <a:extLst>
              <a:ext uri="{FF2B5EF4-FFF2-40B4-BE49-F238E27FC236}">
                <a16:creationId xmlns:a16="http://schemas.microsoft.com/office/drawing/2014/main" id="{F62455E1-2795-BB42-8B2E-3B937E6819B2}"/>
              </a:ext>
            </a:extLst>
          </p:cNvPr>
          <p:cNvSpPr>
            <a:spLocks noGrp="1"/>
          </p:cNvSpPr>
          <p:nvPr>
            <p:ph type="body" sz="quarter" idx="15" hasCustomPrompt="1"/>
          </p:nvPr>
        </p:nvSpPr>
        <p:spPr>
          <a:xfrm>
            <a:off x="838200" y="5038502"/>
            <a:ext cx="7848598" cy="246888"/>
          </a:xfrm>
        </p:spPr>
        <p:txBody>
          <a:bodyPr anchor="b">
            <a:noAutofit/>
          </a:bodyPr>
          <a:lstStyle>
            <a:lvl1pPr marL="0" indent="0">
              <a:buNone/>
              <a:defRPr sz="1200">
                <a:solidFill>
                  <a:srgbClr val="898989"/>
                </a:solidFill>
                <a:latin typeface="Segoe UI" panose="020B0502040204020203" pitchFamily="34" charset="0"/>
                <a:cs typeface="Segoe UI" panose="020B0502040204020203" pitchFamily="34" charset="0"/>
              </a:defRPr>
            </a:lvl1pPr>
          </a:lstStyle>
          <a:p>
            <a:pPr lvl="0"/>
            <a:r>
              <a:rPr lang="en-US"/>
              <a:t>EPIC ROBOTS · JT LOVELL</a:t>
            </a:r>
          </a:p>
        </p:txBody>
      </p:sp>
    </p:spTree>
    <p:extLst>
      <p:ext uri="{BB962C8B-B14F-4D97-AF65-F5344CB8AC3E}">
        <p14:creationId xmlns:p14="http://schemas.microsoft.com/office/powerpoint/2010/main" val="12697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_Presenta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FB3C58-3A33-1047-B3E6-DB280C801C0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5" name="VA logo" descr="Logo and seal for the U.S. Department of Veterans Affairs, Office of Information and Technology"/>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986486" y="5810599"/>
            <a:ext cx="3374138" cy="660157"/>
          </a:xfrm>
          <a:prstGeom prst="rect">
            <a:avLst/>
          </a:prstGeom>
        </p:spPr>
      </p:pic>
      <p:sp>
        <p:nvSpPr>
          <p:cNvPr id="16" name="Presentation Title"/>
          <p:cNvSpPr>
            <a:spLocks noGrp="1"/>
          </p:cNvSpPr>
          <p:nvPr>
            <p:ph type="title" hasCustomPrompt="1"/>
          </p:nvPr>
        </p:nvSpPr>
        <p:spPr>
          <a:xfrm>
            <a:off x="3505200" y="1925168"/>
            <a:ext cx="6972300" cy="789590"/>
          </a:xfrm>
        </p:spPr>
        <p:txBody>
          <a:bodyPr anchor="t">
            <a:noAutofit/>
          </a:bodyPr>
          <a:lstStyle>
            <a:lvl1pPr>
              <a:defRPr sz="3600" b="1" i="0" cap="all" baseline="0">
                <a:solidFill>
                  <a:srgbClr val="112F4E"/>
                </a:solidFill>
                <a:latin typeface="Segoe UI" panose="020B0502040204020203" pitchFamily="34" charset="0"/>
                <a:ea typeface="Segoe UI" panose="020B0502040204020203" pitchFamily="34" charset="0"/>
                <a:cs typeface="Segoe UI" panose="020B0502040204020203" pitchFamily="34" charset="0"/>
              </a:defRPr>
            </a:lvl1pPr>
          </a:lstStyle>
          <a:p>
            <a:r>
              <a:rPr lang="en-US"/>
              <a:t>Presentation Title</a:t>
            </a:r>
          </a:p>
        </p:txBody>
      </p:sp>
      <p:sp>
        <p:nvSpPr>
          <p:cNvPr id="7" name="Name of Presenter"/>
          <p:cNvSpPr>
            <a:spLocks noGrp="1"/>
          </p:cNvSpPr>
          <p:nvPr>
            <p:ph type="body" sz="quarter" idx="10" hasCustomPrompt="1"/>
          </p:nvPr>
        </p:nvSpPr>
        <p:spPr>
          <a:xfrm>
            <a:off x="3505200" y="3133971"/>
            <a:ext cx="6972302" cy="374904"/>
          </a:xfrm>
        </p:spPr>
        <p:txBody>
          <a:bodyPr>
            <a:noAutofit/>
          </a:bodyPr>
          <a:lstStyle>
            <a:lvl1pPr marL="0" indent="0">
              <a:buNone/>
              <a:defRPr sz="2200" b="1">
                <a:solidFill>
                  <a:srgbClr val="112F4E"/>
                </a:solidFill>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Name of Presenter</a:t>
            </a:r>
          </a:p>
        </p:txBody>
      </p:sp>
      <p:sp>
        <p:nvSpPr>
          <p:cNvPr id="18" name="Title of Presenter"/>
          <p:cNvSpPr>
            <a:spLocks noGrp="1"/>
          </p:cNvSpPr>
          <p:nvPr>
            <p:ph type="body" sz="quarter" idx="11" hasCustomPrompt="1"/>
          </p:nvPr>
        </p:nvSpPr>
        <p:spPr>
          <a:xfrm>
            <a:off x="3505198" y="3557711"/>
            <a:ext cx="6972301" cy="393192"/>
          </a:xfrm>
        </p:spPr>
        <p:txBody>
          <a:bodyPr>
            <a:noAutofit/>
          </a:bodyPr>
          <a:lstStyle>
            <a:lvl1pPr marL="0" indent="0">
              <a:buNone/>
              <a:defRPr lang="en-US" sz="2200" i="1" kern="1200" baseline="0" dirty="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Title of Presenter</a:t>
            </a:r>
          </a:p>
        </p:txBody>
      </p:sp>
      <p:sp>
        <p:nvSpPr>
          <p:cNvPr id="22" name="Presenter's Organization"/>
          <p:cNvSpPr>
            <a:spLocks noGrp="1"/>
          </p:cNvSpPr>
          <p:nvPr>
            <p:ph type="body" sz="quarter" idx="12" hasCustomPrompt="1"/>
          </p:nvPr>
        </p:nvSpPr>
        <p:spPr>
          <a:xfrm>
            <a:off x="3505198" y="4166133"/>
            <a:ext cx="6972302" cy="303022"/>
          </a:xfrm>
        </p:spPr>
        <p:txBody>
          <a:bodyPr>
            <a:noAutofit/>
          </a:bodyPr>
          <a:lstStyle>
            <a:lvl1pPr marL="0" indent="0">
              <a:buNone/>
              <a:defRPr lang="en-US" sz="1600" kern="1200" baseline="0" dirty="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Presenter’s Organization</a:t>
            </a:r>
          </a:p>
        </p:txBody>
      </p:sp>
      <p:sp>
        <p:nvSpPr>
          <p:cNvPr id="27" name="Audience Name"/>
          <p:cNvSpPr>
            <a:spLocks noGrp="1"/>
          </p:cNvSpPr>
          <p:nvPr>
            <p:ph type="body" sz="quarter" idx="13" hasCustomPrompt="1"/>
          </p:nvPr>
        </p:nvSpPr>
        <p:spPr>
          <a:xfrm>
            <a:off x="3505196" y="4588968"/>
            <a:ext cx="6972301" cy="231357"/>
          </a:xfr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kern="1200" baseline="0" dirty="0" smtClean="0">
                <a:solidFill>
                  <a:srgbClr val="112F4E"/>
                </a:solidFill>
                <a:latin typeface="Segoe UI" panose="020B0502040204020203" pitchFamily="34" charset="0"/>
                <a:ea typeface="+mn-ea"/>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Audience Name and Date</a:t>
            </a:r>
          </a:p>
        </p:txBody>
      </p:sp>
      <p:sp>
        <p:nvSpPr>
          <p:cNvPr id="12" name="Text Placeholder 2">
            <a:extLst>
              <a:ext uri="{FF2B5EF4-FFF2-40B4-BE49-F238E27FC236}">
                <a16:creationId xmlns:a16="http://schemas.microsoft.com/office/drawing/2014/main" id="{2C65E52F-4586-8940-BDE1-34856A41CA98}"/>
              </a:ext>
            </a:extLst>
          </p:cNvPr>
          <p:cNvSpPr>
            <a:spLocks noGrp="1"/>
          </p:cNvSpPr>
          <p:nvPr>
            <p:ph type="body" sz="quarter" idx="15" hasCustomPrompt="1"/>
          </p:nvPr>
        </p:nvSpPr>
        <p:spPr>
          <a:xfrm>
            <a:off x="3505195" y="5394711"/>
            <a:ext cx="3829921" cy="246888"/>
          </a:xfrm>
        </p:spPr>
        <p:txBody>
          <a:bodyPr anchor="b">
            <a:normAutofit/>
          </a:bodyPr>
          <a:lstStyle>
            <a:lvl1pPr marL="0" indent="0">
              <a:buNone/>
              <a:defRPr sz="1200">
                <a:solidFill>
                  <a:srgbClr val="898989"/>
                </a:solidFill>
                <a:latin typeface="Segoe UI" panose="020B0502040204020203" pitchFamily="34" charset="0"/>
                <a:cs typeface="Segoe UI" panose="020B0502040204020203" pitchFamily="34" charset="0"/>
              </a:defRPr>
            </a:lvl1pPr>
          </a:lstStyle>
          <a:p>
            <a:pPr lvl="0"/>
            <a:r>
              <a:rPr lang="en-US"/>
              <a:t>EPIC ROBOTS · JT LOVELL</a:t>
            </a:r>
          </a:p>
        </p:txBody>
      </p:sp>
    </p:spTree>
    <p:extLst>
      <p:ext uri="{BB962C8B-B14F-4D97-AF65-F5344CB8AC3E}">
        <p14:creationId xmlns:p14="http://schemas.microsoft.com/office/powerpoint/2010/main" val="2398335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Presentation 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8F1DCD-70DD-7F49-A109-88D20B615D1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6" name="Presentation Title"/>
          <p:cNvSpPr>
            <a:spLocks noGrp="1"/>
          </p:cNvSpPr>
          <p:nvPr>
            <p:ph type="title" hasCustomPrompt="1"/>
          </p:nvPr>
        </p:nvSpPr>
        <p:spPr>
          <a:xfrm>
            <a:off x="838200" y="3505200"/>
            <a:ext cx="7848600" cy="789590"/>
          </a:xfrm>
        </p:spPr>
        <p:txBody>
          <a:bodyPr anchor="t">
            <a:noAutofit/>
          </a:bodyPr>
          <a:lstStyle>
            <a:lvl1pPr>
              <a:defRPr sz="3600" b="1" i="0" cap="all" baseline="0">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r>
              <a:rPr lang="en-US"/>
              <a:t>SECTION TITLE</a:t>
            </a:r>
          </a:p>
        </p:txBody>
      </p:sp>
      <p:sp>
        <p:nvSpPr>
          <p:cNvPr id="7" name="Name of Presenter"/>
          <p:cNvSpPr>
            <a:spLocks noGrp="1"/>
          </p:cNvSpPr>
          <p:nvPr>
            <p:ph type="body" sz="quarter" idx="10" hasCustomPrompt="1"/>
          </p:nvPr>
        </p:nvSpPr>
        <p:spPr>
          <a:xfrm>
            <a:off x="838199" y="4495800"/>
            <a:ext cx="7848599" cy="374904"/>
          </a:xfrm>
        </p:spPr>
        <p:txBody>
          <a:bodyPr>
            <a:noAutofit/>
          </a:bodyPr>
          <a:lstStyle>
            <a:lvl1pPr marL="0" indent="0">
              <a:buNone/>
              <a:defRPr sz="2200" b="0">
                <a:solidFill>
                  <a:srgbClr val="08BDE2"/>
                </a:solidFill>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a:t>
            </a:r>
          </a:p>
        </p:txBody>
      </p:sp>
    </p:spTree>
    <p:extLst>
      <p:ext uri="{BB962C8B-B14F-4D97-AF65-F5344CB8AC3E}">
        <p14:creationId xmlns:p14="http://schemas.microsoft.com/office/powerpoint/2010/main" val="3926196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1" y="1562100"/>
            <a:ext cx="10515599" cy="4359730"/>
          </a:xfrm>
        </p:spPr>
        <p:txBody>
          <a:bodyPr numCol="2" spcCol="914400"/>
          <a:lstStyle>
            <a:lvl1pPr>
              <a:defRPr sz="2200">
                <a:solidFill>
                  <a:schemeClr val="tx2"/>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5" name="Footer Placeholde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3" name="Slide Number Placeholder">
            <a:extLst>
              <a:ext uri="{FF2B5EF4-FFF2-40B4-BE49-F238E27FC236}">
                <a16:creationId xmlns:a16="http://schemas.microsoft.com/office/drawing/2014/main" id="{E286F48B-3078-17B8-01DA-4DD4CAFA6A9E}"/>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316052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Tw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1" y="1562100"/>
            <a:ext cx="10515599" cy="4359730"/>
          </a:xfrm>
        </p:spPr>
        <p:txBody>
          <a:bodyPr numCol="2" spcCol="914400"/>
          <a:lstStyle>
            <a:lvl1pPr marL="457200" indent="-457200">
              <a:buFont typeface="+mj-lt"/>
              <a:buAutoNum type="arabicPeriod"/>
              <a:defRPr sz="2200">
                <a:solidFill>
                  <a:schemeClr val="tx2"/>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5" name="Footer Placeholde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775610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1" y="1562100"/>
            <a:ext cx="10515600"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137643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Sec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2" y="1562100"/>
            <a:ext cx="487026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a:extLst>
              <a:ext uri="{FF2B5EF4-FFF2-40B4-BE49-F238E27FC236}">
                <a16:creationId xmlns:a16="http://schemas.microsoft.com/office/drawing/2014/main" id="{C7743BD8-572E-D84B-8078-17C9A50192A0}"/>
              </a:ext>
            </a:extLst>
          </p:cNvPr>
          <p:cNvSpPr>
            <a:spLocks noGrp="1"/>
          </p:cNvSpPr>
          <p:nvPr>
            <p:ph sz="quarter" idx="14"/>
          </p:nvPr>
        </p:nvSpPr>
        <p:spPr>
          <a:xfrm>
            <a:off x="6480266" y="1562100"/>
            <a:ext cx="487026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a:extLst>
              <a:ext uri="{FF2B5EF4-FFF2-40B4-BE49-F238E27FC236}">
                <a16:creationId xmlns:a16="http://schemas.microsoft.com/office/drawing/2014/main" id="{EEFAF194-D749-236D-EB4E-31AD2FF032C0}"/>
              </a:ext>
            </a:extLst>
          </p:cNvP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9" name="Slide Number Placeholder">
            <a:extLst>
              <a:ext uri="{FF2B5EF4-FFF2-40B4-BE49-F238E27FC236}">
                <a16:creationId xmlns:a16="http://schemas.microsoft.com/office/drawing/2014/main" id="{221493C6-4ED7-EAFD-3A39-190B2FED101C}"/>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3249535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Sections with Alt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2" y="1562100"/>
            <a:ext cx="487026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a:extLst>
              <a:ext uri="{FF2B5EF4-FFF2-40B4-BE49-F238E27FC236}">
                <a16:creationId xmlns:a16="http://schemas.microsoft.com/office/drawing/2014/main" id="{C7743BD8-572E-D84B-8078-17C9A50192A0}"/>
              </a:ext>
            </a:extLst>
          </p:cNvPr>
          <p:cNvSpPr>
            <a:spLocks noGrp="1"/>
          </p:cNvSpPr>
          <p:nvPr>
            <p:ph sz="quarter" idx="14"/>
          </p:nvPr>
        </p:nvSpPr>
        <p:spPr>
          <a:xfrm>
            <a:off x="6480266" y="1562100"/>
            <a:ext cx="487026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a:extLst>
              <a:ext uri="{FF2B5EF4-FFF2-40B4-BE49-F238E27FC236}">
                <a16:creationId xmlns:a16="http://schemas.microsoft.com/office/drawing/2014/main" id="{D5CAE50E-2627-37C5-7655-A4886A7E2F66}"/>
              </a:ext>
            </a:extLst>
          </p:cNvP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9" name="Slide Number Placeholder">
            <a:extLst>
              <a:ext uri="{FF2B5EF4-FFF2-40B4-BE49-F238E27FC236}">
                <a16:creationId xmlns:a16="http://schemas.microsoft.com/office/drawing/2014/main" id="{7C4E9D21-281C-FB58-1551-B37800B7FDB1}"/>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418257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hree Content Sec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86DE7-2209-5A47-8724-C08284FF1E1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2" y="1562100"/>
            <a:ext cx="335279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a:extLst>
              <a:ext uri="{FF2B5EF4-FFF2-40B4-BE49-F238E27FC236}">
                <a16:creationId xmlns:a16="http://schemas.microsoft.com/office/drawing/2014/main" id="{C7743BD8-572E-D84B-8078-17C9A50192A0}"/>
              </a:ext>
            </a:extLst>
          </p:cNvPr>
          <p:cNvSpPr>
            <a:spLocks noGrp="1"/>
          </p:cNvSpPr>
          <p:nvPr>
            <p:ph sz="quarter" idx="14"/>
          </p:nvPr>
        </p:nvSpPr>
        <p:spPr>
          <a:xfrm>
            <a:off x="4422866" y="1562100"/>
            <a:ext cx="335279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a:extLst>
              <a:ext uri="{FF2B5EF4-FFF2-40B4-BE49-F238E27FC236}">
                <a16:creationId xmlns:a16="http://schemas.microsoft.com/office/drawing/2014/main" id="{EAEFFF59-D959-2C44-9E43-42E5195EF2A6}"/>
              </a:ext>
            </a:extLst>
          </p:cNvPr>
          <p:cNvSpPr>
            <a:spLocks noGrp="1"/>
          </p:cNvSpPr>
          <p:nvPr>
            <p:ph sz="quarter" idx="15"/>
          </p:nvPr>
        </p:nvSpPr>
        <p:spPr>
          <a:xfrm>
            <a:off x="8004266" y="1562100"/>
            <a:ext cx="3352798" cy="435973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a:extLst>
              <a:ext uri="{FF2B5EF4-FFF2-40B4-BE49-F238E27FC236}">
                <a16:creationId xmlns:a16="http://schemas.microsoft.com/office/drawing/2014/main" id="{1D258AFF-3937-36F7-18F2-515FADF0961F}"/>
              </a:ext>
            </a:extLst>
          </p:cNvPr>
          <p:cNvSpPr>
            <a:spLocks noGrp="1"/>
          </p:cNvSpPr>
          <p:nvPr>
            <p:ph type="ftr" sz="quarter" idx="11"/>
          </p:nvPr>
        </p:nvSpPr>
        <p:spPr>
          <a:xfrm>
            <a:off x="838200" y="6286500"/>
            <a:ext cx="7848600" cy="308792"/>
          </a:xfrm>
        </p:spPr>
        <p:txBody>
          <a:bodyPr/>
          <a:lstStyle>
            <a:lvl1pPr algn="l">
              <a:defRPr/>
            </a:lvl1pPr>
          </a:lstStyle>
          <a:p>
            <a:r>
              <a:rPr lang="en-US"/>
              <a:t>EPIC ROBOTS · JT LOVELL</a:t>
            </a:r>
          </a:p>
        </p:txBody>
      </p:sp>
      <p:sp>
        <p:nvSpPr>
          <p:cNvPr id="10" name="Slide Number Placeholder">
            <a:extLst>
              <a:ext uri="{FF2B5EF4-FFF2-40B4-BE49-F238E27FC236}">
                <a16:creationId xmlns:a16="http://schemas.microsoft.com/office/drawing/2014/main" id="{2112F6BA-5B7C-FC70-C596-52F4D9371232}"/>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211442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Subtitle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415E16E-0B5B-5144-ACED-904786D1ED7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4" name="Heading Placeholder 1">
            <a:extLst>
              <a:ext uri="{FF2B5EF4-FFF2-40B4-BE49-F238E27FC236}">
                <a16:creationId xmlns:a16="http://schemas.microsoft.com/office/drawing/2014/main" id="{4A0F253A-250E-3947-9C4E-D0BADA9973ED}"/>
              </a:ext>
            </a:extLst>
          </p:cNvPr>
          <p:cNvSpPr>
            <a:spLocks noGrp="1"/>
          </p:cNvSpPr>
          <p:nvPr>
            <p:ph type="body" sz="quarter" idx="14" hasCustomPrompt="1"/>
          </p:nvPr>
        </p:nvSpPr>
        <p:spPr>
          <a:xfrm>
            <a:off x="838200" y="1562100"/>
            <a:ext cx="4903894" cy="423862"/>
          </a:xfrm>
        </p:spPr>
        <p:txBody>
          <a:bodyPr/>
          <a:lstStyle>
            <a:lvl1pPr marL="0" indent="0">
              <a:buNone/>
              <a:defRPr b="1">
                <a:solidFill>
                  <a:schemeClr val="tx2"/>
                </a:solidFill>
              </a:defRPr>
            </a:lvl1pPr>
          </a:lstStyle>
          <a:p>
            <a:pPr lvl="0"/>
            <a:r>
              <a:rPr lang="en-US"/>
              <a:t>Insert Heading</a:t>
            </a:r>
          </a:p>
        </p:txBody>
      </p:sp>
      <p:sp>
        <p:nvSpPr>
          <p:cNvPr id="11" name="Content Placeholder 1">
            <a:extLst>
              <a:ext uri="{FF2B5EF4-FFF2-40B4-BE49-F238E27FC236}">
                <a16:creationId xmlns:a16="http://schemas.microsoft.com/office/drawing/2014/main" id="{D4F61BFB-7E97-CA4A-9D7A-C2EB218D6839}"/>
              </a:ext>
            </a:extLst>
          </p:cNvPr>
          <p:cNvSpPr>
            <a:spLocks noGrp="1"/>
          </p:cNvSpPr>
          <p:nvPr>
            <p:ph sz="quarter" idx="15"/>
          </p:nvPr>
        </p:nvSpPr>
        <p:spPr>
          <a:xfrm>
            <a:off x="838200" y="2048615"/>
            <a:ext cx="4903894"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eading Placeholder 2">
            <a:extLst>
              <a:ext uri="{FF2B5EF4-FFF2-40B4-BE49-F238E27FC236}">
                <a16:creationId xmlns:a16="http://schemas.microsoft.com/office/drawing/2014/main" id="{83402AF2-F89A-D04C-8D3C-76D8C388F10A}"/>
              </a:ext>
            </a:extLst>
          </p:cNvPr>
          <p:cNvSpPr>
            <a:spLocks noGrp="1"/>
          </p:cNvSpPr>
          <p:nvPr>
            <p:ph type="body" sz="quarter" idx="16" hasCustomPrompt="1"/>
          </p:nvPr>
        </p:nvSpPr>
        <p:spPr>
          <a:xfrm>
            <a:off x="6492240" y="1562100"/>
            <a:ext cx="4861560" cy="423862"/>
          </a:xfrm>
        </p:spPr>
        <p:txBody>
          <a:bodyPr/>
          <a:lstStyle>
            <a:lvl1pPr marL="0" indent="0">
              <a:buNone/>
              <a:defRPr b="1">
                <a:solidFill>
                  <a:schemeClr val="tx2"/>
                </a:solidFill>
              </a:defRPr>
            </a:lvl1pPr>
          </a:lstStyle>
          <a:p>
            <a:pPr lvl="0"/>
            <a:r>
              <a:rPr lang="en-US"/>
              <a:t>Insert Heading</a:t>
            </a:r>
          </a:p>
        </p:txBody>
      </p:sp>
      <p:sp>
        <p:nvSpPr>
          <p:cNvPr id="14" name="Content Placeholder 2">
            <a:extLst>
              <a:ext uri="{FF2B5EF4-FFF2-40B4-BE49-F238E27FC236}">
                <a16:creationId xmlns:a16="http://schemas.microsoft.com/office/drawing/2014/main" id="{274E85CB-8292-B74E-B2DC-1B7541D0F575}"/>
              </a:ext>
            </a:extLst>
          </p:cNvPr>
          <p:cNvSpPr>
            <a:spLocks noGrp="1"/>
          </p:cNvSpPr>
          <p:nvPr>
            <p:ph sz="quarter" idx="17"/>
          </p:nvPr>
        </p:nvSpPr>
        <p:spPr>
          <a:xfrm>
            <a:off x="6492240" y="2048615"/>
            <a:ext cx="4861560"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p:txBody>
          <a:bodyPr/>
          <a:lstStyle>
            <a:lvl1pPr>
              <a:defRPr/>
            </a:lvl1pPr>
          </a:lstStyle>
          <a:p>
            <a:pPr algn="l"/>
            <a:r>
              <a:rPr lang="en-US"/>
              <a:t>EPIC ROBOTS · JT LOVELL</a:t>
            </a:r>
          </a:p>
        </p:txBody>
      </p:sp>
      <p:sp>
        <p:nvSpPr>
          <p:cNvPr id="3" name="Slide Number Placeholder">
            <a:extLst>
              <a:ext uri="{FF2B5EF4-FFF2-40B4-BE49-F238E27FC236}">
                <a16:creationId xmlns:a16="http://schemas.microsoft.com/office/drawing/2014/main" id="{EDE47FAD-AFF1-1A8F-FABA-28B0ADBF419D}"/>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hree Subtitle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415E16E-0B5B-5144-ACED-904786D1ED7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Segoe UI Bold</a:t>
            </a:r>
          </a:p>
        </p:txBody>
      </p:sp>
      <p:sp>
        <p:nvSpPr>
          <p:cNvPr id="4" name="Heading Placeholder 1">
            <a:extLst>
              <a:ext uri="{FF2B5EF4-FFF2-40B4-BE49-F238E27FC236}">
                <a16:creationId xmlns:a16="http://schemas.microsoft.com/office/drawing/2014/main" id="{4A0F253A-250E-3947-9C4E-D0BADA9973ED}"/>
              </a:ext>
            </a:extLst>
          </p:cNvPr>
          <p:cNvSpPr>
            <a:spLocks noGrp="1"/>
          </p:cNvSpPr>
          <p:nvPr>
            <p:ph type="body" sz="quarter" idx="14" hasCustomPrompt="1"/>
          </p:nvPr>
        </p:nvSpPr>
        <p:spPr>
          <a:xfrm>
            <a:off x="838200" y="1562100"/>
            <a:ext cx="3352800" cy="423862"/>
          </a:xfrm>
        </p:spPr>
        <p:txBody>
          <a:bodyPr/>
          <a:lstStyle>
            <a:lvl1pPr marL="0" indent="0">
              <a:buNone/>
              <a:defRPr b="1">
                <a:solidFill>
                  <a:schemeClr val="tx2"/>
                </a:solidFill>
              </a:defRPr>
            </a:lvl1pPr>
          </a:lstStyle>
          <a:p>
            <a:pPr lvl="0"/>
            <a:r>
              <a:rPr lang="en-US"/>
              <a:t>Insert Heading</a:t>
            </a:r>
          </a:p>
        </p:txBody>
      </p:sp>
      <p:sp>
        <p:nvSpPr>
          <p:cNvPr id="11" name="Content Placeholder 1">
            <a:extLst>
              <a:ext uri="{FF2B5EF4-FFF2-40B4-BE49-F238E27FC236}">
                <a16:creationId xmlns:a16="http://schemas.microsoft.com/office/drawing/2014/main" id="{D4F61BFB-7E97-CA4A-9D7A-C2EB218D6839}"/>
              </a:ext>
            </a:extLst>
          </p:cNvPr>
          <p:cNvSpPr>
            <a:spLocks noGrp="1"/>
          </p:cNvSpPr>
          <p:nvPr>
            <p:ph sz="quarter" idx="15"/>
          </p:nvPr>
        </p:nvSpPr>
        <p:spPr>
          <a:xfrm>
            <a:off x="838200" y="2048615"/>
            <a:ext cx="3352800"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eading Placeholder 2">
            <a:extLst>
              <a:ext uri="{FF2B5EF4-FFF2-40B4-BE49-F238E27FC236}">
                <a16:creationId xmlns:a16="http://schemas.microsoft.com/office/drawing/2014/main" id="{83402AF2-F89A-D04C-8D3C-76D8C388F10A}"/>
              </a:ext>
            </a:extLst>
          </p:cNvPr>
          <p:cNvSpPr>
            <a:spLocks noGrp="1"/>
          </p:cNvSpPr>
          <p:nvPr>
            <p:ph type="body" sz="quarter" idx="16" hasCustomPrompt="1"/>
          </p:nvPr>
        </p:nvSpPr>
        <p:spPr>
          <a:xfrm>
            <a:off x="4427220" y="1562100"/>
            <a:ext cx="3345180" cy="423862"/>
          </a:xfrm>
        </p:spPr>
        <p:txBody>
          <a:bodyPr/>
          <a:lstStyle>
            <a:lvl1pPr marL="0" indent="0">
              <a:buNone/>
              <a:defRPr b="1">
                <a:solidFill>
                  <a:schemeClr val="tx2"/>
                </a:solidFill>
              </a:defRPr>
            </a:lvl1pPr>
          </a:lstStyle>
          <a:p>
            <a:pPr lvl="0"/>
            <a:r>
              <a:rPr lang="en-US"/>
              <a:t>Insert Heading</a:t>
            </a:r>
          </a:p>
        </p:txBody>
      </p:sp>
      <p:sp>
        <p:nvSpPr>
          <p:cNvPr id="14" name="Content Placeholder 2">
            <a:extLst>
              <a:ext uri="{FF2B5EF4-FFF2-40B4-BE49-F238E27FC236}">
                <a16:creationId xmlns:a16="http://schemas.microsoft.com/office/drawing/2014/main" id="{274E85CB-8292-B74E-B2DC-1B7541D0F575}"/>
              </a:ext>
            </a:extLst>
          </p:cNvPr>
          <p:cNvSpPr>
            <a:spLocks noGrp="1"/>
          </p:cNvSpPr>
          <p:nvPr>
            <p:ph sz="quarter" idx="17"/>
          </p:nvPr>
        </p:nvSpPr>
        <p:spPr>
          <a:xfrm>
            <a:off x="4427220" y="2048615"/>
            <a:ext cx="3345180"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Heading Placeholder 2">
            <a:extLst>
              <a:ext uri="{FF2B5EF4-FFF2-40B4-BE49-F238E27FC236}">
                <a16:creationId xmlns:a16="http://schemas.microsoft.com/office/drawing/2014/main" id="{C4D84842-66B7-724B-9486-0BF1181B77B0}"/>
              </a:ext>
            </a:extLst>
          </p:cNvPr>
          <p:cNvSpPr>
            <a:spLocks noGrp="1"/>
          </p:cNvSpPr>
          <p:nvPr>
            <p:ph type="body" sz="quarter" idx="18" hasCustomPrompt="1"/>
          </p:nvPr>
        </p:nvSpPr>
        <p:spPr>
          <a:xfrm>
            <a:off x="7995920" y="1562100"/>
            <a:ext cx="3345180" cy="423862"/>
          </a:xfrm>
        </p:spPr>
        <p:txBody>
          <a:bodyPr/>
          <a:lstStyle>
            <a:lvl1pPr marL="0" indent="0">
              <a:buNone/>
              <a:defRPr b="1">
                <a:solidFill>
                  <a:schemeClr val="tx2"/>
                </a:solidFill>
              </a:defRPr>
            </a:lvl1pPr>
          </a:lstStyle>
          <a:p>
            <a:pPr lvl="0"/>
            <a:r>
              <a:rPr lang="en-US"/>
              <a:t>Insert Heading</a:t>
            </a:r>
          </a:p>
        </p:txBody>
      </p:sp>
      <p:sp>
        <p:nvSpPr>
          <p:cNvPr id="12" name="Content Placeholder 2">
            <a:extLst>
              <a:ext uri="{FF2B5EF4-FFF2-40B4-BE49-F238E27FC236}">
                <a16:creationId xmlns:a16="http://schemas.microsoft.com/office/drawing/2014/main" id="{639CE862-9B0F-6049-9296-A8B37010B010}"/>
              </a:ext>
            </a:extLst>
          </p:cNvPr>
          <p:cNvSpPr>
            <a:spLocks noGrp="1"/>
          </p:cNvSpPr>
          <p:nvPr>
            <p:ph sz="quarter" idx="19"/>
          </p:nvPr>
        </p:nvSpPr>
        <p:spPr>
          <a:xfrm>
            <a:off x="7995920" y="2048615"/>
            <a:ext cx="3345180"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a:extLst>
              <a:ext uri="{FF2B5EF4-FFF2-40B4-BE49-F238E27FC236}">
                <a16:creationId xmlns:a16="http://schemas.microsoft.com/office/drawing/2014/main" id="{AC3B1018-BD4C-A3BB-E218-4C48CE8E5B80}"/>
              </a:ext>
            </a:extLst>
          </p:cNvPr>
          <p:cNvSpPr>
            <a:spLocks noGrp="1"/>
          </p:cNvSpPr>
          <p:nvPr>
            <p:ph type="ftr" sz="quarter" idx="11"/>
          </p:nvPr>
        </p:nvSpPr>
        <p:spPr>
          <a:xfrm>
            <a:off x="838200" y="6286500"/>
            <a:ext cx="7048500" cy="308792"/>
          </a:xfrm>
        </p:spPr>
        <p:txBody>
          <a:bodyPr/>
          <a:lstStyle>
            <a:lvl1pPr>
              <a:defRPr/>
            </a:lvl1pPr>
          </a:lstStyle>
          <a:p>
            <a:pPr algn="l"/>
            <a:r>
              <a:rPr lang="en-US"/>
              <a:t>EPIC ROBOTS · JT LOVELL</a:t>
            </a:r>
          </a:p>
        </p:txBody>
      </p:sp>
      <p:sp>
        <p:nvSpPr>
          <p:cNvPr id="8" name="Slide Number Placeholder">
            <a:extLst>
              <a:ext uri="{FF2B5EF4-FFF2-40B4-BE49-F238E27FC236}">
                <a16:creationId xmlns:a16="http://schemas.microsoft.com/office/drawing/2014/main" id="{A6812944-EB24-DBDB-328C-A18ED116FAC1}"/>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3455734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415E16E-0B5B-5144-ACED-904786D1ED7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0" y="571500"/>
            <a:ext cx="10748211" cy="800100"/>
          </a:xfrm>
        </p:spPr>
        <p:txBody>
          <a:bodyPr/>
          <a:lstStyle>
            <a:lvl1pPr>
              <a:defRPr/>
            </a:lvl1pPr>
          </a:lstStyle>
          <a:p>
            <a:r>
              <a:rPr lang="en-US"/>
              <a:t>Insert Title, 28pt Segoe UI Bold</a:t>
            </a:r>
          </a:p>
        </p:txBody>
      </p:sp>
      <p:sp>
        <p:nvSpPr>
          <p:cNvPr id="4" name="Heading Placeholder 1">
            <a:extLst>
              <a:ext uri="{FF2B5EF4-FFF2-40B4-BE49-F238E27FC236}">
                <a16:creationId xmlns:a16="http://schemas.microsoft.com/office/drawing/2014/main" id="{4A0F253A-250E-3947-9C4E-D0BADA9973ED}"/>
              </a:ext>
            </a:extLst>
          </p:cNvPr>
          <p:cNvSpPr>
            <a:spLocks noGrp="1"/>
          </p:cNvSpPr>
          <p:nvPr>
            <p:ph type="body" sz="quarter" idx="14" hasCustomPrompt="1"/>
          </p:nvPr>
        </p:nvSpPr>
        <p:spPr>
          <a:xfrm>
            <a:off x="838200" y="1562100"/>
            <a:ext cx="2458453" cy="423862"/>
          </a:xfrm>
        </p:spPr>
        <p:txBody>
          <a:bodyPr/>
          <a:lstStyle>
            <a:lvl1pPr marL="0" indent="0">
              <a:buNone/>
              <a:defRPr b="1">
                <a:solidFill>
                  <a:schemeClr val="tx2"/>
                </a:solidFill>
              </a:defRPr>
            </a:lvl1pPr>
          </a:lstStyle>
          <a:p>
            <a:pPr lvl="0"/>
            <a:r>
              <a:rPr lang="en-US"/>
              <a:t>Insert Heading</a:t>
            </a:r>
          </a:p>
        </p:txBody>
      </p:sp>
      <p:sp>
        <p:nvSpPr>
          <p:cNvPr id="11" name="Content Placeholder 1">
            <a:extLst>
              <a:ext uri="{FF2B5EF4-FFF2-40B4-BE49-F238E27FC236}">
                <a16:creationId xmlns:a16="http://schemas.microsoft.com/office/drawing/2014/main" id="{D4F61BFB-7E97-CA4A-9D7A-C2EB218D6839}"/>
              </a:ext>
            </a:extLst>
          </p:cNvPr>
          <p:cNvSpPr>
            <a:spLocks noGrp="1"/>
          </p:cNvSpPr>
          <p:nvPr>
            <p:ph sz="quarter" idx="15"/>
          </p:nvPr>
        </p:nvSpPr>
        <p:spPr>
          <a:xfrm>
            <a:off x="838200" y="2048615"/>
            <a:ext cx="2458453"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Heading Placeholder 1">
            <a:extLst>
              <a:ext uri="{FF2B5EF4-FFF2-40B4-BE49-F238E27FC236}">
                <a16:creationId xmlns:a16="http://schemas.microsoft.com/office/drawing/2014/main" id="{A7412117-929B-CE51-8B56-FD5232B1B44B}"/>
              </a:ext>
            </a:extLst>
          </p:cNvPr>
          <p:cNvSpPr>
            <a:spLocks noGrp="1"/>
          </p:cNvSpPr>
          <p:nvPr>
            <p:ph type="body" sz="quarter" idx="16" hasCustomPrompt="1"/>
          </p:nvPr>
        </p:nvSpPr>
        <p:spPr>
          <a:xfrm>
            <a:off x="3593432" y="1562100"/>
            <a:ext cx="2458453" cy="423862"/>
          </a:xfrm>
        </p:spPr>
        <p:txBody>
          <a:bodyPr/>
          <a:lstStyle>
            <a:lvl1pPr marL="0" indent="0">
              <a:buNone/>
              <a:defRPr b="1">
                <a:solidFill>
                  <a:schemeClr val="tx2"/>
                </a:solidFill>
              </a:defRPr>
            </a:lvl1pPr>
          </a:lstStyle>
          <a:p>
            <a:pPr lvl="0"/>
            <a:r>
              <a:rPr lang="en-US"/>
              <a:t>Insert Heading</a:t>
            </a:r>
          </a:p>
        </p:txBody>
      </p:sp>
      <p:sp>
        <p:nvSpPr>
          <p:cNvPr id="19" name="Content Placeholder 1">
            <a:extLst>
              <a:ext uri="{FF2B5EF4-FFF2-40B4-BE49-F238E27FC236}">
                <a16:creationId xmlns:a16="http://schemas.microsoft.com/office/drawing/2014/main" id="{CECB67FD-250A-6F6C-197F-F62EFDF68B63}"/>
              </a:ext>
            </a:extLst>
          </p:cNvPr>
          <p:cNvSpPr>
            <a:spLocks noGrp="1"/>
          </p:cNvSpPr>
          <p:nvPr>
            <p:ph sz="quarter" idx="17"/>
          </p:nvPr>
        </p:nvSpPr>
        <p:spPr>
          <a:xfrm>
            <a:off x="3593432" y="2048615"/>
            <a:ext cx="2458453"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Heading Placeholder 1">
            <a:extLst>
              <a:ext uri="{FF2B5EF4-FFF2-40B4-BE49-F238E27FC236}">
                <a16:creationId xmlns:a16="http://schemas.microsoft.com/office/drawing/2014/main" id="{46AF0AD1-33F7-A5DF-5AA0-9C67765B0A11}"/>
              </a:ext>
            </a:extLst>
          </p:cNvPr>
          <p:cNvSpPr>
            <a:spLocks noGrp="1"/>
          </p:cNvSpPr>
          <p:nvPr>
            <p:ph type="body" sz="quarter" idx="18" hasCustomPrompt="1"/>
          </p:nvPr>
        </p:nvSpPr>
        <p:spPr>
          <a:xfrm>
            <a:off x="6372727" y="1562100"/>
            <a:ext cx="2458453" cy="423862"/>
          </a:xfrm>
        </p:spPr>
        <p:txBody>
          <a:bodyPr/>
          <a:lstStyle>
            <a:lvl1pPr marL="0" indent="0">
              <a:buNone/>
              <a:defRPr b="1">
                <a:solidFill>
                  <a:schemeClr val="tx2"/>
                </a:solidFill>
              </a:defRPr>
            </a:lvl1pPr>
          </a:lstStyle>
          <a:p>
            <a:pPr lvl="0"/>
            <a:r>
              <a:rPr lang="en-US"/>
              <a:t>Insert Heading</a:t>
            </a:r>
          </a:p>
        </p:txBody>
      </p:sp>
      <p:sp>
        <p:nvSpPr>
          <p:cNvPr id="21" name="Content Placeholder 1">
            <a:extLst>
              <a:ext uri="{FF2B5EF4-FFF2-40B4-BE49-F238E27FC236}">
                <a16:creationId xmlns:a16="http://schemas.microsoft.com/office/drawing/2014/main" id="{C82FEAA4-2780-1648-FE1D-3BBA80CA7C34}"/>
              </a:ext>
            </a:extLst>
          </p:cNvPr>
          <p:cNvSpPr>
            <a:spLocks noGrp="1"/>
          </p:cNvSpPr>
          <p:nvPr>
            <p:ph sz="quarter" idx="19"/>
          </p:nvPr>
        </p:nvSpPr>
        <p:spPr>
          <a:xfrm>
            <a:off x="6372727" y="2048615"/>
            <a:ext cx="2458453"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Heading Placeholder 1">
            <a:extLst>
              <a:ext uri="{FF2B5EF4-FFF2-40B4-BE49-F238E27FC236}">
                <a16:creationId xmlns:a16="http://schemas.microsoft.com/office/drawing/2014/main" id="{96645714-313F-5BD1-3660-2188722D382B}"/>
              </a:ext>
            </a:extLst>
          </p:cNvPr>
          <p:cNvSpPr>
            <a:spLocks noGrp="1"/>
          </p:cNvSpPr>
          <p:nvPr>
            <p:ph type="body" sz="quarter" idx="20" hasCustomPrompt="1"/>
          </p:nvPr>
        </p:nvSpPr>
        <p:spPr>
          <a:xfrm>
            <a:off x="9127959" y="1562100"/>
            <a:ext cx="2458453" cy="423862"/>
          </a:xfrm>
        </p:spPr>
        <p:txBody>
          <a:bodyPr/>
          <a:lstStyle>
            <a:lvl1pPr marL="0" indent="0">
              <a:buNone/>
              <a:defRPr b="1">
                <a:solidFill>
                  <a:schemeClr val="tx2"/>
                </a:solidFill>
              </a:defRPr>
            </a:lvl1pPr>
          </a:lstStyle>
          <a:p>
            <a:pPr lvl="0"/>
            <a:r>
              <a:rPr lang="en-US"/>
              <a:t>Insert Heading</a:t>
            </a:r>
          </a:p>
        </p:txBody>
      </p:sp>
      <p:sp>
        <p:nvSpPr>
          <p:cNvPr id="23" name="Content Placeholder 1">
            <a:extLst>
              <a:ext uri="{FF2B5EF4-FFF2-40B4-BE49-F238E27FC236}">
                <a16:creationId xmlns:a16="http://schemas.microsoft.com/office/drawing/2014/main" id="{8C0077AE-5384-9814-CD91-836BC7A7C8E1}"/>
              </a:ext>
            </a:extLst>
          </p:cNvPr>
          <p:cNvSpPr>
            <a:spLocks noGrp="1"/>
          </p:cNvSpPr>
          <p:nvPr>
            <p:ph sz="quarter" idx="21"/>
          </p:nvPr>
        </p:nvSpPr>
        <p:spPr>
          <a:xfrm>
            <a:off x="9127959" y="2048615"/>
            <a:ext cx="2458453" cy="3844185"/>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Footer Placeholder">
            <a:extLst>
              <a:ext uri="{FF2B5EF4-FFF2-40B4-BE49-F238E27FC236}">
                <a16:creationId xmlns:a16="http://schemas.microsoft.com/office/drawing/2014/main" id="{98CF41E1-F52D-00C0-C116-075F67C983AB}"/>
              </a:ext>
            </a:extLst>
          </p:cNvPr>
          <p:cNvSpPr>
            <a:spLocks noGrp="1"/>
          </p:cNvSpPr>
          <p:nvPr>
            <p:ph type="ftr" sz="quarter" idx="11"/>
          </p:nvPr>
        </p:nvSpPr>
        <p:spPr>
          <a:xfrm>
            <a:off x="838200" y="6286500"/>
            <a:ext cx="7048500" cy="308792"/>
          </a:xfrm>
        </p:spPr>
        <p:txBody>
          <a:bodyPr/>
          <a:lstStyle>
            <a:lvl1pPr>
              <a:defRPr/>
            </a:lvl1pPr>
          </a:lstStyle>
          <a:p>
            <a:pPr algn="l"/>
            <a:r>
              <a:rPr lang="en-US"/>
              <a:t>EPIC ROBOTS · JT LOVELL</a:t>
            </a:r>
          </a:p>
        </p:txBody>
      </p:sp>
      <p:sp>
        <p:nvSpPr>
          <p:cNvPr id="25" name="Slide Number Placeholder">
            <a:extLst>
              <a:ext uri="{FF2B5EF4-FFF2-40B4-BE49-F238E27FC236}">
                <a16:creationId xmlns:a16="http://schemas.microsoft.com/office/drawing/2014/main" id="{77E4AC68-17BA-8C9D-FD8F-7CA0522B3D29}"/>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87924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Two Subtitle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Calibri Bold</a:t>
            </a:r>
          </a:p>
        </p:txBody>
      </p:sp>
      <p:sp>
        <p:nvSpPr>
          <p:cNvPr id="12" name="Content Placeholder"/>
          <p:cNvSpPr>
            <a:spLocks noGrp="1"/>
          </p:cNvSpPr>
          <p:nvPr>
            <p:ph sz="quarter" idx="13"/>
          </p:nvPr>
        </p:nvSpPr>
        <p:spPr>
          <a:xfrm>
            <a:off x="838200" y="1562100"/>
            <a:ext cx="10515600" cy="186690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eading Placeholder 1">
            <a:extLst>
              <a:ext uri="{FF2B5EF4-FFF2-40B4-BE49-F238E27FC236}">
                <a16:creationId xmlns:a16="http://schemas.microsoft.com/office/drawing/2014/main" id="{4A0F253A-250E-3947-9C4E-D0BADA9973ED}"/>
              </a:ext>
            </a:extLst>
          </p:cNvPr>
          <p:cNvSpPr>
            <a:spLocks noGrp="1"/>
          </p:cNvSpPr>
          <p:nvPr>
            <p:ph type="body" sz="quarter" idx="14" hasCustomPrompt="1"/>
          </p:nvPr>
        </p:nvSpPr>
        <p:spPr>
          <a:xfrm>
            <a:off x="838200" y="3640138"/>
            <a:ext cx="5257800" cy="423862"/>
          </a:xfrm>
        </p:spPr>
        <p:txBody>
          <a:bodyPr/>
          <a:lstStyle>
            <a:lvl1pPr marL="0" indent="0">
              <a:buNone/>
              <a:defRPr b="1">
                <a:solidFill>
                  <a:schemeClr val="tx2"/>
                </a:solidFill>
              </a:defRPr>
            </a:lvl1pPr>
          </a:lstStyle>
          <a:p>
            <a:pPr lvl="0"/>
            <a:r>
              <a:rPr lang="en-US"/>
              <a:t>Insert Heading</a:t>
            </a:r>
          </a:p>
        </p:txBody>
      </p:sp>
      <p:sp>
        <p:nvSpPr>
          <p:cNvPr id="11" name="Content Placeholder 1">
            <a:extLst>
              <a:ext uri="{FF2B5EF4-FFF2-40B4-BE49-F238E27FC236}">
                <a16:creationId xmlns:a16="http://schemas.microsoft.com/office/drawing/2014/main" id="{D4F61BFB-7E97-CA4A-9D7A-C2EB218D6839}"/>
              </a:ext>
            </a:extLst>
          </p:cNvPr>
          <p:cNvSpPr>
            <a:spLocks noGrp="1"/>
          </p:cNvSpPr>
          <p:nvPr>
            <p:ph sz="quarter" idx="15"/>
          </p:nvPr>
        </p:nvSpPr>
        <p:spPr>
          <a:xfrm>
            <a:off x="838200" y="4126654"/>
            <a:ext cx="5257800" cy="1742132"/>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Heading Placeholder 2">
            <a:extLst>
              <a:ext uri="{FF2B5EF4-FFF2-40B4-BE49-F238E27FC236}">
                <a16:creationId xmlns:a16="http://schemas.microsoft.com/office/drawing/2014/main" id="{83402AF2-F89A-D04C-8D3C-76D8C388F10A}"/>
              </a:ext>
            </a:extLst>
          </p:cNvPr>
          <p:cNvSpPr>
            <a:spLocks noGrp="1"/>
          </p:cNvSpPr>
          <p:nvPr>
            <p:ph type="body" sz="quarter" idx="16" hasCustomPrompt="1"/>
          </p:nvPr>
        </p:nvSpPr>
        <p:spPr>
          <a:xfrm>
            <a:off x="6138334" y="3640138"/>
            <a:ext cx="5257800" cy="423862"/>
          </a:xfrm>
        </p:spPr>
        <p:txBody>
          <a:bodyPr/>
          <a:lstStyle>
            <a:lvl1pPr marL="0" indent="0">
              <a:buNone/>
              <a:defRPr b="1">
                <a:solidFill>
                  <a:schemeClr val="tx2"/>
                </a:solidFill>
              </a:defRPr>
            </a:lvl1pPr>
          </a:lstStyle>
          <a:p>
            <a:pPr lvl="0"/>
            <a:r>
              <a:rPr lang="en-US"/>
              <a:t>Insert Heading</a:t>
            </a:r>
          </a:p>
        </p:txBody>
      </p:sp>
      <p:sp>
        <p:nvSpPr>
          <p:cNvPr id="14" name="Content Placeholder 2">
            <a:extLst>
              <a:ext uri="{FF2B5EF4-FFF2-40B4-BE49-F238E27FC236}">
                <a16:creationId xmlns:a16="http://schemas.microsoft.com/office/drawing/2014/main" id="{274E85CB-8292-B74E-B2DC-1B7541D0F575}"/>
              </a:ext>
            </a:extLst>
          </p:cNvPr>
          <p:cNvSpPr>
            <a:spLocks noGrp="1"/>
          </p:cNvSpPr>
          <p:nvPr>
            <p:ph sz="quarter" idx="17"/>
          </p:nvPr>
        </p:nvSpPr>
        <p:spPr>
          <a:xfrm>
            <a:off x="6138334" y="4126654"/>
            <a:ext cx="5257800" cy="1742132"/>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p:txBody>
          <a:bodyPr/>
          <a:lstStyle>
            <a:lvl1pPr>
              <a:defRPr/>
            </a:lvl1pPr>
          </a:lstStyle>
          <a:p>
            <a:pPr algn="l"/>
            <a:r>
              <a:rPr lang="en-US"/>
              <a:t>EPIC ROBOTS · JT LOVELL</a:t>
            </a:r>
          </a:p>
        </p:txBody>
      </p:sp>
      <p:sp>
        <p:nvSpPr>
          <p:cNvPr id="3" name="Slide Number Placeholder">
            <a:extLst>
              <a:ext uri="{FF2B5EF4-FFF2-40B4-BE49-F238E27FC236}">
                <a16:creationId xmlns:a16="http://schemas.microsoft.com/office/drawing/2014/main" id="{EE5DFF73-709C-595A-4CA0-0FEB1E38B97F}"/>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3825768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w/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Calibri Bold</a:t>
            </a:r>
          </a:p>
        </p:txBody>
      </p:sp>
      <p:sp>
        <p:nvSpPr>
          <p:cNvPr id="15" name="Icon 1">
            <a:extLst>
              <a:ext uri="{FF2B5EF4-FFF2-40B4-BE49-F238E27FC236}">
                <a16:creationId xmlns:a16="http://schemas.microsoft.com/office/drawing/2014/main" id="{373C8A79-662A-A442-882E-E13DC1E44E8A}"/>
              </a:ext>
            </a:extLst>
          </p:cNvPr>
          <p:cNvSpPr>
            <a:spLocks noGrp="1"/>
          </p:cNvSpPr>
          <p:nvPr>
            <p:ph type="pic" sz="quarter" idx="16" hasCustomPrompt="1"/>
          </p:nvPr>
        </p:nvSpPr>
        <p:spPr>
          <a:xfrm>
            <a:off x="838200" y="1562231"/>
            <a:ext cx="799407" cy="799407"/>
          </a:xfrm>
        </p:spPr>
        <p:txBody>
          <a:bodyPr/>
          <a:lstStyle>
            <a:lvl1pPr marL="0" indent="0">
              <a:buNone/>
              <a:defRPr/>
            </a:lvl1pPr>
          </a:lstStyle>
          <a:p>
            <a:r>
              <a:rPr lang="en-US"/>
              <a:t>Icon</a:t>
            </a:r>
          </a:p>
        </p:txBody>
      </p:sp>
      <p:sp>
        <p:nvSpPr>
          <p:cNvPr id="17" name="Text Placeholder 1">
            <a:extLst>
              <a:ext uri="{FF2B5EF4-FFF2-40B4-BE49-F238E27FC236}">
                <a16:creationId xmlns:a16="http://schemas.microsoft.com/office/drawing/2014/main" id="{1C4623FA-E81F-8A43-A308-1C14A77A749C}"/>
              </a:ext>
            </a:extLst>
          </p:cNvPr>
          <p:cNvSpPr>
            <a:spLocks noGrp="1"/>
          </p:cNvSpPr>
          <p:nvPr>
            <p:ph type="body" sz="quarter" idx="17"/>
          </p:nvPr>
        </p:nvSpPr>
        <p:spPr>
          <a:xfrm>
            <a:off x="1971270" y="1562101"/>
            <a:ext cx="9382529" cy="799408"/>
          </a:xfrm>
        </p:spPr>
        <p:txBody>
          <a:bodyPr/>
          <a:lstStyle>
            <a:lvl1pPr>
              <a:defRPr>
                <a:solidFill>
                  <a:schemeClr val="accent5">
                    <a:lumMod val="50000"/>
                  </a:schemeClr>
                </a:solidFill>
              </a:defRPr>
            </a:lvl1pPr>
          </a:lstStyle>
          <a:p>
            <a:pPr lvl="0"/>
            <a:r>
              <a:rPr lang="en-US"/>
              <a:t>Click to edit Master text styles</a:t>
            </a:r>
          </a:p>
        </p:txBody>
      </p:sp>
      <p:sp>
        <p:nvSpPr>
          <p:cNvPr id="18" name="Icon 2">
            <a:extLst>
              <a:ext uri="{FF2B5EF4-FFF2-40B4-BE49-F238E27FC236}">
                <a16:creationId xmlns:a16="http://schemas.microsoft.com/office/drawing/2014/main" id="{74D442AC-B38B-5248-9211-1290EC553E44}"/>
              </a:ext>
            </a:extLst>
          </p:cNvPr>
          <p:cNvSpPr>
            <a:spLocks noGrp="1"/>
          </p:cNvSpPr>
          <p:nvPr>
            <p:ph type="pic" sz="quarter" idx="18" hasCustomPrompt="1"/>
          </p:nvPr>
        </p:nvSpPr>
        <p:spPr>
          <a:xfrm>
            <a:off x="838200" y="2534127"/>
            <a:ext cx="799407" cy="799407"/>
          </a:xfrm>
        </p:spPr>
        <p:txBody>
          <a:bodyPr/>
          <a:lstStyle>
            <a:lvl1pPr marL="0" indent="0">
              <a:buNone/>
              <a:defRPr/>
            </a:lvl1pPr>
          </a:lstStyle>
          <a:p>
            <a:r>
              <a:rPr lang="en-US"/>
              <a:t>Icon</a:t>
            </a:r>
          </a:p>
        </p:txBody>
      </p:sp>
      <p:sp>
        <p:nvSpPr>
          <p:cNvPr id="19" name="Text Placeholder 2">
            <a:extLst>
              <a:ext uri="{FF2B5EF4-FFF2-40B4-BE49-F238E27FC236}">
                <a16:creationId xmlns:a16="http://schemas.microsoft.com/office/drawing/2014/main" id="{A6A40824-8621-9A4D-9B2B-15F756FF2123}"/>
              </a:ext>
            </a:extLst>
          </p:cNvPr>
          <p:cNvSpPr>
            <a:spLocks noGrp="1"/>
          </p:cNvSpPr>
          <p:nvPr>
            <p:ph type="body" sz="quarter" idx="19"/>
          </p:nvPr>
        </p:nvSpPr>
        <p:spPr>
          <a:xfrm>
            <a:off x="1971270" y="2517647"/>
            <a:ext cx="9382529" cy="799407"/>
          </a:xfrm>
        </p:spPr>
        <p:txBody>
          <a:bodyPr/>
          <a:lstStyle>
            <a:lvl1pPr>
              <a:defRPr>
                <a:solidFill>
                  <a:schemeClr val="accent5">
                    <a:lumMod val="50000"/>
                  </a:schemeClr>
                </a:solidFill>
              </a:defRPr>
            </a:lvl1pPr>
          </a:lstStyle>
          <a:p>
            <a:pPr lvl="0"/>
            <a:r>
              <a:rPr lang="en-US"/>
              <a:t>Click to edit Master text styles</a:t>
            </a:r>
          </a:p>
        </p:txBody>
      </p:sp>
      <p:sp>
        <p:nvSpPr>
          <p:cNvPr id="20" name="Icon 3">
            <a:extLst>
              <a:ext uri="{FF2B5EF4-FFF2-40B4-BE49-F238E27FC236}">
                <a16:creationId xmlns:a16="http://schemas.microsoft.com/office/drawing/2014/main" id="{49E2D2F5-20B9-8A41-ABCA-FB1D69C484EB}"/>
              </a:ext>
            </a:extLst>
          </p:cNvPr>
          <p:cNvSpPr>
            <a:spLocks noGrp="1"/>
          </p:cNvSpPr>
          <p:nvPr>
            <p:ph type="pic" sz="quarter" idx="20" hasCustomPrompt="1"/>
          </p:nvPr>
        </p:nvSpPr>
        <p:spPr>
          <a:xfrm>
            <a:off x="838200" y="3511430"/>
            <a:ext cx="799407" cy="799407"/>
          </a:xfrm>
        </p:spPr>
        <p:txBody>
          <a:bodyPr/>
          <a:lstStyle>
            <a:lvl1pPr marL="0" indent="0">
              <a:buNone/>
              <a:defRPr/>
            </a:lvl1pPr>
          </a:lstStyle>
          <a:p>
            <a:r>
              <a:rPr lang="en-US"/>
              <a:t>Icon</a:t>
            </a:r>
          </a:p>
        </p:txBody>
      </p:sp>
      <p:sp>
        <p:nvSpPr>
          <p:cNvPr id="21" name="Text Placeholder 3">
            <a:extLst>
              <a:ext uri="{FF2B5EF4-FFF2-40B4-BE49-F238E27FC236}">
                <a16:creationId xmlns:a16="http://schemas.microsoft.com/office/drawing/2014/main" id="{9E4F3C2F-C029-6348-B46B-6526712B7C3C}"/>
              </a:ext>
            </a:extLst>
          </p:cNvPr>
          <p:cNvSpPr>
            <a:spLocks noGrp="1"/>
          </p:cNvSpPr>
          <p:nvPr>
            <p:ph type="body" sz="quarter" idx="21"/>
          </p:nvPr>
        </p:nvSpPr>
        <p:spPr>
          <a:xfrm>
            <a:off x="1971270" y="3511430"/>
            <a:ext cx="9382529" cy="799407"/>
          </a:xfrm>
        </p:spPr>
        <p:txBody>
          <a:bodyPr/>
          <a:lstStyle>
            <a:lvl1pPr>
              <a:defRPr>
                <a:solidFill>
                  <a:schemeClr val="accent5">
                    <a:lumMod val="50000"/>
                  </a:schemeClr>
                </a:solidFill>
              </a:defRPr>
            </a:lvl1pPr>
          </a:lstStyle>
          <a:p>
            <a:pPr lvl="0"/>
            <a:r>
              <a:rPr lang="en-US"/>
              <a:t>Click to edit Master text styles</a:t>
            </a:r>
          </a:p>
        </p:txBody>
      </p:sp>
      <p:sp>
        <p:nvSpPr>
          <p:cNvPr id="22" name="Icon 4">
            <a:extLst>
              <a:ext uri="{FF2B5EF4-FFF2-40B4-BE49-F238E27FC236}">
                <a16:creationId xmlns:a16="http://schemas.microsoft.com/office/drawing/2014/main" id="{314783F0-3A10-2F4D-98E7-4803950F5BE9}"/>
              </a:ext>
            </a:extLst>
          </p:cNvPr>
          <p:cNvSpPr>
            <a:spLocks noGrp="1"/>
          </p:cNvSpPr>
          <p:nvPr>
            <p:ph type="pic" sz="quarter" idx="22" hasCustomPrompt="1"/>
          </p:nvPr>
        </p:nvSpPr>
        <p:spPr>
          <a:xfrm>
            <a:off x="838200" y="4500937"/>
            <a:ext cx="799407" cy="799407"/>
          </a:xfrm>
        </p:spPr>
        <p:txBody>
          <a:bodyPr/>
          <a:lstStyle>
            <a:lvl1pPr marL="0" indent="0">
              <a:buNone/>
              <a:defRPr/>
            </a:lvl1pPr>
          </a:lstStyle>
          <a:p>
            <a:r>
              <a:rPr lang="en-US"/>
              <a:t>Icon</a:t>
            </a:r>
          </a:p>
        </p:txBody>
      </p:sp>
      <p:sp>
        <p:nvSpPr>
          <p:cNvPr id="23" name="Text Placeholder 4">
            <a:extLst>
              <a:ext uri="{FF2B5EF4-FFF2-40B4-BE49-F238E27FC236}">
                <a16:creationId xmlns:a16="http://schemas.microsoft.com/office/drawing/2014/main" id="{CA34F634-472F-9149-BE3D-D8DD86BC126D}"/>
              </a:ext>
            </a:extLst>
          </p:cNvPr>
          <p:cNvSpPr>
            <a:spLocks noGrp="1"/>
          </p:cNvSpPr>
          <p:nvPr>
            <p:ph type="body" sz="quarter" idx="23"/>
          </p:nvPr>
        </p:nvSpPr>
        <p:spPr>
          <a:xfrm>
            <a:off x="1971270" y="4500937"/>
            <a:ext cx="9382529" cy="799407"/>
          </a:xfrm>
        </p:spPr>
        <p:txBody>
          <a:bodyPr/>
          <a:lstStyle>
            <a:lvl1pPr>
              <a:defRPr>
                <a:solidFill>
                  <a:schemeClr val="accent5">
                    <a:lumMod val="50000"/>
                  </a:schemeClr>
                </a:solidFill>
              </a:defRPr>
            </a:lvl1pPr>
          </a:lstStyle>
          <a:p>
            <a:pPr lvl="0"/>
            <a:r>
              <a:rPr lang="en-US"/>
              <a:t>Click to edit Master text styles</a:t>
            </a:r>
          </a:p>
        </p:txBody>
      </p:sp>
      <p:sp>
        <p:nvSpPr>
          <p:cNvPr id="4" name="Footer Placeholder">
            <a:extLst>
              <a:ext uri="{FF2B5EF4-FFF2-40B4-BE49-F238E27FC236}">
                <a16:creationId xmlns:a16="http://schemas.microsoft.com/office/drawing/2014/main" id="{6D6443F6-05B5-CEE0-929F-6FA812E66831}"/>
              </a:ext>
            </a:extLst>
          </p:cNvPr>
          <p:cNvSpPr>
            <a:spLocks noGrp="1"/>
          </p:cNvSpPr>
          <p:nvPr>
            <p:ph type="ftr" sz="quarter" idx="11"/>
          </p:nvPr>
        </p:nvSpPr>
        <p:spPr>
          <a:xfrm>
            <a:off x="838200" y="6286500"/>
            <a:ext cx="7048500" cy="308792"/>
          </a:xfrm>
        </p:spPr>
        <p:txBody>
          <a:bodyPr/>
          <a:lstStyle>
            <a:lvl1pPr>
              <a:defRPr/>
            </a:lvl1pPr>
          </a:lstStyle>
          <a:p>
            <a:pPr algn="l"/>
            <a:r>
              <a:rPr lang="en-US"/>
              <a:t>EPIC ROBOTS · JT LOVELL</a:t>
            </a:r>
          </a:p>
        </p:txBody>
      </p:sp>
      <p:sp>
        <p:nvSpPr>
          <p:cNvPr id="7" name="Slide Number Placeholder">
            <a:extLst>
              <a:ext uri="{FF2B5EF4-FFF2-40B4-BE49-F238E27FC236}">
                <a16:creationId xmlns:a16="http://schemas.microsoft.com/office/drawing/2014/main" id="{C00404D4-2468-8613-52AB-F0BF2AB211A5}"/>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4102497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Icons w/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lvl1pPr>
          </a:lstStyle>
          <a:p>
            <a:r>
              <a:rPr lang="en-US"/>
              <a:t>Insert Title, 28pt Calibri Bold</a:t>
            </a:r>
          </a:p>
        </p:txBody>
      </p:sp>
      <p:sp>
        <p:nvSpPr>
          <p:cNvPr id="15" name="Icon 1">
            <a:extLst>
              <a:ext uri="{FF2B5EF4-FFF2-40B4-BE49-F238E27FC236}">
                <a16:creationId xmlns:a16="http://schemas.microsoft.com/office/drawing/2014/main" id="{373C8A79-662A-A442-882E-E13DC1E44E8A}"/>
              </a:ext>
            </a:extLst>
          </p:cNvPr>
          <p:cNvSpPr>
            <a:spLocks noGrp="1"/>
          </p:cNvSpPr>
          <p:nvPr>
            <p:ph type="pic" sz="quarter" idx="16" hasCustomPrompt="1"/>
          </p:nvPr>
        </p:nvSpPr>
        <p:spPr>
          <a:xfrm>
            <a:off x="1714500" y="1574931"/>
            <a:ext cx="1587500" cy="1587500"/>
          </a:xfrm>
        </p:spPr>
        <p:txBody>
          <a:bodyPr/>
          <a:lstStyle>
            <a:lvl1pPr marL="0" indent="0">
              <a:buNone/>
              <a:defRPr/>
            </a:lvl1pPr>
          </a:lstStyle>
          <a:p>
            <a:r>
              <a:rPr lang="en-US"/>
              <a:t>Icon</a:t>
            </a:r>
          </a:p>
        </p:txBody>
      </p:sp>
      <p:sp>
        <p:nvSpPr>
          <p:cNvPr id="17" name="Text Placeholder 1">
            <a:extLst>
              <a:ext uri="{FF2B5EF4-FFF2-40B4-BE49-F238E27FC236}">
                <a16:creationId xmlns:a16="http://schemas.microsoft.com/office/drawing/2014/main" id="{1C4623FA-E81F-8A43-A308-1C14A77A749C}"/>
              </a:ext>
            </a:extLst>
          </p:cNvPr>
          <p:cNvSpPr>
            <a:spLocks noGrp="1"/>
          </p:cNvSpPr>
          <p:nvPr>
            <p:ph type="body" sz="quarter" idx="17"/>
          </p:nvPr>
        </p:nvSpPr>
        <p:spPr>
          <a:xfrm>
            <a:off x="838201" y="3505891"/>
            <a:ext cx="3352800" cy="1789877"/>
          </a:xfrm>
        </p:spPr>
        <p:txBody>
          <a:bodyPr/>
          <a:lstStyle/>
          <a:p>
            <a:pPr lvl="0"/>
            <a:r>
              <a:rPr lang="en-US"/>
              <a:t>Click to edit Master text styles</a:t>
            </a:r>
          </a:p>
        </p:txBody>
      </p:sp>
      <p:sp>
        <p:nvSpPr>
          <p:cNvPr id="14" name="Icon 1">
            <a:extLst>
              <a:ext uri="{FF2B5EF4-FFF2-40B4-BE49-F238E27FC236}">
                <a16:creationId xmlns:a16="http://schemas.microsoft.com/office/drawing/2014/main" id="{4010D1FD-4DC7-704E-BF9E-E4ED64E5FF48}"/>
              </a:ext>
            </a:extLst>
          </p:cNvPr>
          <p:cNvSpPr>
            <a:spLocks noGrp="1"/>
          </p:cNvSpPr>
          <p:nvPr>
            <p:ph type="pic" sz="quarter" idx="18" hasCustomPrompt="1"/>
          </p:nvPr>
        </p:nvSpPr>
        <p:spPr>
          <a:xfrm>
            <a:off x="5283200" y="1574931"/>
            <a:ext cx="1587500" cy="1587500"/>
          </a:xfrm>
        </p:spPr>
        <p:txBody>
          <a:bodyPr/>
          <a:lstStyle>
            <a:lvl1pPr marL="0" indent="0">
              <a:buNone/>
              <a:defRPr/>
            </a:lvl1pPr>
          </a:lstStyle>
          <a:p>
            <a:r>
              <a:rPr lang="en-US"/>
              <a:t>Icon</a:t>
            </a:r>
          </a:p>
        </p:txBody>
      </p:sp>
      <p:sp>
        <p:nvSpPr>
          <p:cNvPr id="24" name="Text Placeholder 1">
            <a:extLst>
              <a:ext uri="{FF2B5EF4-FFF2-40B4-BE49-F238E27FC236}">
                <a16:creationId xmlns:a16="http://schemas.microsoft.com/office/drawing/2014/main" id="{16E4B55D-BE18-C74B-BDF5-C9D70BD2B6BE}"/>
              </a:ext>
            </a:extLst>
          </p:cNvPr>
          <p:cNvSpPr>
            <a:spLocks noGrp="1"/>
          </p:cNvSpPr>
          <p:nvPr>
            <p:ph type="body" sz="quarter" idx="19"/>
          </p:nvPr>
        </p:nvSpPr>
        <p:spPr>
          <a:xfrm>
            <a:off x="4406901" y="3505891"/>
            <a:ext cx="3352800" cy="1789877"/>
          </a:xfrm>
        </p:spPr>
        <p:txBody>
          <a:bodyPr/>
          <a:lstStyle/>
          <a:p>
            <a:pPr lvl="0"/>
            <a:r>
              <a:rPr lang="en-US"/>
              <a:t>Click to edit Master text styles</a:t>
            </a:r>
          </a:p>
        </p:txBody>
      </p:sp>
      <p:sp>
        <p:nvSpPr>
          <p:cNvPr id="25" name="Icon 1">
            <a:extLst>
              <a:ext uri="{FF2B5EF4-FFF2-40B4-BE49-F238E27FC236}">
                <a16:creationId xmlns:a16="http://schemas.microsoft.com/office/drawing/2014/main" id="{2F36E216-C1EA-C541-92CD-B911CFED40D6}"/>
              </a:ext>
            </a:extLst>
          </p:cNvPr>
          <p:cNvSpPr>
            <a:spLocks noGrp="1"/>
          </p:cNvSpPr>
          <p:nvPr>
            <p:ph type="pic" sz="quarter" idx="20" hasCustomPrompt="1"/>
          </p:nvPr>
        </p:nvSpPr>
        <p:spPr>
          <a:xfrm>
            <a:off x="8877300" y="1574931"/>
            <a:ext cx="1587500" cy="1587500"/>
          </a:xfrm>
        </p:spPr>
        <p:txBody>
          <a:bodyPr/>
          <a:lstStyle>
            <a:lvl1pPr marL="0" indent="0">
              <a:buNone/>
              <a:defRPr/>
            </a:lvl1pPr>
          </a:lstStyle>
          <a:p>
            <a:r>
              <a:rPr lang="en-US"/>
              <a:t>Icon</a:t>
            </a:r>
          </a:p>
        </p:txBody>
      </p:sp>
      <p:sp>
        <p:nvSpPr>
          <p:cNvPr id="26" name="Text Placeholder 1">
            <a:extLst>
              <a:ext uri="{FF2B5EF4-FFF2-40B4-BE49-F238E27FC236}">
                <a16:creationId xmlns:a16="http://schemas.microsoft.com/office/drawing/2014/main" id="{2BFA7975-B9BD-0149-A0EA-22AF74978FDB}"/>
              </a:ext>
            </a:extLst>
          </p:cNvPr>
          <p:cNvSpPr>
            <a:spLocks noGrp="1"/>
          </p:cNvSpPr>
          <p:nvPr>
            <p:ph type="body" sz="quarter" idx="21"/>
          </p:nvPr>
        </p:nvSpPr>
        <p:spPr>
          <a:xfrm>
            <a:off x="8001001" y="3505891"/>
            <a:ext cx="3352800" cy="1789877"/>
          </a:xfrm>
        </p:spPr>
        <p:txBody>
          <a:bodyPr/>
          <a:lstStyle/>
          <a:p>
            <a:pPr lvl="0"/>
            <a:r>
              <a:rPr lang="en-US"/>
              <a:t>Click to edit Master text styles</a:t>
            </a:r>
          </a:p>
        </p:txBody>
      </p:sp>
      <p:sp>
        <p:nvSpPr>
          <p:cNvPr id="4" name="Footer Placeholder">
            <a:extLst>
              <a:ext uri="{FF2B5EF4-FFF2-40B4-BE49-F238E27FC236}">
                <a16:creationId xmlns:a16="http://schemas.microsoft.com/office/drawing/2014/main" id="{F32279BB-4E00-2527-D033-C831549DC7A3}"/>
              </a:ext>
            </a:extLst>
          </p:cNvPr>
          <p:cNvSpPr>
            <a:spLocks noGrp="1"/>
          </p:cNvSpPr>
          <p:nvPr>
            <p:ph type="ftr" sz="quarter" idx="11"/>
          </p:nvPr>
        </p:nvSpPr>
        <p:spPr>
          <a:xfrm>
            <a:off x="838200" y="6286500"/>
            <a:ext cx="7048500" cy="308792"/>
          </a:xfrm>
        </p:spPr>
        <p:txBody>
          <a:bodyPr/>
          <a:lstStyle>
            <a:lvl1pPr>
              <a:defRPr/>
            </a:lvl1pPr>
          </a:lstStyle>
          <a:p>
            <a:pPr algn="l"/>
            <a:r>
              <a:rPr lang="en-US"/>
              <a:t>EPIC ROBOTS · JT LOVELL</a:t>
            </a:r>
          </a:p>
        </p:txBody>
      </p:sp>
      <p:sp>
        <p:nvSpPr>
          <p:cNvPr id="7" name="Slide Number Placeholder">
            <a:extLst>
              <a:ext uri="{FF2B5EF4-FFF2-40B4-BE49-F238E27FC236}">
                <a16:creationId xmlns:a16="http://schemas.microsoft.com/office/drawing/2014/main" id="{224549C4-F7B5-B45B-5CDF-7E50ED1470C7}"/>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1894994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llout 1">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1" y="1562100"/>
            <a:ext cx="10515600" cy="3733800"/>
          </a:xfrm>
        </p:spPr>
        <p:txBody>
          <a:bodyPr/>
          <a:lstStyle>
            <a:lvl1pPr algn="ctr">
              <a:defRPr sz="3800">
                <a:solidFill>
                  <a:schemeClr val="tx2"/>
                </a:solidFill>
              </a:defRPr>
            </a:lvl1pPr>
          </a:lstStyle>
          <a:p>
            <a:r>
              <a:rPr lang="en-US"/>
              <a:t>Insert Callout, 28pt Calibri Bold</a:t>
            </a:r>
          </a:p>
        </p:txBody>
      </p:sp>
      <p:sp>
        <p:nvSpPr>
          <p:cNvPr id="5" name="Footer Placeholder"/>
          <p:cNvSpPr>
            <a:spLocks noGrp="1"/>
          </p:cNvSpPr>
          <p:nvPr>
            <p:ph type="ftr" sz="quarter" idx="11"/>
          </p:nvPr>
        </p:nvSpPr>
        <p:spPr/>
        <p:txBody>
          <a:bodyPr/>
          <a:lstStyle>
            <a:lvl1pPr>
              <a:defRPr/>
            </a:lvl1pPr>
          </a:lstStyle>
          <a:p>
            <a:pPr algn="l"/>
            <a:r>
              <a:rPr lang="en-US"/>
              <a:t>EPIC ROBOTS · JT LOVELL</a:t>
            </a:r>
          </a:p>
        </p:txBody>
      </p:sp>
      <p:sp>
        <p:nvSpPr>
          <p:cNvPr id="3" name="Slide Number Placeholder">
            <a:extLst>
              <a:ext uri="{FF2B5EF4-FFF2-40B4-BE49-F238E27FC236}">
                <a16:creationId xmlns:a16="http://schemas.microsoft.com/office/drawing/2014/main" id="{D1933C6F-76F5-743C-A33A-92FC941B7545}"/>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502176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llout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1" y="1562100"/>
            <a:ext cx="10515600" cy="3733800"/>
          </a:xfrm>
        </p:spPr>
        <p:txBody>
          <a:bodyPr/>
          <a:lstStyle>
            <a:lvl1pPr algn="ctr">
              <a:defRPr sz="3800">
                <a:solidFill>
                  <a:schemeClr val="bg2"/>
                </a:solidFill>
              </a:defRPr>
            </a:lvl1pPr>
          </a:lstStyle>
          <a:p>
            <a:r>
              <a:rPr lang="en-US"/>
              <a:t>Insert Callout, 28pt Calibri Bold</a:t>
            </a:r>
          </a:p>
        </p:txBody>
      </p:sp>
      <p:sp>
        <p:nvSpPr>
          <p:cNvPr id="5" name="Footer Placeholder"/>
          <p:cNvSpPr>
            <a:spLocks noGrp="1"/>
          </p:cNvSpPr>
          <p:nvPr>
            <p:ph type="ftr" sz="quarter" idx="11"/>
          </p:nvPr>
        </p:nvSpPr>
        <p:spPr/>
        <p:txBody>
          <a:bodyPr/>
          <a:lstStyle>
            <a:lvl1pPr>
              <a:defRPr>
                <a:solidFill>
                  <a:schemeClr val="bg2"/>
                </a:solidFill>
              </a:defRPr>
            </a:lvl1pPr>
          </a:lstStyle>
          <a:p>
            <a:r>
              <a:rPr lang="en-US"/>
              <a:t>EPIC ROBOTS · JT LOVELL</a:t>
            </a:r>
          </a:p>
        </p:txBody>
      </p:sp>
      <p:sp>
        <p:nvSpPr>
          <p:cNvPr id="4" name="Slide Number Placeholder">
            <a:extLst>
              <a:ext uri="{FF2B5EF4-FFF2-40B4-BE49-F238E27FC236}">
                <a16:creationId xmlns:a16="http://schemas.microsoft.com/office/drawing/2014/main" id="{72974FD3-7AAF-204D-3276-767CA9AF1697}"/>
              </a:ext>
            </a:extLst>
          </p:cNvPr>
          <p:cNvSpPr>
            <a:spLocks noGrp="1"/>
          </p:cNvSpPr>
          <p:nvPr>
            <p:ph type="sldNum" sz="quarter" idx="12"/>
          </p:nvPr>
        </p:nvSpPr>
        <p:spPr>
          <a:xfrm>
            <a:off x="10964917" y="6286500"/>
            <a:ext cx="388883" cy="308791"/>
          </a:xfrm>
        </p:spPr>
        <p:txBody>
          <a:bodyPr/>
          <a:lstStyle>
            <a:lvl1pPr>
              <a:defRPr>
                <a:solidFill>
                  <a:schemeClr val="bg2"/>
                </a:solidFill>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414247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llout 3">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525A8F0-F8EC-6D46-A4F8-ADB57FC92E5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1" y="1562100"/>
            <a:ext cx="10515600" cy="3733800"/>
          </a:xfrm>
        </p:spPr>
        <p:txBody>
          <a:bodyPr/>
          <a:lstStyle>
            <a:lvl1pPr algn="ctr">
              <a:defRPr sz="3800">
                <a:solidFill>
                  <a:schemeClr val="bg2"/>
                </a:solidFill>
              </a:defRPr>
            </a:lvl1pPr>
          </a:lstStyle>
          <a:p>
            <a:r>
              <a:rPr lang="en-US"/>
              <a:t>Insert Callout, 28pt Calibri Bold</a:t>
            </a:r>
          </a:p>
        </p:txBody>
      </p:sp>
      <p:sp>
        <p:nvSpPr>
          <p:cNvPr id="5" name="Footer Placeholder"/>
          <p:cNvSpPr>
            <a:spLocks noGrp="1"/>
          </p:cNvSpPr>
          <p:nvPr>
            <p:ph type="ftr" sz="quarter" idx="11"/>
          </p:nvPr>
        </p:nvSpPr>
        <p:spPr/>
        <p:txBody>
          <a:bodyPr/>
          <a:lstStyle>
            <a:lvl1pPr>
              <a:defRPr>
                <a:solidFill>
                  <a:schemeClr val="bg2"/>
                </a:solidFill>
              </a:defRPr>
            </a:lvl1pPr>
          </a:lstStyle>
          <a:p>
            <a:r>
              <a:rPr lang="en-US"/>
              <a:t>EPIC ROBOTS · JT LOVELL</a:t>
            </a:r>
          </a:p>
        </p:txBody>
      </p:sp>
      <p:sp>
        <p:nvSpPr>
          <p:cNvPr id="3" name="Slide Number Placeholder">
            <a:extLst>
              <a:ext uri="{FF2B5EF4-FFF2-40B4-BE49-F238E27FC236}">
                <a16:creationId xmlns:a16="http://schemas.microsoft.com/office/drawing/2014/main" id="{433C9FA4-EDA2-B768-2B78-B25DDB1C5AE6}"/>
              </a:ext>
            </a:extLst>
          </p:cNvPr>
          <p:cNvSpPr>
            <a:spLocks noGrp="1"/>
          </p:cNvSpPr>
          <p:nvPr>
            <p:ph type="sldNum" sz="quarter" idx="12"/>
          </p:nvPr>
        </p:nvSpPr>
        <p:spPr>
          <a:xfrm>
            <a:off x="10964917" y="6286500"/>
            <a:ext cx="388883" cy="308791"/>
          </a:xfrm>
        </p:spPr>
        <p:txBody>
          <a:bodyPr/>
          <a:lstStyle>
            <a:lvl1pPr>
              <a:defRPr>
                <a:solidFill>
                  <a:schemeClr val="bg2"/>
                </a:solidFill>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2529406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s - Blue backgroun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E450A-5CA6-F3D8-3511-43173BBE942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solidFill>
                  <a:schemeClr val="bg1"/>
                </a:solidFill>
              </a:defRPr>
            </a:lvl1pPr>
          </a:lstStyle>
          <a:p>
            <a:r>
              <a:rPr lang="en-US"/>
              <a:t>Insert Title, 28pt Segoe UI Bold</a:t>
            </a:r>
          </a:p>
        </p:txBody>
      </p:sp>
      <p:sp>
        <p:nvSpPr>
          <p:cNvPr id="12" name="Content Placeholder"/>
          <p:cNvSpPr>
            <a:spLocks noGrp="1"/>
          </p:cNvSpPr>
          <p:nvPr>
            <p:ph sz="quarter" idx="13"/>
          </p:nvPr>
        </p:nvSpPr>
        <p:spPr>
          <a:xfrm>
            <a:off x="838201" y="1562100"/>
            <a:ext cx="10515599" cy="4359730"/>
          </a:xfrm>
        </p:spPr>
        <p:txBody>
          <a:bodyPr numCol="2" spcCol="914400"/>
          <a:lstStyle>
            <a:lvl1pPr>
              <a:defRPr sz="2200">
                <a:solidFill>
                  <a:schemeClr val="bg1"/>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5" name="Footer Placeholder"/>
          <p:cNvSpPr>
            <a:spLocks noGrp="1"/>
          </p:cNvSpPr>
          <p:nvPr>
            <p:ph type="ftr" sz="quarter" idx="11"/>
          </p:nvPr>
        </p:nvSpPr>
        <p:spPr>
          <a:xfrm>
            <a:off x="838200" y="6286500"/>
            <a:ext cx="7848600" cy="308792"/>
          </a:xfrm>
        </p:spPr>
        <p:txBody>
          <a:bodyPr/>
          <a:lstStyle>
            <a:lvl1pPr algn="l">
              <a:defRPr>
                <a:solidFill>
                  <a:schemeClr val="bg1"/>
                </a:solidFill>
              </a:defRPr>
            </a:lvl1pPr>
          </a:lstStyle>
          <a:p>
            <a:r>
              <a:rPr lang="en-US"/>
              <a:t>EPIC ROBOTS · JT LOVELL</a:t>
            </a:r>
          </a:p>
        </p:txBody>
      </p:sp>
      <p:sp>
        <p:nvSpPr>
          <p:cNvPr id="6" name="Slide Number Placeholder"/>
          <p:cNvSpPr>
            <a:spLocks noGrp="1"/>
          </p:cNvSpPr>
          <p:nvPr>
            <p:ph type="sldNum" sz="quarter" idx="12"/>
          </p:nvPr>
        </p:nvSpPr>
        <p:spPr/>
        <p:txBody>
          <a:bodyPr/>
          <a:lstStyle>
            <a:lvl1pPr>
              <a:defRPr>
                <a:solidFill>
                  <a:schemeClr val="bg1"/>
                </a:solidFill>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25097695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Pictures - Blue backgroun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974072-049E-90E1-53F7-A4D97C3880D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solidFill>
                  <a:schemeClr val="bg1"/>
                </a:solidFill>
              </a:defRPr>
            </a:lvl1pPr>
          </a:lstStyle>
          <a:p>
            <a:r>
              <a:rPr lang="en-US"/>
              <a:t>Insert Title, 28pt Segoe UI Bold</a:t>
            </a:r>
          </a:p>
        </p:txBody>
      </p:sp>
      <p:sp>
        <p:nvSpPr>
          <p:cNvPr id="12" name="Content Placeholder"/>
          <p:cNvSpPr>
            <a:spLocks noGrp="1"/>
          </p:cNvSpPr>
          <p:nvPr>
            <p:ph sz="quarter" idx="13"/>
          </p:nvPr>
        </p:nvSpPr>
        <p:spPr>
          <a:xfrm>
            <a:off x="838201" y="1562100"/>
            <a:ext cx="10515599" cy="4359730"/>
          </a:xfrm>
        </p:spPr>
        <p:txBody>
          <a:bodyPr numCol="2" spcCol="914400"/>
          <a:lstStyle>
            <a:lvl1pPr>
              <a:defRPr sz="2200">
                <a:solidFill>
                  <a:schemeClr val="bg1"/>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5" name="Footer Placeholder"/>
          <p:cNvSpPr>
            <a:spLocks noGrp="1"/>
          </p:cNvSpPr>
          <p:nvPr>
            <p:ph type="ftr" sz="quarter" idx="11"/>
          </p:nvPr>
        </p:nvSpPr>
        <p:spPr>
          <a:xfrm>
            <a:off x="838200" y="6286500"/>
            <a:ext cx="7848600" cy="308792"/>
          </a:xfrm>
        </p:spPr>
        <p:txBody>
          <a:bodyPr/>
          <a:lstStyle>
            <a:lvl1pPr algn="l">
              <a:defRPr>
                <a:solidFill>
                  <a:schemeClr val="bg1"/>
                </a:solidFill>
              </a:defRPr>
            </a:lvl1pPr>
          </a:lstStyle>
          <a:p>
            <a:r>
              <a:rPr lang="en-US"/>
              <a:t>EPIC ROBOTS · JT LOVELL</a:t>
            </a:r>
          </a:p>
        </p:txBody>
      </p:sp>
      <p:sp>
        <p:nvSpPr>
          <p:cNvPr id="6" name="Slide Number Placeholder"/>
          <p:cNvSpPr>
            <a:spLocks noGrp="1"/>
          </p:cNvSpPr>
          <p:nvPr>
            <p:ph type="sldNum" sz="quarter" idx="12"/>
          </p:nvPr>
        </p:nvSpPr>
        <p:spPr/>
        <p:txBody>
          <a:bodyPr/>
          <a:lstStyle>
            <a:lvl1pPr>
              <a:defRPr>
                <a:solidFill>
                  <a:schemeClr val="bg1"/>
                </a:solidFill>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3586959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Pictures - Blue backgroun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E450A-5CA6-F3D8-3511-43173BBE942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p:txBody>
          <a:bodyPr/>
          <a:lstStyle>
            <a:lvl1pPr>
              <a:defRPr>
                <a:solidFill>
                  <a:schemeClr val="bg1"/>
                </a:solidFill>
              </a:defRPr>
            </a:lvl1pPr>
          </a:lstStyle>
          <a:p>
            <a:r>
              <a:rPr lang="en-US"/>
              <a:t>Insert Title, 28pt Segoe UI Bold</a:t>
            </a:r>
          </a:p>
        </p:txBody>
      </p:sp>
      <p:sp>
        <p:nvSpPr>
          <p:cNvPr id="12" name="Content Placeholder"/>
          <p:cNvSpPr>
            <a:spLocks noGrp="1"/>
          </p:cNvSpPr>
          <p:nvPr>
            <p:ph sz="quarter" idx="13"/>
          </p:nvPr>
        </p:nvSpPr>
        <p:spPr>
          <a:xfrm>
            <a:off x="838201" y="1562100"/>
            <a:ext cx="10515599" cy="3853679"/>
          </a:xfrm>
        </p:spPr>
        <p:txBody>
          <a:bodyPr numCol="2" spcCol="914400"/>
          <a:lstStyle>
            <a:lvl1pPr>
              <a:defRPr sz="2200">
                <a:solidFill>
                  <a:schemeClr val="bg1"/>
                </a:solidFill>
              </a:defRPr>
            </a:lvl1pPr>
            <a:lvl2pPr>
              <a:defRPr>
                <a:solidFill>
                  <a:schemeClr val="accent6">
                    <a:lumMod val="50000"/>
                  </a:schemeClr>
                </a:solidFill>
              </a:defRPr>
            </a:lvl2pPr>
            <a:lvl3pPr>
              <a:defRPr>
                <a:solidFill>
                  <a:schemeClr val="accent6">
                    <a:lumMod val="50000"/>
                  </a:schemeClr>
                </a:solidFill>
              </a:defRPr>
            </a:lvl3pPr>
            <a:lvl4pPr>
              <a:defRPr>
                <a:solidFill>
                  <a:schemeClr val="accent6">
                    <a:lumMod val="50000"/>
                  </a:schemeClr>
                </a:solidFill>
              </a:defRPr>
            </a:lvl4pPr>
            <a:lvl5pPr>
              <a:defRPr>
                <a:solidFill>
                  <a:schemeClr val="accent6">
                    <a:lumMod val="50000"/>
                  </a:schemeClr>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A4A93D26-3BD4-16BD-E4FF-252F2051C50A}"/>
              </a:ext>
            </a:extLst>
          </p:cNvPr>
          <p:cNvSpPr>
            <a:spLocks noGrp="1"/>
          </p:cNvSpPr>
          <p:nvPr>
            <p:ph type="body" sz="quarter" idx="14"/>
          </p:nvPr>
        </p:nvSpPr>
        <p:spPr>
          <a:xfrm>
            <a:off x="838200" y="5678488"/>
            <a:ext cx="10515600" cy="242887"/>
          </a:xfrm>
        </p:spPr>
        <p:txBody>
          <a:bodyPr/>
          <a:lstStyle>
            <a:lvl1pPr marL="0" indent="0">
              <a:buNone/>
              <a:defRPr sz="1800">
                <a:solidFill>
                  <a:schemeClr val="bg1"/>
                </a:solidFill>
              </a:defRPr>
            </a:lvl1pPr>
            <a:lvl2pPr marL="274320" indent="0">
              <a:buNone/>
              <a:defRPr/>
            </a:lvl2pPr>
          </a:lstStyle>
          <a:p>
            <a:pPr lvl="0"/>
            <a:r>
              <a:rPr lang="en-US"/>
              <a:t>Click to edit Master text styles</a:t>
            </a:r>
          </a:p>
        </p:txBody>
      </p:sp>
      <p:sp>
        <p:nvSpPr>
          <p:cNvPr id="5" name="Footer Placeholder"/>
          <p:cNvSpPr>
            <a:spLocks noGrp="1"/>
          </p:cNvSpPr>
          <p:nvPr>
            <p:ph type="ftr" sz="quarter" idx="11"/>
          </p:nvPr>
        </p:nvSpPr>
        <p:spPr>
          <a:xfrm>
            <a:off x="838200" y="6286500"/>
            <a:ext cx="7848600" cy="308792"/>
          </a:xfrm>
        </p:spPr>
        <p:txBody>
          <a:bodyPr/>
          <a:lstStyle>
            <a:lvl1pPr algn="l">
              <a:defRPr>
                <a:solidFill>
                  <a:schemeClr val="bg1"/>
                </a:solidFill>
              </a:defRPr>
            </a:lvl1pPr>
          </a:lstStyle>
          <a:p>
            <a:r>
              <a:rPr lang="en-US"/>
              <a:t>EPIC ROBOTS · JT LOVELL</a:t>
            </a:r>
          </a:p>
        </p:txBody>
      </p:sp>
      <p:sp>
        <p:nvSpPr>
          <p:cNvPr id="6" name="Slide Number Placeholder"/>
          <p:cNvSpPr>
            <a:spLocks noGrp="1"/>
          </p:cNvSpPr>
          <p:nvPr>
            <p:ph type="sldNum" sz="quarter" idx="12"/>
          </p:nvPr>
        </p:nvSpPr>
        <p:spPr/>
        <p:txBody>
          <a:bodyPr/>
          <a:lstStyle>
            <a:lvl1pPr>
              <a:defRPr>
                <a:solidFill>
                  <a:schemeClr val="bg1"/>
                </a:solidFill>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24074388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FD2BBA77-FA76-4446-8D40-E07F5EB58D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39" name="Picture 38">
            <a:extLst>
              <a:ext uri="{FF2B5EF4-FFF2-40B4-BE49-F238E27FC236}">
                <a16:creationId xmlns:a16="http://schemas.microsoft.com/office/drawing/2014/main" id="{D37AD496-AFB1-6B4A-92D8-33F34EDEEE84}"/>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086600" y="0"/>
            <a:ext cx="5105400" cy="6023790"/>
          </a:xfrm>
          <a:prstGeom prst="rect">
            <a:avLst/>
          </a:prstGeom>
        </p:spPr>
      </p:pic>
      <p:sp>
        <p:nvSpPr>
          <p:cNvPr id="56" name="Picture Placeholder 55">
            <a:extLst>
              <a:ext uri="{FF2B5EF4-FFF2-40B4-BE49-F238E27FC236}">
                <a16:creationId xmlns:a16="http://schemas.microsoft.com/office/drawing/2014/main" id="{2A21BF40-6C8B-BB43-980D-47122B2D741A}"/>
              </a:ext>
            </a:extLst>
          </p:cNvPr>
          <p:cNvSpPr>
            <a:spLocks noGrp="1"/>
          </p:cNvSpPr>
          <p:nvPr>
            <p:ph type="pic" sz="quarter" idx="14"/>
          </p:nvPr>
        </p:nvSpPr>
        <p:spPr>
          <a:xfrm>
            <a:off x="7644766" y="-19050"/>
            <a:ext cx="4563488" cy="5635625"/>
          </a:xfrm>
          <a:custGeom>
            <a:avLst/>
            <a:gdLst>
              <a:gd name="connsiteX0" fmla="*/ 765149 w 4544059"/>
              <a:gd name="connsiteY0" fmla="*/ 0 h 5611631"/>
              <a:gd name="connsiteX1" fmla="*/ 4544059 w 4544059"/>
              <a:gd name="connsiteY1" fmla="*/ 0 h 5611631"/>
              <a:gd name="connsiteX2" fmla="*/ 4544059 w 4544059"/>
              <a:gd name="connsiteY2" fmla="*/ 5523123 h 5611631"/>
              <a:gd name="connsiteX3" fmla="*/ 4505140 w 4544059"/>
              <a:gd name="connsiteY3" fmla="*/ 5531650 h 5611631"/>
              <a:gd name="connsiteX4" fmla="*/ 4423287 w 4544059"/>
              <a:gd name="connsiteY4" fmla="*/ 5548489 h 5611631"/>
              <a:gd name="connsiteX5" fmla="*/ 4340034 w 4544059"/>
              <a:gd name="connsiteY5" fmla="*/ 5563455 h 5611631"/>
              <a:gd name="connsiteX6" fmla="*/ 4256778 w 4544059"/>
              <a:gd name="connsiteY6" fmla="*/ 5576552 h 5611631"/>
              <a:gd name="connsiteX7" fmla="*/ 4173054 w 4544059"/>
              <a:gd name="connsiteY7" fmla="*/ 5587778 h 5611631"/>
              <a:gd name="connsiteX8" fmla="*/ 4087929 w 4544059"/>
              <a:gd name="connsiteY8" fmla="*/ 5594794 h 5611631"/>
              <a:gd name="connsiteX9" fmla="*/ 4002334 w 4544059"/>
              <a:gd name="connsiteY9" fmla="*/ 5602277 h 5611631"/>
              <a:gd name="connsiteX10" fmla="*/ 3917209 w 4544059"/>
              <a:gd name="connsiteY10" fmla="*/ 5607891 h 5611631"/>
              <a:gd name="connsiteX11" fmla="*/ 3832083 w 4544059"/>
              <a:gd name="connsiteY11" fmla="*/ 5611631 h 5611631"/>
              <a:gd name="connsiteX12" fmla="*/ 3739939 w 4544059"/>
              <a:gd name="connsiteY12" fmla="*/ 5611631 h 5611631"/>
              <a:gd name="connsiteX13" fmla="*/ 3647330 w 4544059"/>
              <a:gd name="connsiteY13" fmla="*/ 5611631 h 5611631"/>
              <a:gd name="connsiteX14" fmla="*/ 3556124 w 4544059"/>
              <a:gd name="connsiteY14" fmla="*/ 5607891 h 5611631"/>
              <a:gd name="connsiteX15" fmla="*/ 3465386 w 4544059"/>
              <a:gd name="connsiteY15" fmla="*/ 5602277 h 5611631"/>
              <a:gd name="connsiteX16" fmla="*/ 3374645 w 4544059"/>
              <a:gd name="connsiteY16" fmla="*/ 5594794 h 5611631"/>
              <a:gd name="connsiteX17" fmla="*/ 3285311 w 4544059"/>
              <a:gd name="connsiteY17" fmla="*/ 5583568 h 5611631"/>
              <a:gd name="connsiteX18" fmla="*/ 3194571 w 4544059"/>
              <a:gd name="connsiteY18" fmla="*/ 5572810 h 5611631"/>
              <a:gd name="connsiteX19" fmla="*/ 3105703 w 4544059"/>
              <a:gd name="connsiteY19" fmla="*/ 5557843 h 5611631"/>
              <a:gd name="connsiteX20" fmla="*/ 3016836 w 4544059"/>
              <a:gd name="connsiteY20" fmla="*/ 5541006 h 5611631"/>
              <a:gd name="connsiteX21" fmla="*/ 2929371 w 4544059"/>
              <a:gd name="connsiteY21" fmla="*/ 5520893 h 5611631"/>
              <a:gd name="connsiteX22" fmla="*/ 2840502 w 4544059"/>
              <a:gd name="connsiteY22" fmla="*/ 5500313 h 5611631"/>
              <a:gd name="connsiteX23" fmla="*/ 2753506 w 4544059"/>
              <a:gd name="connsiteY23" fmla="*/ 5475991 h 5611631"/>
              <a:gd name="connsiteX24" fmla="*/ 2667911 w 4544059"/>
              <a:gd name="connsiteY24" fmla="*/ 5452137 h 5611631"/>
              <a:gd name="connsiteX25" fmla="*/ 2580915 w 4544059"/>
              <a:gd name="connsiteY25" fmla="*/ 5424074 h 5611631"/>
              <a:gd name="connsiteX26" fmla="*/ 2495788 w 4544059"/>
              <a:gd name="connsiteY26" fmla="*/ 5392735 h 5611631"/>
              <a:gd name="connsiteX27" fmla="*/ 2410661 w 4544059"/>
              <a:gd name="connsiteY27" fmla="*/ 5361398 h 5611631"/>
              <a:gd name="connsiteX28" fmla="*/ 2326939 w 4544059"/>
              <a:gd name="connsiteY28" fmla="*/ 5328190 h 5611631"/>
              <a:gd name="connsiteX29" fmla="*/ 2238072 w 4544059"/>
              <a:gd name="connsiteY29" fmla="*/ 5288902 h 5611631"/>
              <a:gd name="connsiteX30" fmla="*/ 2151074 w 4544059"/>
              <a:gd name="connsiteY30" fmla="*/ 5248209 h 5611631"/>
              <a:gd name="connsiteX31" fmla="*/ 2065480 w 4544059"/>
              <a:gd name="connsiteY31" fmla="*/ 5203775 h 5611631"/>
              <a:gd name="connsiteX32" fmla="*/ 1980354 w 4544059"/>
              <a:gd name="connsiteY32" fmla="*/ 5159341 h 5611631"/>
              <a:gd name="connsiteX33" fmla="*/ 1896631 w 4544059"/>
              <a:gd name="connsiteY33" fmla="*/ 5110696 h 5611631"/>
              <a:gd name="connsiteX34" fmla="*/ 1815247 w 4544059"/>
              <a:gd name="connsiteY34" fmla="*/ 5060651 h 5611631"/>
              <a:gd name="connsiteX35" fmla="*/ 1735734 w 4544059"/>
              <a:gd name="connsiteY35" fmla="*/ 5008732 h 5611631"/>
              <a:gd name="connsiteX36" fmla="*/ 1655753 w 4544059"/>
              <a:gd name="connsiteY36" fmla="*/ 4954944 h 5611631"/>
              <a:gd name="connsiteX37" fmla="*/ 1787651 w 4544059"/>
              <a:gd name="connsiteY37" fmla="*/ 4954944 h 5611631"/>
              <a:gd name="connsiteX38" fmla="*/ 1974742 w 4544059"/>
              <a:gd name="connsiteY38" fmla="*/ 4954944 h 5611631"/>
              <a:gd name="connsiteX39" fmla="*/ 1911598 w 4544059"/>
              <a:gd name="connsiteY39" fmla="*/ 4909106 h 5611631"/>
              <a:gd name="connsiteX40" fmla="*/ 1848455 w 4544059"/>
              <a:gd name="connsiteY40" fmla="*/ 4862334 h 5611631"/>
              <a:gd name="connsiteX41" fmla="*/ 1787651 w 4544059"/>
              <a:gd name="connsiteY41" fmla="*/ 4814158 h 5611631"/>
              <a:gd name="connsiteX42" fmla="*/ 1726378 w 4544059"/>
              <a:gd name="connsiteY42" fmla="*/ 4764111 h 5611631"/>
              <a:gd name="connsiteX43" fmla="*/ 1666976 w 4544059"/>
              <a:gd name="connsiteY43" fmla="*/ 4712194 h 5611631"/>
              <a:gd name="connsiteX44" fmla="*/ 1607577 w 4544059"/>
              <a:gd name="connsiteY44" fmla="*/ 4658404 h 5611631"/>
              <a:gd name="connsiteX45" fmla="*/ 1550046 w 4544059"/>
              <a:gd name="connsiteY45" fmla="*/ 4604616 h 5611631"/>
              <a:gd name="connsiteX46" fmla="*/ 1492515 w 4544059"/>
              <a:gd name="connsiteY46" fmla="*/ 4549426 h 5611631"/>
              <a:gd name="connsiteX47" fmla="*/ 1431243 w 4544059"/>
              <a:gd name="connsiteY47" fmla="*/ 4486281 h 5611631"/>
              <a:gd name="connsiteX48" fmla="*/ 1372310 w 4544059"/>
              <a:gd name="connsiteY48" fmla="*/ 4421268 h 5611631"/>
              <a:gd name="connsiteX49" fmla="*/ 1312908 w 4544059"/>
              <a:gd name="connsiteY49" fmla="*/ 4356254 h 5611631"/>
              <a:gd name="connsiteX50" fmla="*/ 1257249 w 4544059"/>
              <a:gd name="connsiteY50" fmla="*/ 4289836 h 5611631"/>
              <a:gd name="connsiteX51" fmla="*/ 1201589 w 4544059"/>
              <a:gd name="connsiteY51" fmla="*/ 4221080 h 5611631"/>
              <a:gd name="connsiteX52" fmla="*/ 1149673 w 4544059"/>
              <a:gd name="connsiteY52" fmla="*/ 4152326 h 5611631"/>
              <a:gd name="connsiteX53" fmla="*/ 1097754 w 4544059"/>
              <a:gd name="connsiteY53" fmla="*/ 4082165 h 5611631"/>
              <a:gd name="connsiteX54" fmla="*/ 1047709 w 4544059"/>
              <a:gd name="connsiteY54" fmla="*/ 4009669 h 5611631"/>
              <a:gd name="connsiteX55" fmla="*/ 1001404 w 4544059"/>
              <a:gd name="connsiteY55" fmla="*/ 3937172 h 5611631"/>
              <a:gd name="connsiteX56" fmla="*/ 955099 w 4544059"/>
              <a:gd name="connsiteY56" fmla="*/ 3863271 h 5611631"/>
              <a:gd name="connsiteX57" fmla="*/ 910196 w 4544059"/>
              <a:gd name="connsiteY57" fmla="*/ 3788901 h 5611631"/>
              <a:gd name="connsiteX58" fmla="*/ 867634 w 4544059"/>
              <a:gd name="connsiteY58" fmla="*/ 3713130 h 5611631"/>
              <a:gd name="connsiteX59" fmla="*/ 826941 w 4544059"/>
              <a:gd name="connsiteY59" fmla="*/ 3635487 h 5611631"/>
              <a:gd name="connsiteX60" fmla="*/ 788119 w 4544059"/>
              <a:gd name="connsiteY60" fmla="*/ 3557376 h 5611631"/>
              <a:gd name="connsiteX61" fmla="*/ 751169 w 4544059"/>
              <a:gd name="connsiteY61" fmla="*/ 3477863 h 5611631"/>
              <a:gd name="connsiteX62" fmla="*/ 715623 w 4544059"/>
              <a:gd name="connsiteY62" fmla="*/ 3396012 h 5611631"/>
              <a:gd name="connsiteX63" fmla="*/ 688026 w 4544059"/>
              <a:gd name="connsiteY63" fmla="*/ 3329127 h 5611631"/>
              <a:gd name="connsiteX64" fmla="*/ 661835 w 4544059"/>
              <a:gd name="connsiteY64" fmla="*/ 3262243 h 5611631"/>
              <a:gd name="connsiteX65" fmla="*/ 1058934 w 4544059"/>
              <a:gd name="connsiteY65" fmla="*/ 3262243 h 5611631"/>
              <a:gd name="connsiteX66" fmla="*/ 1058934 w 4544059"/>
              <a:gd name="connsiteY66" fmla="*/ 3008734 h 5611631"/>
              <a:gd name="connsiteX67" fmla="*/ 576708 w 4544059"/>
              <a:gd name="connsiteY67" fmla="*/ 3008734 h 5611631"/>
              <a:gd name="connsiteX68" fmla="*/ 557999 w 4544059"/>
              <a:gd name="connsiteY68" fmla="*/ 2943720 h 5611631"/>
              <a:gd name="connsiteX69" fmla="*/ 541629 w 4544059"/>
              <a:gd name="connsiteY69" fmla="*/ 2878706 h 5611631"/>
              <a:gd name="connsiteX70" fmla="*/ 526661 w 4544059"/>
              <a:gd name="connsiteY70" fmla="*/ 2814160 h 5611631"/>
              <a:gd name="connsiteX71" fmla="*/ 511694 w 4544059"/>
              <a:gd name="connsiteY71" fmla="*/ 2749146 h 5611631"/>
              <a:gd name="connsiteX72" fmla="*/ 380262 w 4544059"/>
              <a:gd name="connsiteY72" fmla="*/ 2749146 h 5611631"/>
              <a:gd name="connsiteX73" fmla="*/ 367166 w 4544059"/>
              <a:gd name="connsiteY73" fmla="*/ 2686004 h 5611631"/>
              <a:gd name="connsiteX74" fmla="*/ 354071 w 4544059"/>
              <a:gd name="connsiteY74" fmla="*/ 2622862 h 5611631"/>
              <a:gd name="connsiteX75" fmla="*/ 345183 w 4544059"/>
              <a:gd name="connsiteY75" fmla="*/ 2559720 h 5611631"/>
              <a:gd name="connsiteX76" fmla="*/ 335829 w 4544059"/>
              <a:gd name="connsiteY76" fmla="*/ 2494706 h 5611631"/>
              <a:gd name="connsiteX77" fmla="*/ 326474 w 4544059"/>
              <a:gd name="connsiteY77" fmla="*/ 2432030 h 5611631"/>
              <a:gd name="connsiteX78" fmla="*/ 318991 w 4544059"/>
              <a:gd name="connsiteY78" fmla="*/ 2367015 h 5611631"/>
              <a:gd name="connsiteX79" fmla="*/ 313378 w 4544059"/>
              <a:gd name="connsiteY79" fmla="*/ 2303872 h 5611631"/>
              <a:gd name="connsiteX80" fmla="*/ 307766 w 4544059"/>
              <a:gd name="connsiteY80" fmla="*/ 2239326 h 5611631"/>
              <a:gd name="connsiteX81" fmla="*/ 120675 w 4544059"/>
              <a:gd name="connsiteY81" fmla="*/ 2239326 h 5611631"/>
              <a:gd name="connsiteX82" fmla="*/ 0 w 4544059"/>
              <a:gd name="connsiteY82" fmla="*/ 2239326 h 5611631"/>
              <a:gd name="connsiteX83" fmla="*/ 0 w 4544059"/>
              <a:gd name="connsiteY83" fmla="*/ 1984883 h 5611631"/>
              <a:gd name="connsiteX84" fmla="*/ 111321 w 4544059"/>
              <a:gd name="connsiteY84" fmla="*/ 1984883 h 5611631"/>
              <a:gd name="connsiteX85" fmla="*/ 298411 w 4544059"/>
              <a:gd name="connsiteY85" fmla="*/ 1984883 h 5611631"/>
              <a:gd name="connsiteX86" fmla="*/ 300281 w 4544059"/>
              <a:gd name="connsiteY86" fmla="*/ 1909580 h 5611631"/>
              <a:gd name="connsiteX87" fmla="*/ 302152 w 4544059"/>
              <a:gd name="connsiteY87" fmla="*/ 1833340 h 5611631"/>
              <a:gd name="connsiteX88" fmla="*/ 306361 w 4544059"/>
              <a:gd name="connsiteY88" fmla="*/ 1759439 h 5611631"/>
              <a:gd name="connsiteX89" fmla="*/ 311506 w 4544059"/>
              <a:gd name="connsiteY89" fmla="*/ 1685071 h 5611631"/>
              <a:gd name="connsiteX90" fmla="*/ 318991 w 4544059"/>
              <a:gd name="connsiteY90" fmla="*/ 1609299 h 5611631"/>
              <a:gd name="connsiteX91" fmla="*/ 326474 w 4544059"/>
              <a:gd name="connsiteY91" fmla="*/ 1534931 h 5611631"/>
              <a:gd name="connsiteX92" fmla="*/ 337700 w 4544059"/>
              <a:gd name="connsiteY92" fmla="*/ 1461030 h 5611631"/>
              <a:gd name="connsiteX93" fmla="*/ 348926 w 4544059"/>
              <a:gd name="connsiteY93" fmla="*/ 1388533 h 5611631"/>
              <a:gd name="connsiteX94" fmla="*/ 361554 w 4544059"/>
              <a:gd name="connsiteY94" fmla="*/ 1314632 h 5611631"/>
              <a:gd name="connsiteX95" fmla="*/ 374651 w 4544059"/>
              <a:gd name="connsiteY95" fmla="*/ 1242133 h 5611631"/>
              <a:gd name="connsiteX96" fmla="*/ 391488 w 4544059"/>
              <a:gd name="connsiteY96" fmla="*/ 1169637 h 5611631"/>
              <a:gd name="connsiteX97" fmla="*/ 407859 w 4544059"/>
              <a:gd name="connsiteY97" fmla="*/ 1097607 h 5611631"/>
              <a:gd name="connsiteX98" fmla="*/ 428439 w 4544059"/>
              <a:gd name="connsiteY98" fmla="*/ 1025108 h 5611631"/>
              <a:gd name="connsiteX99" fmla="*/ 449019 w 4544059"/>
              <a:gd name="connsiteY99" fmla="*/ 953078 h 5611631"/>
              <a:gd name="connsiteX100" fmla="*/ 469130 w 4544059"/>
              <a:gd name="connsiteY100" fmla="*/ 882453 h 5611631"/>
              <a:gd name="connsiteX101" fmla="*/ 493452 w 4544059"/>
              <a:gd name="connsiteY101" fmla="*/ 811826 h 5611631"/>
              <a:gd name="connsiteX102" fmla="*/ 1381197 w 4544059"/>
              <a:gd name="connsiteY102" fmla="*/ 811826 h 5611631"/>
              <a:gd name="connsiteX103" fmla="*/ 1381197 w 4544059"/>
              <a:gd name="connsiteY103" fmla="*/ 557850 h 5611631"/>
              <a:gd name="connsiteX104" fmla="*/ 591676 w 4544059"/>
              <a:gd name="connsiteY104" fmla="*/ 557850 h 5611631"/>
              <a:gd name="connsiteX105" fmla="*/ 465389 w 4544059"/>
              <a:gd name="connsiteY105" fmla="*/ 557850 h 5611631"/>
              <a:gd name="connsiteX106" fmla="*/ 500935 w 4544059"/>
              <a:gd name="connsiteY106" fmla="*/ 478337 h 5611631"/>
              <a:gd name="connsiteX107" fmla="*/ 537886 w 4544059"/>
              <a:gd name="connsiteY107" fmla="*/ 400226 h 5611631"/>
              <a:gd name="connsiteX108" fmla="*/ 576708 w 4544059"/>
              <a:gd name="connsiteY108" fmla="*/ 322585 h 5611631"/>
              <a:gd name="connsiteX109" fmla="*/ 617401 w 4544059"/>
              <a:gd name="connsiteY109" fmla="*/ 246346 h 5611631"/>
              <a:gd name="connsiteX110" fmla="*/ 658561 w 4544059"/>
              <a:gd name="connsiteY110" fmla="*/ 172444 h 5611631"/>
              <a:gd name="connsiteX111" fmla="*/ 702525 w 4544059"/>
              <a:gd name="connsiteY111" fmla="*/ 98075 h 5611631"/>
              <a:gd name="connsiteX112" fmla="*/ 749299 w 4544059"/>
              <a:gd name="connsiteY112" fmla="*/ 24175 h 561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4544059" h="5611631">
                <a:moveTo>
                  <a:pt x="765149" y="0"/>
                </a:moveTo>
                <a:lnTo>
                  <a:pt x="4544059" y="0"/>
                </a:lnTo>
                <a:lnTo>
                  <a:pt x="4544059" y="5523123"/>
                </a:lnTo>
                <a:lnTo>
                  <a:pt x="4505140" y="5531650"/>
                </a:lnTo>
                <a:lnTo>
                  <a:pt x="4423287" y="5548489"/>
                </a:lnTo>
                <a:lnTo>
                  <a:pt x="4340034" y="5563455"/>
                </a:lnTo>
                <a:lnTo>
                  <a:pt x="4256778" y="5576552"/>
                </a:lnTo>
                <a:lnTo>
                  <a:pt x="4173054" y="5587778"/>
                </a:lnTo>
                <a:lnTo>
                  <a:pt x="4087929" y="5594794"/>
                </a:lnTo>
                <a:lnTo>
                  <a:pt x="4002334" y="5602277"/>
                </a:lnTo>
                <a:lnTo>
                  <a:pt x="3917209" y="5607891"/>
                </a:lnTo>
                <a:lnTo>
                  <a:pt x="3832083" y="5611631"/>
                </a:lnTo>
                <a:lnTo>
                  <a:pt x="3739939" y="5611631"/>
                </a:lnTo>
                <a:lnTo>
                  <a:pt x="3647330" y="5611631"/>
                </a:lnTo>
                <a:lnTo>
                  <a:pt x="3556124" y="5607891"/>
                </a:lnTo>
                <a:lnTo>
                  <a:pt x="3465386" y="5602277"/>
                </a:lnTo>
                <a:lnTo>
                  <a:pt x="3374645" y="5594794"/>
                </a:lnTo>
                <a:lnTo>
                  <a:pt x="3285311" y="5583568"/>
                </a:lnTo>
                <a:lnTo>
                  <a:pt x="3194571" y="5572810"/>
                </a:lnTo>
                <a:lnTo>
                  <a:pt x="3105703" y="5557843"/>
                </a:lnTo>
                <a:lnTo>
                  <a:pt x="3016836" y="5541006"/>
                </a:lnTo>
                <a:lnTo>
                  <a:pt x="2929371" y="5520893"/>
                </a:lnTo>
                <a:lnTo>
                  <a:pt x="2840502" y="5500313"/>
                </a:lnTo>
                <a:lnTo>
                  <a:pt x="2753506" y="5475991"/>
                </a:lnTo>
                <a:lnTo>
                  <a:pt x="2667911" y="5452137"/>
                </a:lnTo>
                <a:lnTo>
                  <a:pt x="2580915" y="5424074"/>
                </a:lnTo>
                <a:lnTo>
                  <a:pt x="2495788" y="5392735"/>
                </a:lnTo>
                <a:lnTo>
                  <a:pt x="2410661" y="5361398"/>
                </a:lnTo>
                <a:lnTo>
                  <a:pt x="2326939" y="5328190"/>
                </a:lnTo>
                <a:lnTo>
                  <a:pt x="2238072" y="5288902"/>
                </a:lnTo>
                <a:lnTo>
                  <a:pt x="2151074" y="5248209"/>
                </a:lnTo>
                <a:lnTo>
                  <a:pt x="2065480" y="5203775"/>
                </a:lnTo>
                <a:lnTo>
                  <a:pt x="1980354" y="5159341"/>
                </a:lnTo>
                <a:lnTo>
                  <a:pt x="1896631" y="5110696"/>
                </a:lnTo>
                <a:lnTo>
                  <a:pt x="1815247" y="5060651"/>
                </a:lnTo>
                <a:lnTo>
                  <a:pt x="1735734" y="5008732"/>
                </a:lnTo>
                <a:lnTo>
                  <a:pt x="1655753" y="4954944"/>
                </a:lnTo>
                <a:lnTo>
                  <a:pt x="1787651" y="4954944"/>
                </a:lnTo>
                <a:lnTo>
                  <a:pt x="1974742" y="4954944"/>
                </a:lnTo>
                <a:lnTo>
                  <a:pt x="1911598" y="4909106"/>
                </a:lnTo>
                <a:lnTo>
                  <a:pt x="1848455" y="4862334"/>
                </a:lnTo>
                <a:lnTo>
                  <a:pt x="1787651" y="4814158"/>
                </a:lnTo>
                <a:lnTo>
                  <a:pt x="1726378" y="4764111"/>
                </a:lnTo>
                <a:lnTo>
                  <a:pt x="1666976" y="4712194"/>
                </a:lnTo>
                <a:lnTo>
                  <a:pt x="1607577" y="4658404"/>
                </a:lnTo>
                <a:lnTo>
                  <a:pt x="1550046" y="4604616"/>
                </a:lnTo>
                <a:lnTo>
                  <a:pt x="1492515" y="4549426"/>
                </a:lnTo>
                <a:lnTo>
                  <a:pt x="1431243" y="4486281"/>
                </a:lnTo>
                <a:lnTo>
                  <a:pt x="1372310" y="4421268"/>
                </a:lnTo>
                <a:lnTo>
                  <a:pt x="1312908" y="4356254"/>
                </a:lnTo>
                <a:lnTo>
                  <a:pt x="1257249" y="4289836"/>
                </a:lnTo>
                <a:lnTo>
                  <a:pt x="1201589" y="4221080"/>
                </a:lnTo>
                <a:lnTo>
                  <a:pt x="1149673" y="4152326"/>
                </a:lnTo>
                <a:lnTo>
                  <a:pt x="1097754" y="4082165"/>
                </a:lnTo>
                <a:lnTo>
                  <a:pt x="1047709" y="4009669"/>
                </a:lnTo>
                <a:lnTo>
                  <a:pt x="1001404" y="3937172"/>
                </a:lnTo>
                <a:lnTo>
                  <a:pt x="955099" y="3863271"/>
                </a:lnTo>
                <a:lnTo>
                  <a:pt x="910196" y="3788901"/>
                </a:lnTo>
                <a:lnTo>
                  <a:pt x="867634" y="3713130"/>
                </a:lnTo>
                <a:lnTo>
                  <a:pt x="826941" y="3635487"/>
                </a:lnTo>
                <a:lnTo>
                  <a:pt x="788119" y="3557376"/>
                </a:lnTo>
                <a:lnTo>
                  <a:pt x="751169" y="3477863"/>
                </a:lnTo>
                <a:lnTo>
                  <a:pt x="715623" y="3396012"/>
                </a:lnTo>
                <a:lnTo>
                  <a:pt x="688026" y="3329127"/>
                </a:lnTo>
                <a:lnTo>
                  <a:pt x="661835" y="3262243"/>
                </a:lnTo>
                <a:lnTo>
                  <a:pt x="1058934" y="3262243"/>
                </a:lnTo>
                <a:lnTo>
                  <a:pt x="1058934" y="3008734"/>
                </a:lnTo>
                <a:lnTo>
                  <a:pt x="576708" y="3008734"/>
                </a:lnTo>
                <a:lnTo>
                  <a:pt x="557999" y="2943720"/>
                </a:lnTo>
                <a:lnTo>
                  <a:pt x="541629" y="2878706"/>
                </a:lnTo>
                <a:lnTo>
                  <a:pt x="526661" y="2814160"/>
                </a:lnTo>
                <a:lnTo>
                  <a:pt x="511694" y="2749146"/>
                </a:lnTo>
                <a:lnTo>
                  <a:pt x="380262" y="2749146"/>
                </a:lnTo>
                <a:lnTo>
                  <a:pt x="367166" y="2686004"/>
                </a:lnTo>
                <a:lnTo>
                  <a:pt x="354071" y="2622862"/>
                </a:lnTo>
                <a:lnTo>
                  <a:pt x="345183" y="2559720"/>
                </a:lnTo>
                <a:lnTo>
                  <a:pt x="335829" y="2494706"/>
                </a:lnTo>
                <a:lnTo>
                  <a:pt x="326474" y="2432030"/>
                </a:lnTo>
                <a:lnTo>
                  <a:pt x="318991" y="2367015"/>
                </a:lnTo>
                <a:lnTo>
                  <a:pt x="313378" y="2303872"/>
                </a:lnTo>
                <a:lnTo>
                  <a:pt x="307766" y="2239326"/>
                </a:lnTo>
                <a:lnTo>
                  <a:pt x="120675" y="2239326"/>
                </a:lnTo>
                <a:lnTo>
                  <a:pt x="0" y="2239326"/>
                </a:lnTo>
                <a:lnTo>
                  <a:pt x="0" y="1984883"/>
                </a:lnTo>
                <a:lnTo>
                  <a:pt x="111321" y="1984883"/>
                </a:lnTo>
                <a:lnTo>
                  <a:pt x="298411" y="1984883"/>
                </a:lnTo>
                <a:cubicBezTo>
                  <a:pt x="299034" y="1959782"/>
                  <a:pt x="299658" y="1934681"/>
                  <a:pt x="300281" y="1909580"/>
                </a:cubicBezTo>
                <a:cubicBezTo>
                  <a:pt x="300905" y="1884167"/>
                  <a:pt x="301528" y="1858753"/>
                  <a:pt x="302152" y="1833340"/>
                </a:cubicBezTo>
                <a:lnTo>
                  <a:pt x="306361" y="1759439"/>
                </a:lnTo>
                <a:lnTo>
                  <a:pt x="311506" y="1685071"/>
                </a:lnTo>
                <a:lnTo>
                  <a:pt x="318991" y="1609299"/>
                </a:lnTo>
                <a:lnTo>
                  <a:pt x="326474" y="1534931"/>
                </a:lnTo>
                <a:lnTo>
                  <a:pt x="337700" y="1461030"/>
                </a:lnTo>
                <a:lnTo>
                  <a:pt x="348926" y="1388533"/>
                </a:lnTo>
                <a:lnTo>
                  <a:pt x="361554" y="1314632"/>
                </a:lnTo>
                <a:lnTo>
                  <a:pt x="374651" y="1242133"/>
                </a:lnTo>
                <a:lnTo>
                  <a:pt x="391488" y="1169637"/>
                </a:lnTo>
                <a:lnTo>
                  <a:pt x="407859" y="1097607"/>
                </a:lnTo>
                <a:lnTo>
                  <a:pt x="428439" y="1025108"/>
                </a:lnTo>
                <a:lnTo>
                  <a:pt x="449019" y="953078"/>
                </a:lnTo>
                <a:lnTo>
                  <a:pt x="469130" y="882453"/>
                </a:lnTo>
                <a:lnTo>
                  <a:pt x="493452" y="811826"/>
                </a:lnTo>
                <a:lnTo>
                  <a:pt x="1381197" y="811826"/>
                </a:lnTo>
                <a:lnTo>
                  <a:pt x="1381197" y="557850"/>
                </a:lnTo>
                <a:lnTo>
                  <a:pt x="591676" y="557850"/>
                </a:lnTo>
                <a:lnTo>
                  <a:pt x="465389" y="557850"/>
                </a:lnTo>
                <a:lnTo>
                  <a:pt x="500935" y="478337"/>
                </a:lnTo>
                <a:lnTo>
                  <a:pt x="537886" y="400226"/>
                </a:lnTo>
                <a:lnTo>
                  <a:pt x="576708" y="322585"/>
                </a:lnTo>
                <a:lnTo>
                  <a:pt x="617401" y="246346"/>
                </a:lnTo>
                <a:lnTo>
                  <a:pt x="658561" y="172444"/>
                </a:lnTo>
                <a:lnTo>
                  <a:pt x="702525" y="98075"/>
                </a:lnTo>
                <a:lnTo>
                  <a:pt x="749299" y="24175"/>
                </a:lnTo>
                <a:close/>
              </a:path>
            </a:pathLst>
          </a:custGeom>
          <a:solidFill>
            <a:schemeClr val="accent6"/>
          </a:solidFill>
        </p:spPr>
        <p:txBody>
          <a:bodyPr wrap="square">
            <a:noAutofit/>
          </a:bodyPr>
          <a:lstStyle/>
          <a:p>
            <a:r>
              <a:rPr lang="en-US"/>
              <a:t>Click icon to add picture</a:t>
            </a:r>
          </a:p>
        </p:txBody>
      </p:sp>
      <p:sp>
        <p:nvSpPr>
          <p:cNvPr id="2" name="Title"/>
          <p:cNvSpPr>
            <a:spLocks noGrp="1"/>
          </p:cNvSpPr>
          <p:nvPr>
            <p:ph type="title" hasCustomPrompt="1"/>
          </p:nvPr>
        </p:nvSpPr>
        <p:spPr>
          <a:xfrm>
            <a:off x="838200" y="571500"/>
            <a:ext cx="6019800" cy="800100"/>
          </a:xfrm>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0" y="1562100"/>
            <a:ext cx="6019800" cy="392430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p:txBody>
          <a:bodyPr/>
          <a:lstStyle>
            <a:lvl1pPr algn="l">
              <a:defRPr/>
            </a:lvl1pPr>
          </a:lstStyle>
          <a:p>
            <a:r>
              <a:rPr lang="en-US"/>
              <a:t>EPIC ROBOTS · JT LOVELL</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285296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FD2BBA77-FA76-4446-8D40-E07F5EB58D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0" y="571500"/>
            <a:ext cx="4457700" cy="800100"/>
          </a:xfrm>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0" y="1562100"/>
            <a:ext cx="4457700" cy="392430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2">
            <a:extLst>
              <a:ext uri="{FF2B5EF4-FFF2-40B4-BE49-F238E27FC236}">
                <a16:creationId xmlns:a16="http://schemas.microsoft.com/office/drawing/2014/main" id="{F45E5642-1377-2441-8B4F-6E54984E6912}"/>
              </a:ext>
            </a:extLst>
          </p:cNvPr>
          <p:cNvSpPr>
            <a:spLocks noGrp="1" noEditPoints="1"/>
          </p:cNvSpPr>
          <p:nvPr>
            <p:ph type="pic" sz="quarter" idx="10"/>
          </p:nvPr>
        </p:nvSpPr>
        <p:spPr bwMode="auto">
          <a:xfrm>
            <a:off x="6032658" y="1"/>
            <a:ext cx="6162952" cy="6023790"/>
          </a:xfrm>
          <a:custGeom>
            <a:avLst/>
            <a:gdLst>
              <a:gd name="T0" fmla="*/ 4200 w 4653"/>
              <a:gd name="T1" fmla="*/ 0 h 4544"/>
              <a:gd name="T2" fmla="*/ 2989 w 4653"/>
              <a:gd name="T3" fmla="*/ 0 h 4544"/>
              <a:gd name="T4" fmla="*/ 3442 w 4653"/>
              <a:gd name="T5" fmla="*/ 1692 h 4544"/>
              <a:gd name="T6" fmla="*/ 4653 w 4653"/>
              <a:gd name="T7" fmla="*/ 1692 h 4544"/>
              <a:gd name="T8" fmla="*/ 4200 w 4653"/>
              <a:gd name="T9" fmla="*/ 0 h 4544"/>
              <a:gd name="T10" fmla="*/ 2942 w 4653"/>
              <a:gd name="T11" fmla="*/ 0 h 4544"/>
              <a:gd name="T12" fmla="*/ 1732 w 4653"/>
              <a:gd name="T13" fmla="*/ 0 h 4544"/>
              <a:gd name="T14" fmla="*/ 2594 w 4653"/>
              <a:gd name="T15" fmla="*/ 3227 h 4544"/>
              <a:gd name="T16" fmla="*/ 3805 w 4653"/>
              <a:gd name="T17" fmla="*/ 3227 h 4544"/>
              <a:gd name="T18" fmla="*/ 2942 w 4653"/>
              <a:gd name="T19" fmla="*/ 0 h 4544"/>
              <a:gd name="T20" fmla="*/ 430 w 4653"/>
              <a:gd name="T21" fmla="*/ 4544 h 4544"/>
              <a:gd name="T22" fmla="*/ 1641 w 4653"/>
              <a:gd name="T23" fmla="*/ 4544 h 4544"/>
              <a:gd name="T24" fmla="*/ 1212 w 4653"/>
              <a:gd name="T25" fmla="*/ 2939 h 4544"/>
              <a:gd name="T26" fmla="*/ 0 w 4653"/>
              <a:gd name="T27" fmla="*/ 2939 h 4544"/>
              <a:gd name="T28" fmla="*/ 430 w 4653"/>
              <a:gd name="T29" fmla="*/ 4544 h 4544"/>
              <a:gd name="T30" fmla="*/ 1688 w 4653"/>
              <a:gd name="T31" fmla="*/ 4544 h 4544"/>
              <a:gd name="T32" fmla="*/ 2900 w 4653"/>
              <a:gd name="T33" fmla="*/ 4544 h 4544"/>
              <a:gd name="T34" fmla="*/ 1987 w 4653"/>
              <a:gd name="T35" fmla="*/ 1131 h 4544"/>
              <a:gd name="T36" fmla="*/ 775 w 4653"/>
              <a:gd name="T37" fmla="*/ 1131 h 4544"/>
              <a:gd name="T38" fmla="*/ 1688 w 4653"/>
              <a:gd name="T39" fmla="*/ 4544 h 4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53" h="4544">
                <a:moveTo>
                  <a:pt x="4200" y="0"/>
                </a:moveTo>
                <a:lnTo>
                  <a:pt x="2989" y="0"/>
                </a:lnTo>
                <a:lnTo>
                  <a:pt x="3442" y="1692"/>
                </a:lnTo>
                <a:lnTo>
                  <a:pt x="4653" y="1692"/>
                </a:lnTo>
                <a:lnTo>
                  <a:pt x="4200" y="0"/>
                </a:lnTo>
                <a:close/>
                <a:moveTo>
                  <a:pt x="2942" y="0"/>
                </a:moveTo>
                <a:lnTo>
                  <a:pt x="1732" y="0"/>
                </a:lnTo>
                <a:lnTo>
                  <a:pt x="2594" y="3227"/>
                </a:lnTo>
                <a:lnTo>
                  <a:pt x="3805" y="3227"/>
                </a:lnTo>
                <a:lnTo>
                  <a:pt x="2942" y="0"/>
                </a:lnTo>
                <a:close/>
                <a:moveTo>
                  <a:pt x="430" y="4544"/>
                </a:moveTo>
                <a:lnTo>
                  <a:pt x="1641" y="4544"/>
                </a:lnTo>
                <a:lnTo>
                  <a:pt x="1212" y="2939"/>
                </a:lnTo>
                <a:lnTo>
                  <a:pt x="0" y="2939"/>
                </a:lnTo>
                <a:lnTo>
                  <a:pt x="430" y="4544"/>
                </a:lnTo>
                <a:close/>
                <a:moveTo>
                  <a:pt x="1688" y="4544"/>
                </a:moveTo>
                <a:lnTo>
                  <a:pt x="2900" y="4544"/>
                </a:lnTo>
                <a:lnTo>
                  <a:pt x="1987" y="1131"/>
                </a:lnTo>
                <a:lnTo>
                  <a:pt x="775" y="1131"/>
                </a:lnTo>
                <a:lnTo>
                  <a:pt x="1688" y="4544"/>
                </a:lnTo>
                <a:close/>
              </a:path>
            </a:pathLst>
          </a:custGeom>
          <a:solidFill>
            <a:schemeClr val="bg1">
              <a:lumMod val="85000"/>
            </a:schemeClr>
          </a:solidFill>
          <a:ln>
            <a:noFill/>
          </a:ln>
          <a:effectLst/>
        </p:spPr>
        <p:txBody>
          <a:bodyPr vert="horz" wrap="square" lIns="91440" tIns="45720" rIns="91440" bIns="45720" numCol="1" anchor="t" anchorCtr="0" compatLnSpc="1">
            <a:prstTxWarp prst="textNoShape">
              <a:avLst/>
            </a:prstTxWarp>
          </a:bodyPr>
          <a:lstStyle>
            <a:lvl1pPr>
              <a:defRPr lang="en-US" sz="100"/>
            </a:lvl1pPr>
          </a:lstStyle>
          <a:p>
            <a:pPr lvl="0"/>
            <a:r>
              <a:rPr lang="en-US"/>
              <a:t>Click icon to add picture</a:t>
            </a:r>
          </a:p>
        </p:txBody>
      </p:sp>
      <p:sp>
        <p:nvSpPr>
          <p:cNvPr id="5" name="Footer Placeholder"/>
          <p:cNvSpPr>
            <a:spLocks noGrp="1"/>
          </p:cNvSpPr>
          <p:nvPr>
            <p:ph type="ftr" sz="quarter" idx="11"/>
          </p:nvPr>
        </p:nvSpPr>
        <p:spPr/>
        <p:txBody>
          <a:bodyPr/>
          <a:lstStyle>
            <a:lvl1pPr algn="l">
              <a:defRPr/>
            </a:lvl1pPr>
          </a:lstStyle>
          <a:p>
            <a:r>
              <a:rPr lang="en-US"/>
              <a:t>EPIC ROBOTS · JT LOVELL</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32403773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D88BFA6-B369-7E4C-A179-E4B67FC9C2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title" hasCustomPrompt="1"/>
          </p:nvPr>
        </p:nvSpPr>
        <p:spPr>
          <a:xfrm>
            <a:off x="838200" y="571500"/>
            <a:ext cx="6019800" cy="800100"/>
          </a:xfrm>
        </p:spPr>
        <p:txBody>
          <a:bodyPr/>
          <a:lstStyle>
            <a:lvl1pPr>
              <a:defRPr/>
            </a:lvl1pPr>
          </a:lstStyle>
          <a:p>
            <a:r>
              <a:rPr lang="en-US"/>
              <a:t>Insert Title, 28pt Segoe UI Bold</a:t>
            </a:r>
          </a:p>
        </p:txBody>
      </p:sp>
      <p:sp>
        <p:nvSpPr>
          <p:cNvPr id="12" name="Content Placeholder"/>
          <p:cNvSpPr>
            <a:spLocks noGrp="1"/>
          </p:cNvSpPr>
          <p:nvPr>
            <p:ph sz="quarter" idx="13"/>
          </p:nvPr>
        </p:nvSpPr>
        <p:spPr>
          <a:xfrm>
            <a:off x="838200" y="1562100"/>
            <a:ext cx="6019800" cy="3924300"/>
          </a:xfrm>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DDE6EFA1-1208-6345-A8F6-E8D527623FC1}"/>
              </a:ext>
            </a:extLst>
          </p:cNvPr>
          <p:cNvSpPr>
            <a:spLocks noGrp="1"/>
          </p:cNvSpPr>
          <p:nvPr>
            <p:ph type="pic" sz="quarter" idx="10"/>
          </p:nvPr>
        </p:nvSpPr>
        <p:spPr bwMode="auto">
          <a:xfrm>
            <a:off x="7201092" y="0"/>
            <a:ext cx="4421091" cy="3661593"/>
          </a:xfrm>
          <a:custGeom>
            <a:avLst/>
            <a:gdLst>
              <a:gd name="connsiteX0" fmla="*/ 0 w 4421091"/>
              <a:gd name="connsiteY0" fmla="*/ 0 h 3661593"/>
              <a:gd name="connsiteX1" fmla="*/ 4421091 w 4421091"/>
              <a:gd name="connsiteY1" fmla="*/ 0 h 3661593"/>
              <a:gd name="connsiteX2" fmla="*/ 2210546 w 4421091"/>
              <a:gd name="connsiteY2" fmla="*/ 3661593 h 3661593"/>
            </a:gdLst>
            <a:ahLst/>
            <a:cxnLst>
              <a:cxn ang="0">
                <a:pos x="connsiteX0" y="connsiteY0"/>
              </a:cxn>
              <a:cxn ang="0">
                <a:pos x="connsiteX1" y="connsiteY1"/>
              </a:cxn>
              <a:cxn ang="0">
                <a:pos x="connsiteX2" y="connsiteY2"/>
              </a:cxn>
            </a:cxnLst>
            <a:rect l="l" t="t" r="r" b="b"/>
            <a:pathLst>
              <a:path w="4421091" h="3661593">
                <a:moveTo>
                  <a:pt x="0" y="0"/>
                </a:moveTo>
                <a:lnTo>
                  <a:pt x="4421091" y="0"/>
                </a:lnTo>
                <a:lnTo>
                  <a:pt x="2210546" y="3661593"/>
                </a:lnTo>
                <a:close/>
              </a:path>
            </a:pathLst>
          </a:custGeom>
          <a:solidFill>
            <a:schemeClr val="bg2">
              <a:lumMod val="85000"/>
            </a:schemeClr>
          </a:solidFill>
          <a:ln>
            <a:noFill/>
          </a:ln>
          <a:effectLst/>
        </p:spPr>
        <p:txBody>
          <a:bodyPr vert="horz" wrap="square" lIns="91440" tIns="45720" rIns="91440" bIns="45720" numCol="1" anchor="t" anchorCtr="0" compatLnSpc="1">
            <a:prstTxWarp prst="textNoShape">
              <a:avLst/>
            </a:prstTxWarp>
            <a:noAutofit/>
          </a:bodyPr>
          <a:lstStyle>
            <a:lvl1pPr>
              <a:defRPr lang="en-US" sz="100"/>
            </a:lvl1pPr>
          </a:lstStyle>
          <a:p>
            <a:pPr lvl="0"/>
            <a:r>
              <a:rPr lang="en-US"/>
              <a:t>Click icon to add picture</a:t>
            </a:r>
          </a:p>
        </p:txBody>
      </p:sp>
      <p:sp>
        <p:nvSpPr>
          <p:cNvPr id="13" name="Picture Placeholder 12">
            <a:extLst>
              <a:ext uri="{FF2B5EF4-FFF2-40B4-BE49-F238E27FC236}">
                <a16:creationId xmlns:a16="http://schemas.microsoft.com/office/drawing/2014/main" id="{C3A24E1F-BADA-404E-B241-F356DEFBD37C}"/>
              </a:ext>
            </a:extLst>
          </p:cNvPr>
          <p:cNvSpPr>
            <a:spLocks noGrp="1"/>
          </p:cNvSpPr>
          <p:nvPr>
            <p:ph type="pic" sz="quarter" idx="14"/>
          </p:nvPr>
        </p:nvSpPr>
        <p:spPr bwMode="auto">
          <a:xfrm>
            <a:off x="8217316" y="828453"/>
            <a:ext cx="3974685" cy="5195338"/>
          </a:xfrm>
          <a:custGeom>
            <a:avLst/>
            <a:gdLst>
              <a:gd name="connsiteX0" fmla="*/ 3137619 w 3974685"/>
              <a:gd name="connsiteY0" fmla="*/ 0 h 5195338"/>
              <a:gd name="connsiteX1" fmla="*/ 3974685 w 3974685"/>
              <a:gd name="connsiteY1" fmla="*/ 1387035 h 5195338"/>
              <a:gd name="connsiteX2" fmla="*/ 3974685 w 3974685"/>
              <a:gd name="connsiteY2" fmla="*/ 5195338 h 5195338"/>
              <a:gd name="connsiteX3" fmla="*/ 0 w 3974685"/>
              <a:gd name="connsiteY3" fmla="*/ 5195338 h 5195338"/>
            </a:gdLst>
            <a:ahLst/>
            <a:cxnLst>
              <a:cxn ang="0">
                <a:pos x="connsiteX0" y="connsiteY0"/>
              </a:cxn>
              <a:cxn ang="0">
                <a:pos x="connsiteX1" y="connsiteY1"/>
              </a:cxn>
              <a:cxn ang="0">
                <a:pos x="connsiteX2" y="connsiteY2"/>
              </a:cxn>
              <a:cxn ang="0">
                <a:pos x="connsiteX3" y="connsiteY3"/>
              </a:cxn>
            </a:cxnLst>
            <a:rect l="l" t="t" r="r" b="b"/>
            <a:pathLst>
              <a:path w="3974685" h="5195338">
                <a:moveTo>
                  <a:pt x="3137619" y="0"/>
                </a:moveTo>
                <a:lnTo>
                  <a:pt x="3974685" y="1387035"/>
                </a:lnTo>
                <a:lnTo>
                  <a:pt x="3974685" y="5195338"/>
                </a:lnTo>
                <a:lnTo>
                  <a:pt x="0" y="5195338"/>
                </a:lnTo>
                <a:close/>
              </a:path>
            </a:pathLst>
          </a:custGeom>
          <a:solidFill>
            <a:schemeClr val="bg2">
              <a:lumMod val="85000"/>
            </a:schemeClr>
          </a:solidFill>
          <a:ln>
            <a:noFill/>
          </a:ln>
          <a:effectLst/>
        </p:spPr>
        <p:txBody>
          <a:bodyPr vert="horz" wrap="square" lIns="91440" tIns="45720" rIns="91440" bIns="45720" numCol="1" anchor="t" anchorCtr="0" compatLnSpc="1">
            <a:prstTxWarp prst="textNoShape">
              <a:avLst/>
            </a:prstTxWarp>
            <a:noAutofit/>
          </a:bodyPr>
          <a:lstStyle>
            <a:lvl1pPr>
              <a:defRPr lang="en-US" sz="100"/>
            </a:lvl1pPr>
          </a:lstStyle>
          <a:p>
            <a:pPr lvl="0"/>
            <a:r>
              <a:rPr lang="en-US"/>
              <a:t>Click icon to add picture</a:t>
            </a:r>
          </a:p>
        </p:txBody>
      </p:sp>
      <p:sp>
        <p:nvSpPr>
          <p:cNvPr id="5" name="Footer Placeholder"/>
          <p:cNvSpPr>
            <a:spLocks noGrp="1"/>
          </p:cNvSpPr>
          <p:nvPr>
            <p:ph type="ftr" sz="quarter" idx="11"/>
          </p:nvPr>
        </p:nvSpPr>
        <p:spPr/>
        <p:txBody>
          <a:bodyPr/>
          <a:lstStyle>
            <a:lvl1pPr algn="l">
              <a:defRPr/>
            </a:lvl1pPr>
          </a:lstStyle>
          <a:p>
            <a:r>
              <a:rPr lang="en-US"/>
              <a:t>EPIC ROBOTS · JT LOVELL</a:t>
            </a:r>
          </a:p>
        </p:txBody>
      </p:sp>
      <p:sp>
        <p:nvSpPr>
          <p:cNvPr id="6" name="Slide Number Placeholder"/>
          <p:cNvSpPr>
            <a:spLocks noGrp="1"/>
          </p:cNvSpPr>
          <p:nvPr>
            <p:ph type="sldNum" sz="quarter" idx="12"/>
          </p:nvPr>
        </p:nvSpPr>
        <p:spPr/>
        <p:txBody>
          <a:bodyPr/>
          <a:lstStyle/>
          <a:p>
            <a:fld id="{E573346A-FCA4-684E-8D18-26E8324063ED}" type="slidenum">
              <a:rPr lang="en-US" smtClean="0"/>
              <a:t>‹#›</a:t>
            </a:fld>
            <a:endParaRPr lang="en-US"/>
          </a:p>
        </p:txBody>
      </p:sp>
    </p:spTree>
    <p:extLst>
      <p:ext uri="{BB962C8B-B14F-4D97-AF65-F5344CB8AC3E}">
        <p14:creationId xmlns:p14="http://schemas.microsoft.com/office/powerpoint/2010/main" val="25327740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Question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873FE7-EABD-EA4C-B57C-3E2ACF93FC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Questions?"/>
          <p:cNvSpPr>
            <a:spLocks noGrp="1"/>
          </p:cNvSpPr>
          <p:nvPr>
            <p:ph type="title" hasCustomPrompt="1"/>
          </p:nvPr>
        </p:nvSpPr>
        <p:spPr>
          <a:xfrm>
            <a:off x="831851" y="613611"/>
            <a:ext cx="10515600" cy="757989"/>
          </a:xfrm>
        </p:spPr>
        <p:txBody>
          <a:bodyPr anchor="ctr">
            <a:noAutofit/>
          </a:bodyPr>
          <a:lstStyle>
            <a:lvl1pPr algn="ctr">
              <a:defRPr sz="3400" b="1" i="0">
                <a:solidFill>
                  <a:schemeClr val="accent2"/>
                </a:solidFill>
                <a:latin typeface="Segoe UI" panose="020B0502040204020203" pitchFamily="34" charset="0"/>
                <a:ea typeface="Segoe UI" panose="020B0502040204020203" pitchFamily="34" charset="0"/>
                <a:cs typeface="Segoe UI" panose="020B0502040204020203" pitchFamily="34" charset="0"/>
              </a:defRPr>
            </a:lvl1pPr>
          </a:lstStyle>
          <a:p>
            <a:r>
              <a:rPr lang="en-US"/>
              <a:t>THANK YOU</a:t>
            </a:r>
          </a:p>
        </p:txBody>
      </p:sp>
      <p:sp>
        <p:nvSpPr>
          <p:cNvPr id="5" name="Slide Number Placeholder">
            <a:extLst>
              <a:ext uri="{FF2B5EF4-FFF2-40B4-BE49-F238E27FC236}">
                <a16:creationId xmlns:a16="http://schemas.microsoft.com/office/drawing/2014/main" id="{B9FE3041-4062-A840-B99E-AC00B2AD8917}"/>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
        <p:nvSpPr>
          <p:cNvPr id="8" name="Footer Placeholder">
            <a:extLst>
              <a:ext uri="{FF2B5EF4-FFF2-40B4-BE49-F238E27FC236}">
                <a16:creationId xmlns:a16="http://schemas.microsoft.com/office/drawing/2014/main" id="{A71198BD-9F37-3E40-BDBF-4CAC0A3B60A5}"/>
              </a:ext>
            </a:extLst>
          </p:cNvPr>
          <p:cNvSpPr>
            <a:spLocks noGrp="1"/>
          </p:cNvSpPr>
          <p:nvPr>
            <p:ph type="ftr" sz="quarter" idx="11"/>
          </p:nvPr>
        </p:nvSpPr>
        <p:spPr>
          <a:xfrm>
            <a:off x="838200" y="6286500"/>
            <a:ext cx="7048500" cy="308792"/>
          </a:xfrm>
        </p:spPr>
        <p:txBody>
          <a:bodyPr/>
          <a:lstStyle>
            <a:lvl1pPr algn="l">
              <a:defRPr/>
            </a:lvl1pPr>
          </a:lstStyle>
          <a:p>
            <a:r>
              <a:rPr lang="en-US"/>
              <a:t>EPIC ROBOTS · JT LOVELL</a:t>
            </a:r>
          </a:p>
        </p:txBody>
      </p:sp>
      <p:pic>
        <p:nvPicPr>
          <p:cNvPr id="2" name="VA logo" descr="Logo and seal for the U.S. Department of Veterans Affairs, Office of Information and Technology">
            <a:extLst>
              <a:ext uri="{FF2B5EF4-FFF2-40B4-BE49-F238E27FC236}">
                <a16:creationId xmlns:a16="http://schemas.microsoft.com/office/drawing/2014/main" id="{3E613B23-4688-5F55-5706-74506F783F7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750675" y="4912244"/>
            <a:ext cx="2878559" cy="563196"/>
          </a:xfrm>
          <a:prstGeom prst="rect">
            <a:avLst/>
          </a:prstGeom>
        </p:spPr>
      </p:pic>
    </p:spTree>
    <p:extLst>
      <p:ext uri="{BB962C8B-B14F-4D97-AF65-F5344CB8AC3E}">
        <p14:creationId xmlns:p14="http://schemas.microsoft.com/office/powerpoint/2010/main" val="39075223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Question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873FE7-EABD-EA4C-B57C-3E2ACF93FC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17BA83C7-FCA2-204A-973A-D2F964EE3435}"/>
              </a:ext>
            </a:extLst>
          </p:cNvPr>
          <p:cNvPicPr>
            <a:picLocks noChangeAspect="1"/>
          </p:cNvPicPr>
          <p:nvPr userDrawn="1"/>
        </p:nvPicPr>
        <p:blipFill>
          <a:blip r:embed="rId3"/>
          <a:srcRect/>
          <a:stretch/>
        </p:blipFill>
        <p:spPr>
          <a:xfrm>
            <a:off x="3669602" y="1935078"/>
            <a:ext cx="4852796" cy="1379622"/>
          </a:xfrm>
          <a:prstGeom prst="rect">
            <a:avLst/>
          </a:prstGeom>
        </p:spPr>
      </p:pic>
      <p:sp>
        <p:nvSpPr>
          <p:cNvPr id="5" name="Slide Number Placeholder">
            <a:extLst>
              <a:ext uri="{FF2B5EF4-FFF2-40B4-BE49-F238E27FC236}">
                <a16:creationId xmlns:a16="http://schemas.microsoft.com/office/drawing/2014/main" id="{DB3C6E53-3B2E-D944-BE1F-EE28D1CD09C4}"/>
              </a:ext>
            </a:extLst>
          </p:cNvPr>
          <p:cNvSpPr>
            <a:spLocks noGrp="1"/>
          </p:cNvSpPr>
          <p:nvPr>
            <p:ph type="sldNum" sz="quarter" idx="12"/>
          </p:nvPr>
        </p:nvSpPr>
        <p:spPr>
          <a:xfrm>
            <a:off x="10964917" y="6286500"/>
            <a:ext cx="388883" cy="308791"/>
          </a:xfrm>
        </p:spPr>
        <p:txBody>
          <a:bodyPr/>
          <a:lstStyle/>
          <a:p>
            <a:fld id="{E573346A-FCA4-684E-8D18-26E8324063ED}" type="slidenum">
              <a:rPr lang="en-US" smtClean="0"/>
              <a:t>‹#›</a:t>
            </a:fld>
            <a:endParaRPr lang="en-US"/>
          </a:p>
        </p:txBody>
      </p:sp>
      <p:sp>
        <p:nvSpPr>
          <p:cNvPr id="6" name="Footer Placeholder">
            <a:extLst>
              <a:ext uri="{FF2B5EF4-FFF2-40B4-BE49-F238E27FC236}">
                <a16:creationId xmlns:a16="http://schemas.microsoft.com/office/drawing/2014/main" id="{B77B8518-6BD1-E649-8A1F-515726424138}"/>
              </a:ext>
            </a:extLst>
          </p:cNvPr>
          <p:cNvSpPr>
            <a:spLocks noGrp="1"/>
          </p:cNvSpPr>
          <p:nvPr>
            <p:ph type="ftr" sz="quarter" idx="11"/>
          </p:nvPr>
        </p:nvSpPr>
        <p:spPr>
          <a:xfrm>
            <a:off x="838200" y="6286500"/>
            <a:ext cx="7048500" cy="308792"/>
          </a:xfrm>
        </p:spPr>
        <p:txBody>
          <a:bodyPr/>
          <a:lstStyle>
            <a:lvl1pPr algn="l">
              <a:defRPr/>
            </a:lvl1pPr>
          </a:lstStyle>
          <a:p>
            <a:r>
              <a:rPr lang="en-US"/>
              <a:t>EPIC ROBOTS · JT LOVELL</a:t>
            </a:r>
          </a:p>
        </p:txBody>
      </p:sp>
    </p:spTree>
    <p:extLst>
      <p:ext uri="{BB962C8B-B14F-4D97-AF65-F5344CB8AC3E}">
        <p14:creationId xmlns:p14="http://schemas.microsoft.com/office/powerpoint/2010/main" val="62670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571500"/>
            <a:ext cx="10515600" cy="800100"/>
          </a:xfrm>
          <a:prstGeom prst="rect">
            <a:avLst/>
          </a:prstGeom>
        </p:spPr>
        <p:txBody>
          <a:bodyPr vert="horz" lIns="91440" tIns="45720" rIns="91440" bIns="45720" rtlCol="0" anchor="ctr">
            <a:noAutofit/>
          </a:bodyPr>
          <a:lstStyle/>
          <a:p>
            <a:r>
              <a:rPr lang="en-US"/>
              <a:t>Title Size 28pt, Segoe UI Bold</a:t>
            </a:r>
          </a:p>
        </p:txBody>
      </p:sp>
      <p:sp>
        <p:nvSpPr>
          <p:cNvPr id="3" name="Text Placeholder 2"/>
          <p:cNvSpPr>
            <a:spLocks noGrp="1"/>
          </p:cNvSpPr>
          <p:nvPr>
            <p:ph type="body" idx="1"/>
          </p:nvPr>
        </p:nvSpPr>
        <p:spPr>
          <a:xfrm>
            <a:off x="838200" y="1562100"/>
            <a:ext cx="10515600" cy="4187059"/>
          </a:xfrm>
          <a:prstGeom prst="rect">
            <a:avLst/>
          </a:prstGeom>
        </p:spPr>
        <p:txBody>
          <a:bodyPr vert="horz" lIns="91440" tIns="45720" rIns="91440" bIns="45720" rtlCol="0">
            <a:noAutofit/>
          </a:bodyPr>
          <a:lstStyle/>
          <a:p>
            <a:pPr lvl="0"/>
            <a:r>
              <a:rPr lang="en-US"/>
              <a:t>Body Text no smaller than 18pt font, Segoe UI Regular</a:t>
            </a:r>
          </a:p>
          <a:p>
            <a:pPr lvl="1"/>
            <a:r>
              <a:rPr lang="en-US"/>
              <a:t>Second level</a:t>
            </a:r>
          </a:p>
          <a:p>
            <a:pPr lvl="2"/>
            <a:r>
              <a:rPr lang="en-US"/>
              <a:t>Third level</a:t>
            </a:r>
          </a:p>
          <a:p>
            <a:pPr lvl="3"/>
            <a:r>
              <a:rPr lang="en-US"/>
              <a:t>Fourth level</a:t>
            </a:r>
          </a:p>
        </p:txBody>
      </p:sp>
      <p:sp>
        <p:nvSpPr>
          <p:cNvPr id="5" name="Footer Placeholder 4"/>
          <p:cNvSpPr>
            <a:spLocks noGrp="1"/>
          </p:cNvSpPr>
          <p:nvPr>
            <p:ph type="ftr" sz="quarter" idx="3"/>
          </p:nvPr>
        </p:nvSpPr>
        <p:spPr>
          <a:xfrm>
            <a:off x="838200" y="6286500"/>
            <a:ext cx="7048500" cy="308792"/>
          </a:xfrm>
          <a:prstGeom prst="rect">
            <a:avLst/>
          </a:prstGeom>
        </p:spPr>
        <p:txBody>
          <a:bodyPr vert="horz" lIns="91440" tIns="45720" rIns="91440" bIns="45720" rtlCol="0" anchor="b"/>
          <a:lstStyle>
            <a:lvl1pPr algn="l">
              <a:defRPr sz="1100">
                <a:solidFill>
                  <a:schemeClr val="tx1">
                    <a:tint val="75000"/>
                  </a:schemeClr>
                </a:solidFill>
                <a:latin typeface="Segoe UI" panose="020B0502040204020203" pitchFamily="34" charset="0"/>
                <a:cs typeface="Segoe UI" panose="020B0502040204020203" pitchFamily="34" charset="0"/>
              </a:defRPr>
            </a:lvl1pPr>
          </a:lstStyle>
          <a:p>
            <a:r>
              <a:rPr lang="en-US"/>
              <a:t>EPIC ROBOTS · JT LOVELL</a:t>
            </a:r>
          </a:p>
        </p:txBody>
      </p:sp>
      <p:sp>
        <p:nvSpPr>
          <p:cNvPr id="6" name="Slide Number Placeholder 5"/>
          <p:cNvSpPr>
            <a:spLocks noGrp="1"/>
          </p:cNvSpPr>
          <p:nvPr>
            <p:ph type="sldNum" sz="quarter" idx="4"/>
          </p:nvPr>
        </p:nvSpPr>
        <p:spPr>
          <a:xfrm>
            <a:off x="10964917" y="6286500"/>
            <a:ext cx="388883" cy="308791"/>
          </a:xfrm>
          <a:prstGeom prst="rect">
            <a:avLst/>
          </a:prstGeom>
        </p:spPr>
        <p:txBody>
          <a:bodyPr vert="horz" lIns="91440" tIns="45720" rIns="91440" bIns="45720" rtlCol="0" anchor="b"/>
          <a:lstStyle>
            <a:lvl1pPr algn="r">
              <a:defRPr sz="1200" b="1">
                <a:solidFill>
                  <a:schemeClr val="tx1">
                    <a:tint val="75000"/>
                  </a:schemeClr>
                </a:solidFill>
                <a:latin typeface="Segoe UI" panose="020B0502040204020203" pitchFamily="34" charset="0"/>
                <a:cs typeface="Segoe UI" panose="020B0502040204020203" pitchFamily="34" charset="0"/>
              </a:defRPr>
            </a:lvl1pPr>
          </a:lstStyle>
          <a:p>
            <a:fld id="{E573346A-FCA4-684E-8D18-26E8324063ED}" type="slidenum">
              <a:rPr lang="en-US" smtClean="0"/>
              <a:pPr/>
              <a:t>‹#›</a:t>
            </a:fld>
            <a:endParaRPr lang="en-US"/>
          </a:p>
        </p:txBody>
      </p:sp>
    </p:spTree>
    <p:extLst>
      <p:ext uri="{BB962C8B-B14F-4D97-AF65-F5344CB8AC3E}">
        <p14:creationId xmlns:p14="http://schemas.microsoft.com/office/powerpoint/2010/main" val="819416886"/>
      </p:ext>
    </p:extLst>
  </p:cSld>
  <p:clrMap bg1="lt1" tx1="dk1" bg2="lt2" tx2="dk2" accent1="accent1" accent2="accent2" accent3="accent3" accent4="accent4" accent5="accent5" accent6="accent6" hlink="hlink" folHlink="folHlink"/>
  <p:sldLayoutIdLst>
    <p:sldLayoutId id="2147483753" r:id="rId1"/>
    <p:sldLayoutId id="2147483721" r:id="rId2"/>
    <p:sldLayoutId id="2147483738" r:id="rId3"/>
    <p:sldLayoutId id="2147483732" r:id="rId4"/>
    <p:sldLayoutId id="2147483745" r:id="rId5"/>
    <p:sldLayoutId id="2147483746" r:id="rId6"/>
    <p:sldLayoutId id="2147483728" r:id="rId7"/>
    <p:sldLayoutId id="2147483739" r:id="rId8"/>
    <p:sldLayoutId id="2147483743" r:id="rId9"/>
    <p:sldLayoutId id="2147483741" r:id="rId10"/>
    <p:sldLayoutId id="2147483711" r:id="rId11"/>
    <p:sldLayoutId id="2147483744" r:id="rId12"/>
    <p:sldLayoutId id="2147483757" r:id="rId13"/>
    <p:sldLayoutId id="2147483740" r:id="rId14"/>
    <p:sldLayoutId id="2147483748" r:id="rId15"/>
    <p:sldLayoutId id="2147483749" r:id="rId16"/>
    <p:sldLayoutId id="2147483750" r:id="rId17"/>
    <p:sldLayoutId id="2147483751" r:id="rId18"/>
    <p:sldLayoutId id="2147483752" r:id="rId19"/>
    <p:sldLayoutId id="2147483754" r:id="rId20"/>
    <p:sldLayoutId id="2147483755" r:id="rId21"/>
    <p:sldLayoutId id="2147483756" r:id="rId22"/>
    <p:sldLayoutId id="2147483733" r:id="rId23"/>
    <p:sldLayoutId id="2147483747" r:id="rId24"/>
    <p:sldLayoutId id="2147483736" r:id="rId25"/>
    <p:sldLayoutId id="2147483734" r:id="rId26"/>
    <p:sldLayoutId id="2147483735" r:id="rId27"/>
  </p:sldLayoutIdLst>
  <p:hf hdr="0" dt="0"/>
  <p:txStyles>
    <p:titleStyle>
      <a:lvl1pPr algn="l" defTabSz="914400" rtl="0" eaLnBrk="1" latinLnBrk="0" hangingPunct="1">
        <a:lnSpc>
          <a:spcPct val="90000"/>
        </a:lnSpc>
        <a:spcBef>
          <a:spcPct val="0"/>
        </a:spcBef>
        <a:buNone/>
        <a:defRPr sz="2800" b="1" i="0" kern="1200">
          <a:solidFill>
            <a:schemeClr val="accent2"/>
          </a:solidFill>
          <a:latin typeface="Segoe UI" panose="020B0502040204020203" pitchFamily="34" charset="0"/>
          <a:ea typeface="Segoe UI" panose="020B0502040204020203" pitchFamily="34" charset="0"/>
          <a:cs typeface="Segoe UI" panose="020B0502040204020203" pitchFamily="34" charset="0"/>
        </a:defRPr>
      </a:lvl1pPr>
    </p:titleStyle>
    <p:bodyStyle>
      <a:lvl1pPr marL="228600" indent="-228600" algn="l" defTabSz="914400" rtl="0" eaLnBrk="1" latinLnBrk="0" hangingPunct="1">
        <a:lnSpc>
          <a:spcPct val="92000"/>
        </a:lnSpc>
        <a:spcBef>
          <a:spcPts val="1000"/>
        </a:spcBef>
        <a:buFont typeface="Arial" panose="020B0604020202020204" pitchFamily="34" charset="0"/>
        <a:buChar char="•"/>
        <a:defRPr sz="2000" kern="1200">
          <a:solidFill>
            <a:schemeClr val="accent5">
              <a:lumMod val="50000"/>
            </a:schemeClr>
          </a:solidFill>
          <a:latin typeface="Segoe UI" panose="020B0502040204020203" pitchFamily="34" charset="0"/>
          <a:ea typeface="+mn-ea"/>
          <a:cs typeface="Segoe UI" panose="020B0502040204020203" pitchFamily="34" charset="0"/>
        </a:defRPr>
      </a:lvl1pPr>
      <a:lvl2pPr marL="502920" indent="-228600" algn="l" defTabSz="914400" rtl="0" eaLnBrk="1" latinLnBrk="0" hangingPunct="1">
        <a:lnSpc>
          <a:spcPct val="92000"/>
        </a:lnSpc>
        <a:spcBef>
          <a:spcPts val="500"/>
        </a:spcBef>
        <a:buFont typeface=".AppleSystemUIFont" charset="-120"/>
        <a:buChar char="–"/>
        <a:defRPr sz="2000" kern="1200">
          <a:solidFill>
            <a:schemeClr val="accent5">
              <a:lumMod val="50000"/>
            </a:schemeClr>
          </a:solidFill>
          <a:latin typeface="Segoe UI" panose="020B0502040204020203" pitchFamily="34" charset="0"/>
          <a:ea typeface="+mn-ea"/>
          <a:cs typeface="Segoe UI" panose="020B0502040204020203" pitchFamily="34" charset="0"/>
        </a:defRPr>
      </a:lvl2pPr>
      <a:lvl3pPr marL="731520" indent="-228600" algn="l" defTabSz="914400" rtl="0" eaLnBrk="1" latinLnBrk="0" hangingPunct="1">
        <a:lnSpc>
          <a:spcPct val="92000"/>
        </a:lnSpc>
        <a:spcBef>
          <a:spcPts val="500"/>
        </a:spcBef>
        <a:buFont typeface="Arial" panose="020B0604020202020204" pitchFamily="34" charset="0"/>
        <a:buChar char="•"/>
        <a:defRPr sz="1800" kern="1200">
          <a:solidFill>
            <a:schemeClr val="accent5">
              <a:lumMod val="50000"/>
            </a:schemeClr>
          </a:solidFill>
          <a:latin typeface="Segoe UI" panose="020B0502040204020203" pitchFamily="34" charset="0"/>
          <a:ea typeface="+mn-ea"/>
          <a:cs typeface="Segoe UI" panose="020B0502040204020203" pitchFamily="34" charset="0"/>
        </a:defRPr>
      </a:lvl3pPr>
      <a:lvl4pPr marL="978408" indent="-228600" algn="l" defTabSz="914400" rtl="0" eaLnBrk="1" latinLnBrk="0" hangingPunct="1">
        <a:lnSpc>
          <a:spcPct val="92000"/>
        </a:lnSpc>
        <a:spcBef>
          <a:spcPts val="500"/>
        </a:spcBef>
        <a:buFont typeface=".AppleSystemUIFont" charset="-120"/>
        <a:buChar char="»"/>
        <a:defRPr sz="1800" kern="1200">
          <a:solidFill>
            <a:schemeClr val="accent5">
              <a:lumMod val="50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13" pos="528">
          <p15:clr>
            <a:srgbClr val="F26B43"/>
          </p15:clr>
        </p15:guide>
        <p15:guide id="15" pos="936">
          <p15:clr>
            <a:srgbClr val="F26B43"/>
          </p15:clr>
        </p15:guide>
        <p15:guide id="16" pos="1080">
          <p15:clr>
            <a:srgbClr val="F26B43"/>
          </p15:clr>
        </p15:guide>
        <p15:guide id="17" pos="1488">
          <p15:clr>
            <a:srgbClr val="F26B43"/>
          </p15:clr>
        </p15:guide>
        <p15:guide id="18" pos="5040">
          <p15:clr>
            <a:srgbClr val="F26B43"/>
          </p15:clr>
        </p15:guide>
        <p15:guide id="19" pos="5472">
          <p15:clr>
            <a:srgbClr val="F26B43"/>
          </p15:clr>
        </p15:guide>
        <p15:guide id="20" pos="5616">
          <p15:clr>
            <a:srgbClr val="F26B43"/>
          </p15:clr>
        </p15:guide>
        <p15:guide id="21" pos="6024">
          <p15:clr>
            <a:srgbClr val="F26B43"/>
          </p15:clr>
        </p15:guide>
        <p15:guide id="22" pos="6168">
          <p15:clr>
            <a:srgbClr val="F26B43"/>
          </p15:clr>
        </p15:guide>
        <p15:guide id="23" pos="6600">
          <p15:clr>
            <a:srgbClr val="F26B43"/>
          </p15:clr>
        </p15:guide>
        <p15:guide id="24" pos="6744">
          <p15:clr>
            <a:srgbClr val="F26B43"/>
          </p15:clr>
        </p15:guide>
        <p15:guide id="25" pos="7152">
          <p15:clr>
            <a:srgbClr val="F26B43"/>
          </p15:clr>
        </p15:guide>
        <p15:guide id="26" orient="horz" pos="864">
          <p15:clr>
            <a:srgbClr val="F26B43"/>
          </p15:clr>
        </p15:guide>
        <p15:guide id="27" orient="horz" pos="984">
          <p15:clr>
            <a:srgbClr val="F26B43"/>
          </p15:clr>
        </p15:guide>
        <p15:guide id="28" orient="horz" pos="1488">
          <p15:clr>
            <a:srgbClr val="F26B43"/>
          </p15:clr>
        </p15:guide>
        <p15:guide id="29" orient="horz" pos="1584">
          <p15:clr>
            <a:srgbClr val="F26B43"/>
          </p15:clr>
        </p15:guide>
        <p15:guide id="30" orient="horz" pos="2088">
          <p15:clr>
            <a:srgbClr val="F26B43"/>
          </p15:clr>
        </p15:guide>
        <p15:guide id="31" orient="horz" pos="2208">
          <p15:clr>
            <a:srgbClr val="F26B43"/>
          </p15:clr>
        </p15:guide>
        <p15:guide id="32" orient="horz" pos="2712">
          <p15:clr>
            <a:srgbClr val="F26B43"/>
          </p15:clr>
        </p15:guide>
        <p15:guide id="33" orient="horz" pos="2832">
          <p15:clr>
            <a:srgbClr val="F26B43"/>
          </p15:clr>
        </p15:guide>
        <p15:guide id="34" orient="horz" pos="3336">
          <p15:clr>
            <a:srgbClr val="F26B43"/>
          </p15:clr>
        </p15:guide>
        <p15:guide id="35" orient="horz" pos="3456">
          <p15:clr>
            <a:srgbClr val="F26B43"/>
          </p15:clr>
        </p15:guide>
        <p15:guide id="36" orient="horz" pos="3960">
          <p15:clr>
            <a:srgbClr val="F26B43"/>
          </p15:clr>
        </p15:guide>
        <p15:guide id="37" pos="1656">
          <p15:clr>
            <a:srgbClr val="F26B43"/>
          </p15:clr>
        </p15:guide>
        <p15:guide id="38" pos="2064">
          <p15:clr>
            <a:srgbClr val="F26B43"/>
          </p15:clr>
        </p15:guide>
        <p15:guide id="39" pos="2208">
          <p15:clr>
            <a:srgbClr val="F26B43"/>
          </p15:clr>
        </p15:guide>
        <p15:guide id="40" pos="2640">
          <p15:clr>
            <a:srgbClr val="F26B43"/>
          </p15:clr>
        </p15:guide>
        <p15:guide id="41" pos="2784">
          <p15:clr>
            <a:srgbClr val="F26B43"/>
          </p15:clr>
        </p15:guide>
        <p15:guide id="42" pos="3192">
          <p15:clr>
            <a:srgbClr val="F26B43"/>
          </p15:clr>
        </p15:guide>
        <p15:guide id="43" pos="3336">
          <p15:clr>
            <a:srgbClr val="F26B43"/>
          </p15:clr>
        </p15:guide>
        <p15:guide id="44" pos="3768">
          <p15:clr>
            <a:srgbClr val="F26B43"/>
          </p15:clr>
        </p15:guide>
        <p15:guide id="45" pos="3912">
          <p15:clr>
            <a:srgbClr val="F26B43"/>
          </p15:clr>
        </p15:guide>
        <p15:guide id="46" pos="4320">
          <p15:clr>
            <a:srgbClr val="F26B43"/>
          </p15:clr>
        </p15:guide>
        <p15:guide id="47" pos="4464">
          <p15:clr>
            <a:srgbClr val="F26B43"/>
          </p15:clr>
        </p15:guide>
        <p15:guide id="48" pos="489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8.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59.png"/><Relationship Id="rId10" Type="http://schemas.openxmlformats.org/officeDocument/2006/relationships/image" Target="../media/image60.png"/><Relationship Id="rId4" Type="http://schemas.openxmlformats.org/officeDocument/2006/relationships/image" Target="../media/image29.png"/><Relationship Id="rId9"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image" Target="../media/image75.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9.png"/><Relationship Id="rId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1E57C-4A5E-90B0-B84F-7B44FB7901FF}"/>
              </a:ext>
            </a:extLst>
          </p:cNvPr>
          <p:cNvSpPr>
            <a:spLocks noGrp="1"/>
          </p:cNvSpPr>
          <p:nvPr>
            <p:ph type="title"/>
          </p:nvPr>
        </p:nvSpPr>
        <p:spPr>
          <a:xfrm>
            <a:off x="841248" y="1874519"/>
            <a:ext cx="7315200" cy="914400"/>
          </a:xfrm>
        </p:spPr>
        <p:txBody>
          <a:bodyPr/>
          <a:lstStyle/>
          <a:p>
            <a:r>
              <a:rPr sz="5400">
                <a:solidFill>
                  <a:srgbClr val="FFFFFF"/>
                </a:solidFill>
              </a:rPr>
              <a:t>Epic Robots</a:t>
            </a:r>
          </a:p>
        </p:txBody>
      </p:sp>
      <p:sp>
        <p:nvSpPr>
          <p:cNvPr id="5" name="Text Placeholder 4">
            <a:extLst>
              <a:ext uri="{FF2B5EF4-FFF2-40B4-BE49-F238E27FC236}">
                <a16:creationId xmlns:a16="http://schemas.microsoft.com/office/drawing/2014/main" id="{CA3E6F21-EF97-F167-8191-CC91CED1C419}"/>
              </a:ext>
            </a:extLst>
          </p:cNvPr>
          <p:cNvSpPr>
            <a:spLocks noGrp="1"/>
          </p:cNvSpPr>
          <p:nvPr>
            <p:ph type="body" sz="quarter" idx="10"/>
          </p:nvPr>
        </p:nvSpPr>
        <p:spPr>
          <a:xfrm>
            <a:off x="841248" y="2852928"/>
            <a:ext cx="6949440" cy="2182898"/>
          </a:xfrm>
        </p:spPr>
        <p:txBody>
          <a:bodyPr wrap="square"/>
          <a:lstStyle/>
          <a:p>
            <a:pPr algn="l">
              <a:spcAft>
                <a:spcPts val="1000"/>
              </a:spcAft>
            </a:pPr>
            <a:r>
              <a:rPr sz="2600" b="1" i="0" dirty="0">
                <a:solidFill>
                  <a:srgbClr val="C084FC"/>
                </a:solidFill>
                <a:latin typeface="Segoe UI"/>
                <a:ea typeface="Segoe UI"/>
                <a:cs typeface="Segoe UI"/>
              </a:rPr>
              <a:t>AI</a:t>
            </a:r>
            <a:r>
              <a:rPr lang="en-US" sz="2600" b="1" i="0" dirty="0">
                <a:solidFill>
                  <a:srgbClr val="C084FC"/>
                </a:solidFill>
                <a:latin typeface="Segoe UI"/>
                <a:ea typeface="Segoe UI"/>
                <a:cs typeface="Segoe UI"/>
              </a:rPr>
              <a:t>*</a:t>
            </a:r>
            <a:r>
              <a:rPr sz="2600" b="1" i="0" dirty="0">
                <a:solidFill>
                  <a:srgbClr val="C084FC"/>
                </a:solidFill>
                <a:latin typeface="Segoe UI"/>
                <a:ea typeface="Segoe UI"/>
                <a:cs typeface="Segoe UI"/>
              </a:rPr>
              <a:t>-Powered Agile Product Management</a:t>
            </a:r>
            <a:endParaRPr lang="en-US" dirty="0"/>
          </a:p>
          <a:p>
            <a:pPr algn="l">
              <a:spcAft>
                <a:spcPts val="1000"/>
              </a:spcAft>
            </a:pPr>
            <a:r>
              <a:rPr sz="2000" b="0" i="0" dirty="0">
                <a:solidFill>
                  <a:srgbClr val="FFFFFF"/>
                </a:solidFill>
                <a:latin typeface="Segoe UI"/>
                <a:ea typeface="Segoe UI"/>
                <a:cs typeface="Segoe UI"/>
              </a:rPr>
              <a:t>Idea to release in days, without sacrificing quality</a:t>
            </a:r>
          </a:p>
          <a:p>
            <a:pPr>
              <a:spcAft>
                <a:spcPts val="1000"/>
              </a:spcAft>
            </a:pPr>
            <a:r>
              <a:rPr lang="en-US" sz="1800" b="1" dirty="0">
                <a:solidFill>
                  <a:srgbClr val="FFFFFF"/>
                </a:solidFill>
                <a:latin typeface="Segoe UI"/>
                <a:ea typeface="Segoe UI"/>
                <a:cs typeface="Segoe UI"/>
              </a:rPr>
              <a:t>JT Lovell</a:t>
            </a:r>
            <a:br>
              <a:rPr lang="en-US" sz="1800" b="1" dirty="0">
                <a:solidFill>
                  <a:srgbClr val="FFFFFF"/>
                </a:solidFill>
                <a:latin typeface="Segoe UI"/>
                <a:ea typeface="Segoe UI"/>
                <a:cs typeface="Segoe UI"/>
              </a:rPr>
            </a:br>
            <a:r>
              <a:rPr lang="en-US" sz="1800" dirty="0">
                <a:solidFill>
                  <a:srgbClr val="FFFFFF"/>
                </a:solidFill>
                <a:latin typeface="Segoe UI"/>
                <a:ea typeface="Segoe UI"/>
                <a:cs typeface="Segoe UI"/>
              </a:rPr>
              <a:t>Principal Salesforce Technical Architect</a:t>
            </a:r>
            <a:br>
              <a:rPr lang="en-US" sz="1800" dirty="0">
                <a:solidFill>
                  <a:srgbClr val="FFFFFF"/>
                </a:solidFill>
                <a:latin typeface="Segoe UI"/>
                <a:ea typeface="Segoe UI"/>
                <a:cs typeface="Segoe UI"/>
              </a:rPr>
            </a:br>
            <a:r>
              <a:rPr lang="en-US" sz="1800" dirty="0">
                <a:solidFill>
                  <a:srgbClr val="FFFFFF"/>
                </a:solidFill>
                <a:latin typeface="Segoe UI"/>
                <a:ea typeface="Segoe UI"/>
                <a:cs typeface="Segoe UI"/>
              </a:rPr>
              <a:t>IBM / Veterans Affairs Salesforce COE Release Team</a:t>
            </a:r>
            <a:endParaRPr sz="1800" b="1" i="0" dirty="0">
              <a:solidFill>
                <a:srgbClr val="FFFFFF"/>
              </a:solidFill>
              <a:latin typeface="Segoe UI"/>
              <a:ea typeface="Segoe UI"/>
              <a:cs typeface="Segoe UI"/>
            </a:endParaRPr>
          </a:p>
        </p:txBody>
      </p:sp>
      <p:pic>
        <p:nvPicPr>
          <p:cNvPr id="8" name="Picture 7" descr="Robot icon"/>
          <p:cNvPicPr>
            <a:picLocks noChangeAspect="1"/>
          </p:cNvPicPr>
          <p:nvPr/>
        </p:nvPicPr>
        <p:blipFill>
          <a:blip r:embed="rId3"/>
          <a:stretch>
            <a:fillRect/>
          </a:stretch>
        </p:blipFill>
        <p:spPr>
          <a:xfrm>
            <a:off x="5989320" y="1783080"/>
            <a:ext cx="1005840" cy="1005840"/>
          </a:xfrm>
          <a:prstGeom prst="rect">
            <a:avLst/>
          </a:prstGeom>
        </p:spPr>
      </p:pic>
      <p:sp>
        <p:nvSpPr>
          <p:cNvPr id="9" name="TextBox 8">
            <a:extLst>
              <a:ext uri="{FF2B5EF4-FFF2-40B4-BE49-F238E27FC236}">
                <a16:creationId xmlns:a16="http://schemas.microsoft.com/office/drawing/2014/main" id="{49DD8ABC-55B5-1B32-B8E9-C4E89289B3ED}"/>
              </a:ext>
            </a:extLst>
          </p:cNvPr>
          <p:cNvSpPr txBox="1"/>
          <p:nvPr/>
        </p:nvSpPr>
        <p:spPr>
          <a:xfrm>
            <a:off x="841248" y="5577840"/>
            <a:ext cx="4240530" cy="1015663"/>
          </a:xfrm>
          <a:prstGeom prst="rect">
            <a:avLst/>
          </a:prstGeom>
          <a:noFill/>
        </p:spPr>
        <p:txBody>
          <a:bodyPr wrap="square">
            <a:spAutoFit/>
          </a:bodyPr>
          <a:lstStyle/>
          <a:p>
            <a:pPr algn="l">
              <a:spcAft>
                <a:spcPts val="1000"/>
              </a:spcAft>
            </a:pPr>
            <a:r>
              <a:rPr lang="en-US" sz="2000" b="0" i="0" dirty="0">
                <a:solidFill>
                  <a:srgbClr val="FFFFFF"/>
                </a:solidFill>
                <a:latin typeface="Segoe UI"/>
                <a:ea typeface="Segoe UI"/>
                <a:cs typeface="Segoe UI"/>
              </a:rPr>
              <a:t>* SI is not used in this presentation to avoid any confusion with System Integrators (also known as SI).</a:t>
            </a:r>
          </a:p>
        </p:txBody>
      </p:sp>
    </p:spTree>
    <p:extLst>
      <p:ext uri="{BB962C8B-B14F-4D97-AF65-F5344CB8AC3E}">
        <p14:creationId xmlns:p14="http://schemas.microsoft.com/office/powerpoint/2010/main" val="3528552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An</a:t>
            </a:r>
            <a:r>
              <a:rPr dirty="0"/>
              <a:t> experiment</a:t>
            </a:r>
            <a:r>
              <a:rPr lang="en-US" dirty="0"/>
              <a:t>:</a:t>
            </a:r>
            <a:r>
              <a:rPr dirty="0"/>
              <a:t> a whole epic built with AI, tripled my </a:t>
            </a:r>
            <a:r>
              <a:rPr lang="en-US" dirty="0"/>
              <a:t>velocity</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r>
              <a:rPr sz="1400" b="1" i="0" dirty="0">
                <a:solidFill>
                  <a:srgbClr val="DB2777"/>
                </a:solidFill>
                <a:latin typeface="Segoe UI"/>
                <a:ea typeface="Segoe UI"/>
                <a:cs typeface="Segoe UI"/>
              </a:rPr>
              <a:t>BOTTOM LINE </a:t>
            </a:r>
            <a:r>
              <a:rPr lang="en-US" sz="1400" b="1" i="0" dirty="0">
                <a:solidFill>
                  <a:srgbClr val="DB2777"/>
                </a:solidFill>
                <a:latin typeface="Segoe UI"/>
                <a:ea typeface="Segoe UI"/>
                <a:cs typeface="Segoe UI"/>
              </a:rPr>
              <a:t>UP FRONT </a:t>
            </a:r>
            <a:r>
              <a:rPr sz="1400" b="1" i="0" dirty="0">
                <a:solidFill>
                  <a:srgbClr val="DB2777"/>
                </a:solidFill>
                <a:latin typeface="Segoe UI"/>
                <a:ea typeface="Segoe UI"/>
                <a:cs typeface="Segoe UI"/>
              </a:rPr>
              <a:t>· ACT 1</a:t>
            </a:r>
            <a:r>
              <a:rPr lang="en-US" sz="1400" b="1" dirty="0">
                <a:solidFill>
                  <a:srgbClr val="DB2777"/>
                </a:solidFill>
                <a:latin typeface="Segoe UI"/>
                <a:ea typeface="Segoe UI"/>
                <a:cs typeface="Segoe UI"/>
              </a:rPr>
              <a:t> · </a:t>
            </a:r>
            <a:r>
              <a:rPr lang="en-US" sz="1400" b="1" i="0" dirty="0">
                <a:solidFill>
                  <a:srgbClr val="DB2777"/>
                </a:solidFill>
                <a:latin typeface="Segoe UI"/>
                <a:ea typeface="Segoe UI"/>
                <a:cs typeface="Segoe UI"/>
              </a:rPr>
              <a:t>RIDING </a:t>
            </a:r>
            <a:r>
              <a:rPr sz="1400" b="1" i="0" dirty="0">
                <a:solidFill>
                  <a:srgbClr val="DB2777"/>
                </a:solidFill>
                <a:latin typeface="Segoe UI"/>
                <a:ea typeface="Segoe UI"/>
                <a:cs typeface="Segoe UI"/>
              </a:rPr>
              <a:t>THE CHEETAH</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a:t>
            </a:fld>
            <a:endParaRPr lang="en-US"/>
          </a:p>
        </p:txBody>
      </p:sp>
      <p:sp>
        <p:nvSpPr>
          <p:cNvPr id="9002" name="!!charttitle"/>
          <p:cNvSpPr txBox="1"/>
          <p:nvPr/>
        </p:nvSpPr>
        <p:spPr>
          <a:xfrm>
            <a:off x="841248" y="1572768"/>
            <a:ext cx="7680960" cy="347472"/>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Story points completed per Program Increment (PI)</a:t>
            </a:r>
          </a:p>
        </p:txBody>
      </p:sp>
      <p:sp>
        <p:nvSpPr>
          <p:cNvPr id="9003" name="!!lgsBaseli"/>
          <p:cNvSpPr/>
          <p:nvPr/>
        </p:nvSpPr>
        <p:spPr>
          <a:xfrm>
            <a:off x="841248" y="2029968"/>
            <a:ext cx="201168" cy="201168"/>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4" name="!!lgtBaseli"/>
          <p:cNvSpPr txBox="1"/>
          <p:nvPr/>
        </p:nvSpPr>
        <p:spPr>
          <a:xfrm>
            <a:off x="1188720" y="1975104"/>
            <a:ext cx="764438"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Baseline</a:t>
            </a:r>
          </a:p>
        </p:txBody>
      </p:sp>
      <p:sp>
        <p:nvSpPr>
          <p:cNvPr id="9005" name="!!lgsExperi"/>
          <p:cNvSpPr/>
          <p:nvPr/>
        </p:nvSpPr>
        <p:spPr>
          <a:xfrm>
            <a:off x="2136038" y="2029968"/>
            <a:ext cx="201168" cy="20116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6" name="!!lgtExperi"/>
          <p:cNvSpPr txBox="1"/>
          <p:nvPr/>
        </p:nvSpPr>
        <p:spPr>
          <a:xfrm>
            <a:off x="2483510" y="1975104"/>
            <a:ext cx="1942185"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Experiment (1 AI epic)</a:t>
            </a:r>
          </a:p>
        </p:txBody>
      </p:sp>
      <p:cxnSp>
        <p:nvCxnSpPr>
          <p:cNvPr id="9007" name="!!lgsTarget"/>
          <p:cNvCxnSpPr/>
          <p:nvPr/>
        </p:nvCxnSpPr>
        <p:spPr>
          <a:xfrm>
            <a:off x="4608576" y="2130552"/>
            <a:ext cx="292608" cy="0"/>
          </a:xfrm>
          <a:prstGeom prst="line">
            <a:avLst/>
          </a:prstGeom>
          <a:ln w="28575">
            <a:solidFill>
              <a:srgbClr val="DB2777"/>
            </a:solidFill>
            <a:prstDash val="dash"/>
          </a:ln>
        </p:spPr>
        <p:style>
          <a:lnRef idx="2">
            <a:schemeClr val="accent1"/>
          </a:lnRef>
          <a:fillRef idx="0">
            <a:schemeClr val="accent1"/>
          </a:fillRef>
          <a:effectRef idx="1">
            <a:schemeClr val="accent1"/>
          </a:effectRef>
          <a:fontRef idx="minor">
            <a:schemeClr val="tx1"/>
          </a:fontRef>
        </p:style>
      </p:cxnSp>
      <p:sp>
        <p:nvSpPr>
          <p:cNvPr id="9008" name="!!lgtTarget"/>
          <p:cNvSpPr txBox="1"/>
          <p:nvPr/>
        </p:nvSpPr>
        <p:spPr>
          <a:xfrm>
            <a:off x="4956048" y="1975104"/>
            <a:ext cx="596188"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Target</a:t>
            </a:r>
          </a:p>
        </p:txBody>
      </p:sp>
      <p:cxnSp>
        <p:nvCxnSpPr>
          <p:cNvPr id="9009" name="!!axis"/>
          <p:cNvCxnSpPr/>
          <p:nvPr/>
        </p:nvCxnSpPr>
        <p:spPr>
          <a:xfrm>
            <a:off x="868680" y="5486400"/>
            <a:ext cx="7726680" cy="0"/>
          </a:xfrm>
          <a:prstGeom prst="line">
            <a:avLst/>
          </a:prstGeom>
          <a:ln w="15875">
            <a:solidFill>
              <a:srgbClr val="8A949E"/>
            </a:solidFill>
          </a:ln>
        </p:spPr>
        <p:style>
          <a:lnRef idx="2">
            <a:schemeClr val="accent1"/>
          </a:lnRef>
          <a:fillRef idx="0">
            <a:schemeClr val="accent1"/>
          </a:fillRef>
          <a:effectRef idx="1">
            <a:schemeClr val="accent1"/>
          </a:effectRef>
          <a:fontRef idx="minor">
            <a:schemeClr val="tx1"/>
          </a:fontRef>
        </p:style>
      </p:cxnSp>
      <p:cxnSp>
        <p:nvCxnSpPr>
          <p:cNvPr id="9010" name="!!target"/>
          <p:cNvCxnSpPr/>
          <p:nvPr/>
        </p:nvCxnSpPr>
        <p:spPr>
          <a:xfrm>
            <a:off x="868680" y="3742944"/>
            <a:ext cx="7726680" cy="0"/>
          </a:xfrm>
          <a:prstGeom prst="line">
            <a:avLst/>
          </a:prstGeom>
          <a:ln w="28575">
            <a:solidFill>
              <a:srgbClr val="DB2777"/>
            </a:solidFill>
            <a:prstDash val="dash"/>
          </a:ln>
        </p:spPr>
        <p:style>
          <a:lnRef idx="2">
            <a:schemeClr val="accent1"/>
          </a:lnRef>
          <a:fillRef idx="0">
            <a:schemeClr val="accent1"/>
          </a:fillRef>
          <a:effectRef idx="1">
            <a:schemeClr val="accent1"/>
          </a:effectRef>
          <a:fontRef idx="minor">
            <a:schemeClr val="tx1"/>
          </a:fontRef>
        </p:style>
      </p:cxnSp>
      <p:sp>
        <p:nvSpPr>
          <p:cNvPr id="9011" name="!!targetlbl"/>
          <p:cNvSpPr txBox="1"/>
          <p:nvPr/>
        </p:nvSpPr>
        <p:spPr>
          <a:xfrm>
            <a:off x="841248" y="3432048"/>
            <a:ext cx="9144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Target 52</a:t>
            </a:r>
          </a:p>
        </p:txBody>
      </p:sp>
      <p:sp>
        <p:nvSpPr>
          <p:cNvPr id="9012" name="!!bar0" descr="FY25 PI-3: 24 points"/>
          <p:cNvSpPr/>
          <p:nvPr/>
        </p:nvSpPr>
        <p:spPr>
          <a:xfrm>
            <a:off x="1888236" y="4681728"/>
            <a:ext cx="1143000" cy="804671"/>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val0"/>
          <p:cNvSpPr/>
          <p:nvPr/>
        </p:nvSpPr>
        <p:spPr>
          <a:xfrm>
            <a:off x="2025395" y="4206240"/>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i="0">
                <a:solidFill>
                  <a:srgbClr val="3A3A3A"/>
                </a:solidFill>
                <a:latin typeface="Segoe UI"/>
                <a:ea typeface="Segoe UI"/>
                <a:cs typeface="Segoe UI"/>
              </a:rPr>
              <a:t>24</a:t>
            </a:r>
          </a:p>
        </p:txBody>
      </p:sp>
      <p:sp>
        <p:nvSpPr>
          <p:cNvPr id="9014" name="!!cat0"/>
          <p:cNvSpPr txBox="1"/>
          <p:nvPr/>
        </p:nvSpPr>
        <p:spPr>
          <a:xfrm>
            <a:off x="1568195"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FY25 PI-3</a:t>
            </a:r>
          </a:p>
        </p:txBody>
      </p:sp>
      <p:sp>
        <p:nvSpPr>
          <p:cNvPr id="9015" name="!!bar1" descr="FY26 PI-1: 28 points"/>
          <p:cNvSpPr/>
          <p:nvPr/>
        </p:nvSpPr>
        <p:spPr>
          <a:xfrm>
            <a:off x="3607308" y="4547616"/>
            <a:ext cx="1143000" cy="938784"/>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6" name="!!val1"/>
          <p:cNvSpPr/>
          <p:nvPr/>
        </p:nvSpPr>
        <p:spPr>
          <a:xfrm>
            <a:off x="3744468" y="4072128"/>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i="0">
                <a:solidFill>
                  <a:srgbClr val="3A3A3A"/>
                </a:solidFill>
                <a:latin typeface="Segoe UI"/>
                <a:ea typeface="Segoe UI"/>
                <a:cs typeface="Segoe UI"/>
              </a:rPr>
              <a:t>28</a:t>
            </a:r>
          </a:p>
        </p:txBody>
      </p:sp>
      <p:sp>
        <p:nvSpPr>
          <p:cNvPr id="9017" name="!!cat1"/>
          <p:cNvSpPr txBox="1"/>
          <p:nvPr/>
        </p:nvSpPr>
        <p:spPr>
          <a:xfrm>
            <a:off x="3287268"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FY26 PI-1</a:t>
            </a:r>
          </a:p>
        </p:txBody>
      </p:sp>
      <p:sp>
        <p:nvSpPr>
          <p:cNvPr id="9018" name="!!bar2" descr="FY26 PI-2: 72 points"/>
          <p:cNvSpPr/>
          <p:nvPr/>
        </p:nvSpPr>
        <p:spPr>
          <a:xfrm>
            <a:off x="5326379" y="3072384"/>
            <a:ext cx="1143000" cy="2414016"/>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9" name="!!val2"/>
          <p:cNvSpPr/>
          <p:nvPr/>
        </p:nvSpPr>
        <p:spPr>
          <a:xfrm>
            <a:off x="5463540" y="2596896"/>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i="0">
                <a:solidFill>
                  <a:srgbClr val="7C3AED"/>
                </a:solidFill>
                <a:latin typeface="Segoe UI"/>
                <a:ea typeface="Segoe UI"/>
                <a:cs typeface="Segoe UI"/>
              </a:rPr>
              <a:t>72</a:t>
            </a:r>
          </a:p>
        </p:txBody>
      </p:sp>
      <p:sp>
        <p:nvSpPr>
          <p:cNvPr id="9020" name="!!cat2"/>
          <p:cNvSpPr txBox="1"/>
          <p:nvPr/>
        </p:nvSpPr>
        <p:spPr>
          <a:xfrm>
            <a:off x="5006340"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FY26 PI-2</a:t>
            </a:r>
          </a:p>
          <a:p>
            <a:pPr algn="ctr"/>
            <a:r>
              <a:rPr sz="1600" b="1" i="0">
                <a:solidFill>
                  <a:srgbClr val="7C3AED"/>
                </a:solidFill>
                <a:latin typeface="Segoe UI"/>
                <a:ea typeface="Segoe UI"/>
                <a:cs typeface="Segoe UI"/>
              </a:rPr>
              <a:t>the experiment</a:t>
            </a:r>
          </a:p>
        </p:txBody>
      </p:sp>
      <p:sp>
        <p:nvSpPr>
          <p:cNvPr id="9021" name="!!bar3"/>
          <p:cNvSpPr/>
          <p:nvPr/>
        </p:nvSpPr>
        <p:spPr>
          <a:xfrm>
            <a:off x="7045452" y="5477256"/>
            <a:ext cx="1143000" cy="9144"/>
          </a:xfrm>
          <a:prstGeom prst="rect">
            <a:avLst/>
          </a:prstGeom>
          <a:solidFill>
            <a:srgbClr val="8A949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2" name="ExperimentCallout"/>
          <p:cNvSpPr/>
          <p:nvPr/>
        </p:nvSpPr>
        <p:spPr>
          <a:xfrm>
            <a:off x="6858000" y="2514600"/>
            <a:ext cx="1920240" cy="1417320"/>
          </a:xfrm>
          <a:prstGeom prst="roundRect">
            <a:avLst>
              <a:gd name="adj" fmla="val 8000"/>
            </a:avLst>
          </a:prstGeom>
          <a:solidFill>
            <a:srgbClr val="F3E8FF"/>
          </a:solidFill>
          <a:ln w="15875">
            <a:solidFill>
              <a:srgbClr val="C084FC"/>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600" b="1" i="0" dirty="0">
                <a:solidFill>
                  <a:srgbClr val="2E1065"/>
                </a:solidFill>
                <a:latin typeface="Segoe UI"/>
                <a:ea typeface="Segoe UI"/>
                <a:cs typeface="Segoe UI"/>
              </a:rPr>
              <a:t>The experiment</a:t>
            </a:r>
          </a:p>
          <a:p>
            <a:pPr algn="l"/>
            <a:r>
              <a:rPr sz="1400" b="0" i="0" dirty="0">
                <a:solidFill>
                  <a:srgbClr val="3A3A3A"/>
                </a:solidFill>
                <a:latin typeface="Segoe UI"/>
                <a:ea typeface="Segoe UI"/>
                <a:cs typeface="Segoe UI"/>
              </a:rPr>
              <a:t>One whole epic</a:t>
            </a:r>
            <a:r>
              <a:rPr lang="en-US" sz="1400" b="0" i="0" dirty="0">
                <a:solidFill>
                  <a:srgbClr val="3A3A3A"/>
                </a:solidFill>
                <a:latin typeface="Segoe UI"/>
                <a:ea typeface="Segoe UI"/>
                <a:cs typeface="Segoe UI"/>
              </a:rPr>
              <a:t>, start to finish, with AI part of every step as a personal test</a:t>
            </a:r>
            <a:endParaRPr sz="1400" b="0" i="0" dirty="0">
              <a:solidFill>
                <a:srgbClr val="3A3A3A"/>
              </a:solidFill>
              <a:latin typeface="Segoe UI"/>
              <a:ea typeface="Segoe UI"/>
              <a:cs typeface="Segoe UI"/>
            </a:endParaRPr>
          </a:p>
        </p:txBody>
      </p:sp>
      <p:cxnSp>
        <p:nvCxnSpPr>
          <p:cNvPr id="9023" name="Connector 9022"/>
          <p:cNvCxnSpPr/>
          <p:nvPr/>
        </p:nvCxnSpPr>
        <p:spPr>
          <a:xfrm flipH="1">
            <a:off x="6565392" y="3154680"/>
            <a:ext cx="292608" cy="0"/>
          </a:xfrm>
          <a:prstGeom prst="line">
            <a:avLst/>
          </a:prstGeom>
          <a:ln w="22225">
            <a:solidFill>
              <a:srgbClr val="C084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4" name="!!heroicon_c"/>
          <p:cNvSpPr/>
          <p:nvPr/>
        </p:nvSpPr>
        <p:spPr>
          <a:xfrm>
            <a:off x="8915400" y="1691640"/>
            <a:ext cx="868680" cy="868680"/>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5" name="!!heroicon_i" descr="Sprinting figure icon"/>
          <p:cNvPicPr>
            <a:picLocks noChangeAspect="1"/>
          </p:cNvPicPr>
          <p:nvPr/>
        </p:nvPicPr>
        <p:blipFill>
          <a:blip r:embed="rId3"/>
          <a:stretch>
            <a:fillRect/>
          </a:stretch>
        </p:blipFill>
        <p:spPr>
          <a:xfrm>
            <a:off x="9106509" y="1882749"/>
            <a:ext cx="486460" cy="486460"/>
          </a:xfrm>
          <a:prstGeom prst="rect">
            <a:avLst/>
          </a:prstGeom>
        </p:spPr>
      </p:pic>
      <p:sp>
        <p:nvSpPr>
          <p:cNvPr id="9026" name="!!bigstat"/>
          <p:cNvSpPr txBox="1"/>
          <p:nvPr/>
        </p:nvSpPr>
        <p:spPr>
          <a:xfrm>
            <a:off x="8915400" y="2697480"/>
            <a:ext cx="2441448" cy="822960"/>
          </a:xfrm>
          <a:prstGeom prst="rect">
            <a:avLst/>
          </a:prstGeom>
          <a:noFill/>
        </p:spPr>
        <p:txBody>
          <a:bodyPr wrap="square" lIns="0" tIns="0" rIns="0" bIns="0" anchor="t">
            <a:noAutofit/>
          </a:bodyPr>
          <a:lstStyle/>
          <a:p>
            <a:pPr algn="l"/>
            <a:r>
              <a:rPr sz="5400" b="1" i="0">
                <a:solidFill>
                  <a:srgbClr val="7C3AED"/>
                </a:solidFill>
                <a:latin typeface="Segoe UI"/>
                <a:ea typeface="Segoe UI"/>
                <a:cs typeface="Segoe UI"/>
              </a:rPr>
              <a:t>~3×</a:t>
            </a:r>
          </a:p>
        </p:txBody>
      </p:sp>
      <p:sp>
        <p:nvSpPr>
          <p:cNvPr id="9027" name="!!bigstatlbl"/>
          <p:cNvSpPr txBox="1"/>
          <p:nvPr/>
        </p:nvSpPr>
        <p:spPr>
          <a:xfrm>
            <a:off x="8915400" y="3520440"/>
            <a:ext cx="2441448" cy="64008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my prior baseline of about 21 points per PI</a:t>
            </a:r>
          </a:p>
        </p:txBody>
      </p:sp>
      <p:cxnSp>
        <p:nvCxnSpPr>
          <p:cNvPr id="9028" name="!!rdiv"/>
          <p:cNvCxnSpPr/>
          <p:nvPr/>
        </p:nvCxnSpPr>
        <p:spPr>
          <a:xfrm>
            <a:off x="8915400" y="4343400"/>
            <a:ext cx="2441448" cy="0"/>
          </a:xfrm>
          <a:prstGeom prst="line">
            <a:avLst/>
          </a:prstGeom>
          <a:ln w="12700">
            <a:solidFill>
              <a:srgbClr val="D3DCE6"/>
            </a:solidFill>
          </a:ln>
        </p:spPr>
        <p:style>
          <a:lnRef idx="2">
            <a:schemeClr val="accent1"/>
          </a:lnRef>
          <a:fillRef idx="0">
            <a:schemeClr val="accent1"/>
          </a:fillRef>
          <a:effectRef idx="1">
            <a:schemeClr val="accent1"/>
          </a:effectRef>
          <a:fontRef idx="minor">
            <a:schemeClr val="tx1"/>
          </a:fontRef>
        </p:style>
      </p:cxnSp>
      <p:sp>
        <p:nvSpPr>
          <p:cNvPr id="9029" name="!!stat2"/>
          <p:cNvSpPr txBox="1"/>
          <p:nvPr/>
        </p:nvSpPr>
        <p:spPr>
          <a:xfrm>
            <a:off x="8915400" y="4480560"/>
            <a:ext cx="2441448" cy="548640"/>
          </a:xfrm>
          <a:prstGeom prst="rect">
            <a:avLst/>
          </a:prstGeom>
          <a:noFill/>
        </p:spPr>
        <p:txBody>
          <a:bodyPr wrap="square" lIns="0" tIns="0" rIns="0" bIns="0" anchor="t">
            <a:noAutofit/>
          </a:bodyPr>
          <a:lstStyle/>
          <a:p>
            <a:pPr algn="l"/>
            <a:r>
              <a:rPr sz="3200" b="1" i="0">
                <a:solidFill>
                  <a:srgbClr val="2E1065"/>
                </a:solidFill>
                <a:latin typeface="Segoe UI"/>
                <a:ea typeface="Segoe UI"/>
                <a:cs typeface="Segoe UI"/>
              </a:rPr>
              <a:t>~1.4×</a:t>
            </a:r>
          </a:p>
        </p:txBody>
      </p:sp>
      <p:sp>
        <p:nvSpPr>
          <p:cNvPr id="9030" name="!!stat2lbl"/>
          <p:cNvSpPr txBox="1"/>
          <p:nvPr/>
        </p:nvSpPr>
        <p:spPr>
          <a:xfrm>
            <a:off x="8915400" y="5029200"/>
            <a:ext cx="2441448" cy="36576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the 52-point target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Then it compounded, each epic faster than the last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r>
              <a:rPr sz="1400" b="1" i="0" dirty="0">
                <a:solidFill>
                  <a:srgbClr val="DB2777"/>
                </a:solidFill>
                <a:latin typeface="Segoe UI"/>
                <a:ea typeface="Segoe UI"/>
                <a:cs typeface="Segoe UI"/>
              </a:rPr>
              <a:t>BOTTOM LINE</a:t>
            </a:r>
            <a:r>
              <a:rPr lang="en-US" sz="1400" b="1" i="0" dirty="0">
                <a:solidFill>
                  <a:srgbClr val="DB2777"/>
                </a:solidFill>
                <a:latin typeface="Segoe UI"/>
                <a:ea typeface="Segoe UI"/>
                <a:cs typeface="Segoe UI"/>
              </a:rPr>
              <a:t> UP FRONT</a:t>
            </a:r>
            <a:r>
              <a:rPr sz="1400" b="1" i="0" dirty="0">
                <a:solidFill>
                  <a:srgbClr val="DB2777"/>
                </a:solidFill>
                <a:latin typeface="Segoe UI"/>
                <a:ea typeface="Segoe UI"/>
                <a:cs typeface="Segoe UI"/>
              </a:rPr>
              <a:t> · ACT 2</a:t>
            </a:r>
            <a:r>
              <a:rPr lang="en-US" sz="1400" b="1" dirty="0">
                <a:solidFill>
                  <a:srgbClr val="DB2777"/>
                </a:solidFill>
                <a:latin typeface="Segoe UI"/>
                <a:ea typeface="Segoe UI"/>
                <a:cs typeface="Segoe UI"/>
              </a:rPr>
              <a:t> · </a:t>
            </a:r>
            <a:r>
              <a:rPr lang="en-US" sz="1400" b="1" i="0" dirty="0">
                <a:solidFill>
                  <a:srgbClr val="DB2777"/>
                </a:solidFill>
                <a:latin typeface="Segoe UI"/>
                <a:ea typeface="Segoe UI"/>
                <a:cs typeface="Segoe UI"/>
              </a:rPr>
              <a:t>RIDING </a:t>
            </a:r>
            <a:r>
              <a:rPr sz="1400" b="1" i="0" dirty="0">
                <a:solidFill>
                  <a:srgbClr val="DB2777"/>
                </a:solidFill>
                <a:latin typeface="Segoe UI"/>
                <a:ea typeface="Segoe UI"/>
                <a:cs typeface="Segoe UI"/>
              </a:rPr>
              <a:t>THE </a:t>
            </a:r>
            <a:r>
              <a:rPr lang="en-US" sz="1400" b="1" i="0" dirty="0">
                <a:solidFill>
                  <a:srgbClr val="DB2777"/>
                </a:solidFill>
                <a:latin typeface="Segoe UI"/>
                <a:ea typeface="Segoe UI"/>
                <a:cs typeface="Segoe UI"/>
              </a:rPr>
              <a:t>CHEETAH WITH A </a:t>
            </a:r>
            <a:r>
              <a:rPr sz="1400" b="1" i="0" dirty="0">
                <a:solidFill>
                  <a:srgbClr val="DB2777"/>
                </a:solidFill>
                <a:latin typeface="Segoe UI"/>
                <a:ea typeface="Segoe UI"/>
                <a:cs typeface="Segoe UI"/>
              </a:rPr>
              <a:t>JETPACK</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3</a:t>
            </a:fld>
            <a:endParaRPr lang="en-US"/>
          </a:p>
        </p:txBody>
      </p:sp>
      <p:sp>
        <p:nvSpPr>
          <p:cNvPr id="9002" name="!!charttitle"/>
          <p:cNvSpPr txBox="1"/>
          <p:nvPr/>
        </p:nvSpPr>
        <p:spPr>
          <a:xfrm>
            <a:off x="841248" y="1572768"/>
            <a:ext cx="7680960" cy="347472"/>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Story points completed per Program Increment (PI)</a:t>
            </a:r>
          </a:p>
        </p:txBody>
      </p:sp>
      <p:sp>
        <p:nvSpPr>
          <p:cNvPr id="9003" name="!!lgsBaseli"/>
          <p:cNvSpPr/>
          <p:nvPr/>
        </p:nvSpPr>
        <p:spPr>
          <a:xfrm>
            <a:off x="841248" y="2029968"/>
            <a:ext cx="201168" cy="201168"/>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4" name="!!lgtBaseli"/>
          <p:cNvSpPr txBox="1"/>
          <p:nvPr/>
        </p:nvSpPr>
        <p:spPr>
          <a:xfrm>
            <a:off x="1188720" y="1975104"/>
            <a:ext cx="764438"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Baseline</a:t>
            </a:r>
          </a:p>
        </p:txBody>
      </p:sp>
      <p:sp>
        <p:nvSpPr>
          <p:cNvPr id="9005" name="!!lgsExperi"/>
          <p:cNvSpPr/>
          <p:nvPr/>
        </p:nvSpPr>
        <p:spPr>
          <a:xfrm>
            <a:off x="2136038" y="2029968"/>
            <a:ext cx="201168" cy="20116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6" name="!!lgtExperi"/>
          <p:cNvSpPr txBox="1"/>
          <p:nvPr/>
        </p:nvSpPr>
        <p:spPr>
          <a:xfrm>
            <a:off x="2483510" y="1975104"/>
            <a:ext cx="1942185"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Experiment (1 AI epic)</a:t>
            </a:r>
          </a:p>
        </p:txBody>
      </p:sp>
      <p:sp>
        <p:nvSpPr>
          <p:cNvPr id="9007" name="!!lgsCompou"/>
          <p:cNvSpPr/>
          <p:nvPr/>
        </p:nvSpPr>
        <p:spPr>
          <a:xfrm>
            <a:off x="4608576" y="2029968"/>
            <a:ext cx="201168" cy="201168"/>
          </a:xfrm>
          <a:prstGeom prst="rect">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lgtCompou"/>
          <p:cNvSpPr txBox="1"/>
          <p:nvPr/>
        </p:nvSpPr>
        <p:spPr>
          <a:xfrm>
            <a:off x="4956048" y="1975104"/>
            <a:ext cx="2110435"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Compounding (4 AI epics)</a:t>
            </a:r>
          </a:p>
        </p:txBody>
      </p:sp>
      <p:cxnSp>
        <p:nvCxnSpPr>
          <p:cNvPr id="9009" name="!!lgsTarget"/>
          <p:cNvCxnSpPr/>
          <p:nvPr/>
        </p:nvCxnSpPr>
        <p:spPr>
          <a:xfrm>
            <a:off x="7249363" y="2130552"/>
            <a:ext cx="292608" cy="0"/>
          </a:xfrm>
          <a:prstGeom prst="line">
            <a:avLst/>
          </a:prstGeom>
          <a:ln w="28575">
            <a:solidFill>
              <a:srgbClr val="DB2777"/>
            </a:solidFill>
            <a:prstDash val="dash"/>
          </a:ln>
        </p:spPr>
        <p:style>
          <a:lnRef idx="2">
            <a:schemeClr val="accent1"/>
          </a:lnRef>
          <a:fillRef idx="0">
            <a:schemeClr val="accent1"/>
          </a:fillRef>
          <a:effectRef idx="1">
            <a:schemeClr val="accent1"/>
          </a:effectRef>
          <a:fontRef idx="minor">
            <a:schemeClr val="tx1"/>
          </a:fontRef>
        </p:style>
      </p:cxnSp>
      <p:sp>
        <p:nvSpPr>
          <p:cNvPr id="9010" name="!!lgtTarget"/>
          <p:cNvSpPr txBox="1"/>
          <p:nvPr/>
        </p:nvSpPr>
        <p:spPr>
          <a:xfrm>
            <a:off x="7596835" y="1975104"/>
            <a:ext cx="596188" cy="292608"/>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Target</a:t>
            </a:r>
          </a:p>
        </p:txBody>
      </p:sp>
      <p:cxnSp>
        <p:nvCxnSpPr>
          <p:cNvPr id="9011" name="!!axis"/>
          <p:cNvCxnSpPr/>
          <p:nvPr/>
        </p:nvCxnSpPr>
        <p:spPr>
          <a:xfrm>
            <a:off x="868680" y="5486400"/>
            <a:ext cx="7726680" cy="0"/>
          </a:xfrm>
          <a:prstGeom prst="line">
            <a:avLst/>
          </a:prstGeom>
          <a:ln w="15875">
            <a:solidFill>
              <a:srgbClr val="8A949E"/>
            </a:solidFill>
          </a:ln>
        </p:spPr>
        <p:style>
          <a:lnRef idx="2">
            <a:schemeClr val="accent1"/>
          </a:lnRef>
          <a:fillRef idx="0">
            <a:schemeClr val="accent1"/>
          </a:fillRef>
          <a:effectRef idx="1">
            <a:schemeClr val="accent1"/>
          </a:effectRef>
          <a:fontRef idx="minor">
            <a:schemeClr val="tx1"/>
          </a:fontRef>
        </p:style>
      </p:cxnSp>
      <p:cxnSp>
        <p:nvCxnSpPr>
          <p:cNvPr id="9012" name="!!target"/>
          <p:cNvCxnSpPr/>
          <p:nvPr/>
        </p:nvCxnSpPr>
        <p:spPr>
          <a:xfrm>
            <a:off x="868680" y="4963363"/>
            <a:ext cx="7726680" cy="0"/>
          </a:xfrm>
          <a:prstGeom prst="line">
            <a:avLst/>
          </a:prstGeom>
          <a:ln w="28575">
            <a:solidFill>
              <a:srgbClr val="DB2777"/>
            </a:solidFill>
            <a:prstDash val="dash"/>
          </a:ln>
        </p:spPr>
        <p:style>
          <a:lnRef idx="2">
            <a:schemeClr val="accent1"/>
          </a:lnRef>
          <a:fillRef idx="0">
            <a:schemeClr val="accent1"/>
          </a:fillRef>
          <a:effectRef idx="1">
            <a:schemeClr val="accent1"/>
          </a:effectRef>
          <a:fontRef idx="minor">
            <a:schemeClr val="tx1"/>
          </a:fontRef>
        </p:style>
      </p:cxnSp>
      <p:sp>
        <p:nvSpPr>
          <p:cNvPr id="9013" name="!!targetlbl"/>
          <p:cNvSpPr txBox="1"/>
          <p:nvPr/>
        </p:nvSpPr>
        <p:spPr>
          <a:xfrm>
            <a:off x="841248" y="4652467"/>
            <a:ext cx="9144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Target 52</a:t>
            </a:r>
          </a:p>
        </p:txBody>
      </p:sp>
      <p:sp>
        <p:nvSpPr>
          <p:cNvPr id="9014" name="!!bar0" descr="FY25 PI-3: 24 points"/>
          <p:cNvSpPr/>
          <p:nvPr/>
        </p:nvSpPr>
        <p:spPr>
          <a:xfrm>
            <a:off x="1888236" y="5244998"/>
            <a:ext cx="1143000" cy="241401"/>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val0"/>
          <p:cNvSpPr/>
          <p:nvPr/>
        </p:nvSpPr>
        <p:spPr>
          <a:xfrm>
            <a:off x="2025395" y="4769510"/>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i="0">
                <a:solidFill>
                  <a:srgbClr val="3A3A3A"/>
                </a:solidFill>
                <a:latin typeface="Segoe UI"/>
                <a:ea typeface="Segoe UI"/>
                <a:cs typeface="Segoe UI"/>
              </a:rPr>
              <a:t>24</a:t>
            </a:r>
          </a:p>
        </p:txBody>
      </p:sp>
      <p:sp>
        <p:nvSpPr>
          <p:cNvPr id="9016" name="!!cat0"/>
          <p:cNvSpPr txBox="1"/>
          <p:nvPr/>
        </p:nvSpPr>
        <p:spPr>
          <a:xfrm>
            <a:off x="1568195"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FY25 PI-3</a:t>
            </a:r>
          </a:p>
        </p:txBody>
      </p:sp>
      <p:sp>
        <p:nvSpPr>
          <p:cNvPr id="9017" name="!!bar1" descr="FY26 PI-1: 28 points"/>
          <p:cNvSpPr/>
          <p:nvPr/>
        </p:nvSpPr>
        <p:spPr>
          <a:xfrm>
            <a:off x="3607308" y="5204764"/>
            <a:ext cx="1143000" cy="281635"/>
          </a:xfrm>
          <a:prstGeom prst="rect">
            <a:avLst/>
          </a:prstGeom>
          <a:solidFill>
            <a:srgbClr val="91919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8" name="!!val1"/>
          <p:cNvSpPr/>
          <p:nvPr/>
        </p:nvSpPr>
        <p:spPr>
          <a:xfrm>
            <a:off x="3744468" y="4729276"/>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i="0">
                <a:solidFill>
                  <a:srgbClr val="3A3A3A"/>
                </a:solidFill>
                <a:latin typeface="Segoe UI"/>
                <a:ea typeface="Segoe UI"/>
                <a:cs typeface="Segoe UI"/>
              </a:rPr>
              <a:t>28</a:t>
            </a:r>
          </a:p>
        </p:txBody>
      </p:sp>
      <p:sp>
        <p:nvSpPr>
          <p:cNvPr id="9019" name="!!cat1"/>
          <p:cNvSpPr txBox="1"/>
          <p:nvPr/>
        </p:nvSpPr>
        <p:spPr>
          <a:xfrm>
            <a:off x="3287268"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FY26 PI-1</a:t>
            </a:r>
          </a:p>
        </p:txBody>
      </p:sp>
      <p:sp>
        <p:nvSpPr>
          <p:cNvPr id="9020" name="!!bar2" descr="FY26 PI-2: 72 points"/>
          <p:cNvSpPr/>
          <p:nvPr/>
        </p:nvSpPr>
        <p:spPr>
          <a:xfrm>
            <a:off x="5326379" y="4762195"/>
            <a:ext cx="1143000" cy="724204"/>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1" name="!!val2"/>
          <p:cNvSpPr/>
          <p:nvPr/>
        </p:nvSpPr>
        <p:spPr>
          <a:xfrm>
            <a:off x="5463540" y="4286707"/>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i="0">
                <a:solidFill>
                  <a:srgbClr val="7C3AED"/>
                </a:solidFill>
                <a:latin typeface="Segoe UI"/>
                <a:ea typeface="Segoe UI"/>
                <a:cs typeface="Segoe UI"/>
              </a:rPr>
              <a:t>72</a:t>
            </a:r>
          </a:p>
        </p:txBody>
      </p:sp>
      <p:sp>
        <p:nvSpPr>
          <p:cNvPr id="9022" name="!!cat2"/>
          <p:cNvSpPr txBox="1"/>
          <p:nvPr/>
        </p:nvSpPr>
        <p:spPr>
          <a:xfrm>
            <a:off x="5006340"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FY26 PI-2</a:t>
            </a:r>
          </a:p>
        </p:txBody>
      </p:sp>
      <p:sp>
        <p:nvSpPr>
          <p:cNvPr id="9023" name="!!bar3" descr="FY26 PI-3: 263 points"/>
          <p:cNvSpPr/>
          <p:nvPr/>
        </p:nvSpPr>
        <p:spPr>
          <a:xfrm>
            <a:off x="7045452" y="2841040"/>
            <a:ext cx="1143000" cy="2645359"/>
          </a:xfrm>
          <a:prstGeom prst="rect">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4" name="!!val3"/>
          <p:cNvSpPr/>
          <p:nvPr/>
        </p:nvSpPr>
        <p:spPr>
          <a:xfrm>
            <a:off x="7182612" y="2365552"/>
            <a:ext cx="868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800" b="1" i="0">
                <a:solidFill>
                  <a:srgbClr val="2E1065"/>
                </a:solidFill>
                <a:latin typeface="Segoe UI"/>
                <a:ea typeface="Segoe UI"/>
                <a:cs typeface="Segoe UI"/>
              </a:rPr>
              <a:t>263</a:t>
            </a:r>
          </a:p>
        </p:txBody>
      </p:sp>
      <p:sp>
        <p:nvSpPr>
          <p:cNvPr id="9025" name="!!cat3"/>
          <p:cNvSpPr txBox="1"/>
          <p:nvPr/>
        </p:nvSpPr>
        <p:spPr>
          <a:xfrm>
            <a:off x="6725412" y="5541264"/>
            <a:ext cx="1783080" cy="566928"/>
          </a:xfrm>
          <a:prstGeom prst="rect">
            <a:avLst/>
          </a:prstGeom>
          <a:noFill/>
        </p:spPr>
        <p:txBody>
          <a:bodyPr wrap="square" lIns="0" tIns="0" rIns="0" bIns="0" anchor="t">
            <a:noAutofit/>
          </a:bodyPr>
          <a:lstStyle/>
          <a:p>
            <a:pPr algn="ctr"/>
            <a:r>
              <a:rPr sz="1600" b="0" i="0">
                <a:solidFill>
                  <a:srgbClr val="3A3A3A"/>
                </a:solidFill>
                <a:latin typeface="Segoe UI"/>
                <a:ea typeface="Segoe UI"/>
                <a:cs typeface="Segoe UI"/>
              </a:rPr>
              <a:t>FY26 PI-3</a:t>
            </a:r>
          </a:p>
        </p:txBody>
      </p:sp>
      <p:sp>
        <p:nvSpPr>
          <p:cNvPr id="9026" name="!!heroicon_c"/>
          <p:cNvSpPr/>
          <p:nvPr/>
        </p:nvSpPr>
        <p:spPr>
          <a:xfrm>
            <a:off x="8915400" y="1691640"/>
            <a:ext cx="868680" cy="868680"/>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7" name="!!heroicon_i" descr="Jetpack icon"/>
          <p:cNvPicPr>
            <a:picLocks noChangeAspect="1"/>
          </p:cNvPicPr>
          <p:nvPr/>
        </p:nvPicPr>
        <p:blipFill>
          <a:blip r:embed="rId3"/>
          <a:stretch>
            <a:fillRect/>
          </a:stretch>
        </p:blipFill>
        <p:spPr>
          <a:xfrm>
            <a:off x="9106509" y="1882749"/>
            <a:ext cx="486460" cy="486460"/>
          </a:xfrm>
          <a:prstGeom prst="rect">
            <a:avLst/>
          </a:prstGeom>
        </p:spPr>
      </p:pic>
      <p:sp>
        <p:nvSpPr>
          <p:cNvPr id="9028" name="!!bigstat"/>
          <p:cNvSpPr txBox="1"/>
          <p:nvPr/>
        </p:nvSpPr>
        <p:spPr>
          <a:xfrm>
            <a:off x="8915400" y="2697480"/>
            <a:ext cx="2441448" cy="822960"/>
          </a:xfrm>
          <a:prstGeom prst="rect">
            <a:avLst/>
          </a:prstGeom>
          <a:noFill/>
        </p:spPr>
        <p:txBody>
          <a:bodyPr wrap="square" lIns="0" tIns="0" rIns="0" bIns="0" anchor="t">
            <a:noAutofit/>
          </a:bodyPr>
          <a:lstStyle/>
          <a:p>
            <a:pPr algn="l"/>
            <a:r>
              <a:rPr sz="5400" b="1" i="0">
                <a:solidFill>
                  <a:srgbClr val="2E1065"/>
                </a:solidFill>
                <a:latin typeface="Segoe UI"/>
                <a:ea typeface="Segoe UI"/>
                <a:cs typeface="Segoe UI"/>
              </a:rPr>
              <a:t>~5×</a:t>
            </a:r>
          </a:p>
        </p:txBody>
      </p:sp>
      <p:sp>
        <p:nvSpPr>
          <p:cNvPr id="9029" name="!!bigstatlbl"/>
          <p:cNvSpPr txBox="1"/>
          <p:nvPr/>
        </p:nvSpPr>
        <p:spPr>
          <a:xfrm>
            <a:off x="8915400" y="3520440"/>
            <a:ext cx="2441448" cy="64008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the 52-point target</a:t>
            </a:r>
          </a:p>
        </p:txBody>
      </p:sp>
      <p:cxnSp>
        <p:nvCxnSpPr>
          <p:cNvPr id="9030" name="!!rdiv"/>
          <p:cNvCxnSpPr/>
          <p:nvPr/>
        </p:nvCxnSpPr>
        <p:spPr>
          <a:xfrm>
            <a:off x="8915400" y="4343400"/>
            <a:ext cx="2441448" cy="0"/>
          </a:xfrm>
          <a:prstGeom prst="line">
            <a:avLst/>
          </a:prstGeom>
          <a:ln w="12700">
            <a:solidFill>
              <a:srgbClr val="D3DCE6"/>
            </a:solidFill>
          </a:ln>
        </p:spPr>
        <p:style>
          <a:lnRef idx="2">
            <a:schemeClr val="accent1"/>
          </a:lnRef>
          <a:fillRef idx="0">
            <a:schemeClr val="accent1"/>
          </a:fillRef>
          <a:effectRef idx="1">
            <a:schemeClr val="accent1"/>
          </a:effectRef>
          <a:fontRef idx="minor">
            <a:schemeClr val="tx1"/>
          </a:fontRef>
        </p:style>
      </p:cxnSp>
      <p:sp>
        <p:nvSpPr>
          <p:cNvPr id="9031" name="!!stat2"/>
          <p:cNvSpPr txBox="1"/>
          <p:nvPr/>
        </p:nvSpPr>
        <p:spPr>
          <a:xfrm>
            <a:off x="8915400" y="4480560"/>
            <a:ext cx="2441448" cy="548640"/>
          </a:xfrm>
          <a:prstGeom prst="rect">
            <a:avLst/>
          </a:prstGeom>
          <a:noFill/>
        </p:spPr>
        <p:txBody>
          <a:bodyPr wrap="square" lIns="0" tIns="0" rIns="0" bIns="0" anchor="t">
            <a:noAutofit/>
          </a:bodyPr>
          <a:lstStyle/>
          <a:p>
            <a:pPr algn="l"/>
            <a:r>
              <a:rPr sz="3200" b="1" i="0">
                <a:solidFill>
                  <a:srgbClr val="2E1065"/>
                </a:solidFill>
                <a:latin typeface="Segoe UI"/>
                <a:ea typeface="Segoe UI"/>
                <a:cs typeface="Segoe UI"/>
              </a:rPr>
              <a:t>~11×</a:t>
            </a:r>
          </a:p>
        </p:txBody>
      </p:sp>
      <p:sp>
        <p:nvSpPr>
          <p:cNvPr id="9032" name="!!stat2lbl"/>
          <p:cNvSpPr txBox="1"/>
          <p:nvPr/>
        </p:nvSpPr>
        <p:spPr>
          <a:xfrm>
            <a:off x="8915400" y="5029200"/>
            <a:ext cx="2441448" cy="36576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where I started</a:t>
            </a:r>
          </a:p>
        </p:txBody>
      </p:sp>
      <p:sp>
        <p:nvSpPr>
          <p:cNvPr id="9033" name="Footnote"/>
          <p:cNvSpPr txBox="1"/>
          <p:nvPr/>
        </p:nvSpPr>
        <p:spPr>
          <a:xfrm>
            <a:off x="841248" y="5870448"/>
            <a:ext cx="10515600" cy="329184"/>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263 points while operational work was still about half my time </a:t>
            </a:r>
            <a:r>
              <a:rPr sz="1400" b="0" i="1">
                <a:solidFill>
                  <a:srgbClr val="5F6670"/>
                </a:solidFill>
                <a:latin typeface="Segoe UI"/>
                <a:ea typeface="Segoe UI"/>
                <a:cs typeface="Segoe UI"/>
              </a:rPr>
              <a:t>(an overall average, not a daily split)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It </a:t>
            </a:r>
            <a:r>
              <a:rPr lang="en-US" dirty="0"/>
              <a:t>isn’t</a:t>
            </a:r>
            <a:r>
              <a:rPr dirty="0"/>
              <a:t> one build; it</a:t>
            </a:r>
            <a:r>
              <a:rPr lang="en-US" dirty="0"/>
              <a:t>’s a growth engine</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THE PIVOT</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4</a:t>
            </a:fld>
            <a:endParaRPr lang="en-US"/>
          </a:p>
        </p:txBody>
      </p:sp>
      <p:sp>
        <p:nvSpPr>
          <p:cNvPr id="9002" name="FlywheelRing"/>
          <p:cNvSpPr/>
          <p:nvPr/>
        </p:nvSpPr>
        <p:spPr>
          <a:xfrm>
            <a:off x="1737360" y="2167127"/>
            <a:ext cx="3383280" cy="3383280"/>
          </a:xfrm>
          <a:prstGeom prst="ellipse">
            <a:avLst/>
          </a:prstGeom>
          <a:noFill/>
          <a:ln w="635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Isosceles Triangle 9002"/>
          <p:cNvSpPr/>
          <p:nvPr/>
        </p:nvSpPr>
        <p:spPr>
          <a:xfrm rot="8100000">
            <a:off x="4469722" y="2507149"/>
            <a:ext cx="310896" cy="310896"/>
          </a:xfrm>
          <a:prstGeom prst="triangl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4" name="Isosceles Triangle 9003"/>
          <p:cNvSpPr/>
          <p:nvPr/>
        </p:nvSpPr>
        <p:spPr>
          <a:xfrm rot="13500000">
            <a:off x="4469722" y="4899490"/>
            <a:ext cx="310896" cy="310896"/>
          </a:xfrm>
          <a:prstGeom prst="triangl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5" name="Isosceles Triangle 9004"/>
          <p:cNvSpPr/>
          <p:nvPr/>
        </p:nvSpPr>
        <p:spPr>
          <a:xfrm rot="18900000">
            <a:off x="2077381" y="4899490"/>
            <a:ext cx="310896" cy="310896"/>
          </a:xfrm>
          <a:prstGeom prst="triangl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6" name="Isosceles Triangle 9005"/>
          <p:cNvSpPr/>
          <p:nvPr/>
        </p:nvSpPr>
        <p:spPr>
          <a:xfrm rot="2700000">
            <a:off x="2077381" y="2507149"/>
            <a:ext cx="310896" cy="310896"/>
          </a:xfrm>
          <a:prstGeom prst="triangl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7" name="FlyNode0"/>
          <p:cNvSpPr/>
          <p:nvPr/>
        </p:nvSpPr>
        <p:spPr>
          <a:xfrm>
            <a:off x="2423160" y="1883663"/>
            <a:ext cx="2011680" cy="566928"/>
          </a:xfrm>
          <a:prstGeom prst="roundRect">
            <a:avLst>
              <a:gd name="adj" fmla="val 18000"/>
            </a:avLst>
          </a:prstGeom>
          <a:solidFill>
            <a:srgbClr val="FFFFFF"/>
          </a:solidFill>
          <a:ln w="19050">
            <a:solidFill>
              <a:srgbClr val="2E1065"/>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500" b="1" i="0" dirty="0">
                <a:solidFill>
                  <a:srgbClr val="2E1065"/>
                </a:solidFill>
                <a:latin typeface="Segoe UI"/>
                <a:ea typeface="Segoe UI"/>
                <a:cs typeface="Segoe UI"/>
              </a:rPr>
              <a:t>Run an epic with AI</a:t>
            </a:r>
          </a:p>
        </p:txBody>
      </p:sp>
      <p:sp>
        <p:nvSpPr>
          <p:cNvPr id="9008" name="FlyNode1"/>
          <p:cNvSpPr/>
          <p:nvPr/>
        </p:nvSpPr>
        <p:spPr>
          <a:xfrm>
            <a:off x="4114800" y="3493008"/>
            <a:ext cx="2011680" cy="731520"/>
          </a:xfrm>
          <a:prstGeom prst="roundRect">
            <a:avLst>
              <a:gd name="adj" fmla="val 18000"/>
            </a:avLst>
          </a:prstGeom>
          <a:solidFill>
            <a:srgbClr val="FFFFFF"/>
          </a:solidFill>
          <a:ln w="19050">
            <a:solidFill>
              <a:srgbClr val="2E1065"/>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500" b="1" i="0">
                <a:solidFill>
                  <a:srgbClr val="2E1065"/>
                </a:solidFill>
                <a:latin typeface="Segoe UI"/>
                <a:ea typeface="Segoe UI"/>
                <a:cs typeface="Segoe UI"/>
              </a:rPr>
              <a:t>Capture memory, rules, and tooling</a:t>
            </a:r>
          </a:p>
        </p:txBody>
      </p:sp>
      <p:sp>
        <p:nvSpPr>
          <p:cNvPr id="9009" name="FlyNode2"/>
          <p:cNvSpPr/>
          <p:nvPr/>
        </p:nvSpPr>
        <p:spPr>
          <a:xfrm>
            <a:off x="2423160" y="5184648"/>
            <a:ext cx="2011680" cy="731520"/>
          </a:xfrm>
          <a:prstGeom prst="roundRect">
            <a:avLst>
              <a:gd name="adj" fmla="val 18000"/>
            </a:avLst>
          </a:prstGeom>
          <a:solidFill>
            <a:srgbClr val="FFFFFF"/>
          </a:solidFill>
          <a:ln w="19050">
            <a:solidFill>
              <a:srgbClr val="2E1065"/>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500" b="1" i="0">
                <a:solidFill>
                  <a:srgbClr val="2E1065"/>
                </a:solidFill>
                <a:latin typeface="Segoe UI"/>
                <a:ea typeface="Segoe UI"/>
                <a:cs typeface="Segoe UI"/>
              </a:rPr>
              <a:t>The next epic starts further ahead</a:t>
            </a:r>
          </a:p>
        </p:txBody>
      </p:sp>
      <p:sp>
        <p:nvSpPr>
          <p:cNvPr id="9010" name="FlyNode3"/>
          <p:cNvSpPr/>
          <p:nvPr/>
        </p:nvSpPr>
        <p:spPr>
          <a:xfrm>
            <a:off x="891539" y="3493008"/>
            <a:ext cx="1691640" cy="731520"/>
          </a:xfrm>
          <a:prstGeom prst="roundRect">
            <a:avLst>
              <a:gd name="adj" fmla="val 18000"/>
            </a:avLst>
          </a:prstGeom>
          <a:solidFill>
            <a:srgbClr val="FFFFFF"/>
          </a:solidFill>
          <a:ln w="19050">
            <a:solidFill>
              <a:srgbClr val="2E1065"/>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500" b="1" i="0" dirty="0">
                <a:solidFill>
                  <a:srgbClr val="2E1065"/>
                </a:solidFill>
                <a:latin typeface="Segoe UI"/>
                <a:ea typeface="Segoe UI"/>
                <a:cs typeface="Segoe UI"/>
              </a:rPr>
              <a:t>The system </a:t>
            </a:r>
            <a:r>
              <a:rPr lang="en-US" sz="1500" b="1" i="0" dirty="0">
                <a:solidFill>
                  <a:srgbClr val="2E1065"/>
                </a:solidFill>
                <a:latin typeface="Segoe UI"/>
                <a:ea typeface="Segoe UI"/>
                <a:cs typeface="Segoe UI"/>
              </a:rPr>
              <a:t>snowballs</a:t>
            </a:r>
            <a:endParaRPr sz="1500" b="1" i="0" dirty="0">
              <a:solidFill>
                <a:srgbClr val="2E1065"/>
              </a:solidFill>
              <a:latin typeface="Segoe UI"/>
              <a:ea typeface="Segoe UI"/>
              <a:cs typeface="Segoe UI"/>
            </a:endParaRPr>
          </a:p>
        </p:txBody>
      </p:sp>
      <p:sp>
        <p:nvSpPr>
          <p:cNvPr id="9011" name="Oval 9010"/>
          <p:cNvSpPr/>
          <p:nvPr/>
        </p:nvSpPr>
        <p:spPr>
          <a:xfrm>
            <a:off x="3044952" y="3127248"/>
            <a:ext cx="768096" cy="768096"/>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2" name="Picture 9011" descr="Robot icon"/>
          <p:cNvPicPr>
            <a:picLocks noChangeAspect="1"/>
          </p:cNvPicPr>
          <p:nvPr/>
        </p:nvPicPr>
        <p:blipFill>
          <a:blip r:embed="rId3"/>
          <a:stretch>
            <a:fillRect/>
          </a:stretch>
        </p:blipFill>
        <p:spPr>
          <a:xfrm>
            <a:off x="3213933" y="3296229"/>
            <a:ext cx="430133" cy="430133"/>
          </a:xfrm>
          <a:prstGeom prst="rect">
            <a:avLst/>
          </a:prstGeom>
        </p:spPr>
      </p:pic>
      <p:sp>
        <p:nvSpPr>
          <p:cNvPr id="9013" name="TextBox 9012"/>
          <p:cNvSpPr txBox="1"/>
          <p:nvPr/>
        </p:nvSpPr>
        <p:spPr>
          <a:xfrm>
            <a:off x="2715768" y="3968496"/>
            <a:ext cx="1426464" cy="566928"/>
          </a:xfrm>
          <a:prstGeom prst="rect">
            <a:avLst/>
          </a:prstGeom>
          <a:noFill/>
        </p:spPr>
        <p:txBody>
          <a:bodyPr wrap="square" lIns="0" tIns="0" rIns="0" bIns="0" anchor="t">
            <a:noAutofit/>
          </a:bodyPr>
          <a:lstStyle/>
          <a:p>
            <a:pPr algn="ctr"/>
            <a:r>
              <a:rPr sz="1400" b="1" i="0">
                <a:solidFill>
                  <a:srgbClr val="7C3AED"/>
                </a:solidFill>
                <a:latin typeface="Segoe UI"/>
                <a:ea typeface="Segoe UI"/>
                <a:cs typeface="Segoe UI"/>
              </a:rPr>
              <a:t>Each PI better than the last</a:t>
            </a:r>
          </a:p>
        </p:txBody>
      </p:sp>
      <p:sp>
        <p:nvSpPr>
          <p:cNvPr id="9014" name="TextBox 9013"/>
          <p:cNvSpPr txBox="1"/>
          <p:nvPr/>
        </p:nvSpPr>
        <p:spPr>
          <a:xfrm>
            <a:off x="6355080" y="1645920"/>
            <a:ext cx="5001768" cy="320040"/>
          </a:xfrm>
          <a:prstGeom prst="rect">
            <a:avLst/>
          </a:prstGeom>
          <a:noFill/>
        </p:spPr>
        <p:txBody>
          <a:bodyPr wrap="square" lIns="0" tIns="0" rIns="0" bIns="0" anchor="t">
            <a:noAutofit/>
          </a:bodyPr>
          <a:lstStyle/>
          <a:p>
            <a:pPr algn="l"/>
            <a:r>
              <a:rPr sz="1800" b="0" i="0" dirty="0">
                <a:solidFill>
                  <a:srgbClr val="5F6670"/>
                </a:solidFill>
                <a:latin typeface="Segoe UI"/>
                <a:ea typeface="Segoe UI"/>
                <a:cs typeface="Segoe UI"/>
              </a:rPr>
              <a:t>After the experiment, people ask</a:t>
            </a:r>
            <a:r>
              <a:rPr lang="en-US" sz="1800" b="0" i="0" dirty="0">
                <a:solidFill>
                  <a:srgbClr val="5F6670"/>
                </a:solidFill>
                <a:latin typeface="Segoe UI"/>
                <a:ea typeface="Segoe UI"/>
                <a:cs typeface="Segoe UI"/>
              </a:rPr>
              <a:t>ed</a:t>
            </a:r>
            <a:r>
              <a:rPr sz="1800" b="0" i="0" dirty="0">
                <a:solidFill>
                  <a:srgbClr val="5F6670"/>
                </a:solidFill>
                <a:latin typeface="Segoe UI"/>
                <a:ea typeface="Segoe UI"/>
                <a:cs typeface="Segoe UI"/>
              </a:rPr>
              <a:t>:</a:t>
            </a:r>
          </a:p>
        </p:txBody>
      </p:sp>
      <p:sp>
        <p:nvSpPr>
          <p:cNvPr id="9015" name="TextBox 9014"/>
          <p:cNvSpPr txBox="1"/>
          <p:nvPr/>
        </p:nvSpPr>
        <p:spPr>
          <a:xfrm>
            <a:off x="6355080" y="1965960"/>
            <a:ext cx="5001768" cy="777240"/>
          </a:xfrm>
          <a:prstGeom prst="rect">
            <a:avLst/>
          </a:prstGeom>
          <a:noFill/>
        </p:spPr>
        <p:txBody>
          <a:bodyPr wrap="square" lIns="0" tIns="0" rIns="0" bIns="0" anchor="t">
            <a:noAutofit/>
          </a:bodyPr>
          <a:lstStyle/>
          <a:p>
            <a:pPr algn="l"/>
            <a:r>
              <a:rPr sz="2200" b="1" i="1" dirty="0">
                <a:solidFill>
                  <a:srgbClr val="2E1065"/>
                </a:solidFill>
                <a:latin typeface="Segoe UI"/>
                <a:ea typeface="Segoe UI"/>
                <a:cs typeface="Segoe UI"/>
              </a:rPr>
              <a:t>“How did you do it, and how can we?”</a:t>
            </a:r>
          </a:p>
        </p:txBody>
      </p:sp>
      <p:sp>
        <p:nvSpPr>
          <p:cNvPr id="9016" name="TextBox 9015"/>
          <p:cNvSpPr txBox="1"/>
          <p:nvPr/>
        </p:nvSpPr>
        <p:spPr>
          <a:xfrm>
            <a:off x="6355080" y="2816352"/>
            <a:ext cx="5001768" cy="1143000"/>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So</a:t>
            </a:r>
            <a:r>
              <a:rPr lang="en-US" sz="1800" b="1" i="0" dirty="0">
                <a:solidFill>
                  <a:srgbClr val="2E1065"/>
                </a:solidFill>
                <a:latin typeface="Segoe UI"/>
                <a:ea typeface="Segoe UI"/>
                <a:cs typeface="Segoe UI"/>
              </a:rPr>
              <a:t>,</a:t>
            </a:r>
            <a:r>
              <a:rPr sz="1800" b="1" i="0" dirty="0">
                <a:solidFill>
                  <a:srgbClr val="2E1065"/>
                </a:solidFill>
                <a:latin typeface="Segoe UI"/>
                <a:ea typeface="Segoe UI"/>
                <a:cs typeface="Segoe UI"/>
              </a:rPr>
              <a:t> the goal changed: </a:t>
            </a:r>
            <a:r>
              <a:rPr sz="1800" b="0" i="0" dirty="0">
                <a:solidFill>
                  <a:srgbClr val="3A3A3A"/>
                </a:solidFill>
                <a:latin typeface="Segoe UI"/>
                <a:ea typeface="Segoe UI"/>
                <a:cs typeface="Segoe UI"/>
              </a:rPr>
              <a:t>from </a:t>
            </a:r>
            <a:r>
              <a:rPr lang="en-US" sz="1800" b="0" i="0" dirty="0">
                <a:solidFill>
                  <a:srgbClr val="3A3A3A"/>
                </a:solidFill>
                <a:latin typeface="Segoe UI"/>
                <a:ea typeface="Segoe UI"/>
                <a:cs typeface="Segoe UI"/>
              </a:rPr>
              <a:t>something that made </a:t>
            </a:r>
            <a:r>
              <a:rPr lang="en-US" sz="1800" b="1" i="0" dirty="0">
                <a:solidFill>
                  <a:srgbClr val="3A3A3A"/>
                </a:solidFill>
                <a:latin typeface="Segoe UI"/>
                <a:ea typeface="Segoe UI"/>
                <a:cs typeface="Segoe UI"/>
              </a:rPr>
              <a:t>me</a:t>
            </a:r>
            <a:r>
              <a:rPr lang="en-US" sz="1800" b="0" i="0" dirty="0">
                <a:solidFill>
                  <a:srgbClr val="3A3A3A"/>
                </a:solidFill>
                <a:latin typeface="Segoe UI"/>
                <a:ea typeface="Segoe UI"/>
                <a:cs typeface="Segoe UI"/>
              </a:rPr>
              <a:t> faster to something that makes </a:t>
            </a:r>
            <a:r>
              <a:rPr lang="en-US" sz="1800" b="1" i="0" dirty="0">
                <a:solidFill>
                  <a:srgbClr val="3A3A3A"/>
                </a:solidFill>
                <a:latin typeface="Segoe UI"/>
                <a:ea typeface="Segoe UI"/>
                <a:cs typeface="Segoe UI"/>
              </a:rPr>
              <a:t>us</a:t>
            </a:r>
            <a:r>
              <a:rPr lang="en-US" sz="1800" b="0" i="0" dirty="0">
                <a:solidFill>
                  <a:srgbClr val="3A3A3A"/>
                </a:solidFill>
                <a:latin typeface="Segoe UI"/>
                <a:ea typeface="Segoe UI"/>
                <a:cs typeface="Segoe UI"/>
              </a:rPr>
              <a:t> faster, by b</a:t>
            </a:r>
            <a:r>
              <a:rPr sz="1800" b="0" i="0" dirty="0">
                <a:solidFill>
                  <a:srgbClr val="3A3A3A"/>
                </a:solidFill>
                <a:latin typeface="Segoe UI"/>
                <a:ea typeface="Segoe UI"/>
                <a:cs typeface="Segoe UI"/>
              </a:rPr>
              <a:t>uilding a system anyone can run, starting anywhere in the process, with any AI tool.</a:t>
            </a:r>
          </a:p>
        </p:txBody>
      </p:sp>
      <p:sp>
        <p:nvSpPr>
          <p:cNvPr id="9017" name="TextBox 9016"/>
          <p:cNvSpPr txBox="1"/>
          <p:nvPr/>
        </p:nvSpPr>
        <p:spPr>
          <a:xfrm>
            <a:off x="6355080" y="4315968"/>
            <a:ext cx="5001768" cy="320040"/>
          </a:xfrm>
          <a:prstGeom prst="rect">
            <a:avLst/>
          </a:prstGeom>
          <a:noFill/>
        </p:spPr>
        <p:txBody>
          <a:bodyPr wrap="square" lIns="0" tIns="0" rIns="0" bIns="0" anchor="t">
            <a:noAutofit/>
          </a:bodyPr>
          <a:lstStyle/>
          <a:p>
            <a:pPr algn="l"/>
            <a:r>
              <a:rPr sz="1600" b="1" i="0">
                <a:solidFill>
                  <a:srgbClr val="2E1065"/>
                </a:solidFill>
                <a:latin typeface="Segoe UI"/>
                <a:ea typeface="Segoe UI"/>
                <a:cs typeface="Segoe UI"/>
              </a:rPr>
              <a:t>Six AI-assisted epics so far</a:t>
            </a:r>
          </a:p>
        </p:txBody>
      </p:sp>
      <p:sp>
        <p:nvSpPr>
          <p:cNvPr id="9018" name="EpicChip0"/>
          <p:cNvSpPr/>
          <p:nvPr/>
        </p:nvSpPr>
        <p:spPr>
          <a:xfrm>
            <a:off x="6355080" y="4572000"/>
            <a:ext cx="1481328" cy="153619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9" name="TextBox 9018"/>
          <p:cNvSpPr txBox="1"/>
          <p:nvPr/>
        </p:nvSpPr>
        <p:spPr>
          <a:xfrm>
            <a:off x="6464808" y="4626864"/>
            <a:ext cx="1261872"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1</a:t>
            </a:r>
            <a:r>
              <a:rPr sz="1600" b="1" i="0">
                <a:solidFill>
                  <a:srgbClr val="2E1065"/>
                </a:solidFill>
                <a:latin typeface="Segoe UI"/>
                <a:ea typeface="Segoe UI"/>
                <a:cs typeface="Segoe UI"/>
              </a:rPr>
              <a:t> epic</a:t>
            </a:r>
          </a:p>
        </p:txBody>
      </p:sp>
      <p:sp>
        <p:nvSpPr>
          <p:cNvPr id="9020" name="TextBox 9019"/>
          <p:cNvSpPr txBox="1"/>
          <p:nvPr/>
        </p:nvSpPr>
        <p:spPr>
          <a:xfrm>
            <a:off x="6464808" y="5175504"/>
            <a:ext cx="1261872" cy="274320"/>
          </a:xfrm>
          <a:prstGeom prst="rect">
            <a:avLst/>
          </a:prstGeom>
          <a:noFill/>
        </p:spPr>
        <p:txBody>
          <a:bodyPr wrap="square" lIns="0" tIns="0" rIns="0" bIns="0" anchor="t">
            <a:noAutofit/>
          </a:bodyPr>
          <a:lstStyle/>
          <a:p>
            <a:pPr algn="l"/>
            <a:r>
              <a:rPr sz="1400" b="1" i="0">
                <a:solidFill>
                  <a:srgbClr val="3A3A3A"/>
                </a:solidFill>
                <a:latin typeface="Segoe UI"/>
                <a:ea typeface="Segoe UI"/>
                <a:cs typeface="Segoe UI"/>
              </a:rPr>
              <a:t>FY26 PI-2</a:t>
            </a:r>
          </a:p>
        </p:txBody>
      </p:sp>
      <p:sp>
        <p:nvSpPr>
          <p:cNvPr id="9021" name="TextBox 9020"/>
          <p:cNvSpPr txBox="1"/>
          <p:nvPr/>
        </p:nvSpPr>
        <p:spPr>
          <a:xfrm>
            <a:off x="6464808" y="5431536"/>
            <a:ext cx="1261872" cy="64008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The experiment</a:t>
            </a:r>
          </a:p>
        </p:txBody>
      </p:sp>
      <p:cxnSp>
        <p:nvCxnSpPr>
          <p:cNvPr id="9022" name="Connector 9021"/>
          <p:cNvCxnSpPr/>
          <p:nvPr/>
        </p:nvCxnSpPr>
        <p:spPr>
          <a:xfrm flipV="1">
            <a:off x="7863840" y="5285232"/>
            <a:ext cx="224028" cy="54864"/>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3" name="EpicChip1"/>
          <p:cNvSpPr/>
          <p:nvPr/>
        </p:nvSpPr>
        <p:spPr>
          <a:xfrm>
            <a:off x="8115300" y="4572000"/>
            <a:ext cx="1481328" cy="1536192"/>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4" name="TextBox 9023"/>
          <p:cNvSpPr txBox="1"/>
          <p:nvPr/>
        </p:nvSpPr>
        <p:spPr>
          <a:xfrm>
            <a:off x="8225027" y="4626864"/>
            <a:ext cx="1261872" cy="548640"/>
          </a:xfrm>
          <a:prstGeom prst="rect">
            <a:avLst/>
          </a:prstGeom>
          <a:noFill/>
        </p:spPr>
        <p:txBody>
          <a:bodyPr wrap="square" lIns="0" tIns="0" rIns="0" bIns="0" anchor="t">
            <a:noAutofit/>
          </a:bodyPr>
          <a:lstStyle/>
          <a:p>
            <a:pPr algn="l"/>
            <a:r>
              <a:rPr sz="3000" b="1" i="0">
                <a:solidFill>
                  <a:srgbClr val="FFFFFF"/>
                </a:solidFill>
                <a:latin typeface="Segoe UI"/>
                <a:ea typeface="Segoe UI"/>
                <a:cs typeface="Segoe UI"/>
              </a:rPr>
              <a:t>4</a:t>
            </a:r>
            <a:r>
              <a:rPr sz="1600" b="1" i="0">
                <a:solidFill>
                  <a:srgbClr val="FFFFFF"/>
                </a:solidFill>
                <a:latin typeface="Segoe UI"/>
                <a:ea typeface="Segoe UI"/>
                <a:cs typeface="Segoe UI"/>
              </a:rPr>
              <a:t> epics</a:t>
            </a:r>
          </a:p>
        </p:txBody>
      </p:sp>
      <p:sp>
        <p:nvSpPr>
          <p:cNvPr id="9025" name="TextBox 9024"/>
          <p:cNvSpPr txBox="1"/>
          <p:nvPr/>
        </p:nvSpPr>
        <p:spPr>
          <a:xfrm>
            <a:off x="8225027" y="5175504"/>
            <a:ext cx="1261872" cy="274320"/>
          </a:xfrm>
          <a:prstGeom prst="rect">
            <a:avLst/>
          </a:prstGeom>
          <a:noFill/>
        </p:spPr>
        <p:txBody>
          <a:bodyPr wrap="square" lIns="0" tIns="0" rIns="0" bIns="0" anchor="t">
            <a:noAutofit/>
          </a:bodyPr>
          <a:lstStyle/>
          <a:p>
            <a:pPr algn="l"/>
            <a:r>
              <a:rPr sz="1400" b="1" i="0">
                <a:solidFill>
                  <a:srgbClr val="FFFFFF"/>
                </a:solidFill>
                <a:latin typeface="Segoe UI"/>
                <a:ea typeface="Segoe UI"/>
                <a:cs typeface="Segoe UI"/>
              </a:rPr>
              <a:t>FY26 PI-3</a:t>
            </a:r>
          </a:p>
        </p:txBody>
      </p:sp>
      <p:sp>
        <p:nvSpPr>
          <p:cNvPr id="9026" name="TextBox 9025"/>
          <p:cNvSpPr txBox="1"/>
          <p:nvPr/>
        </p:nvSpPr>
        <p:spPr>
          <a:xfrm>
            <a:off x="8225027" y="5431536"/>
            <a:ext cx="1261872" cy="64008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Each faster than the last</a:t>
            </a:r>
          </a:p>
        </p:txBody>
      </p:sp>
      <p:cxnSp>
        <p:nvCxnSpPr>
          <p:cNvPr id="9027" name="Connector 9026"/>
          <p:cNvCxnSpPr/>
          <p:nvPr/>
        </p:nvCxnSpPr>
        <p:spPr>
          <a:xfrm flipV="1">
            <a:off x="9624060" y="5285232"/>
            <a:ext cx="224028" cy="54864"/>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8" name="EpicChip2"/>
          <p:cNvSpPr/>
          <p:nvPr/>
        </p:nvSpPr>
        <p:spPr>
          <a:xfrm>
            <a:off x="9875520" y="4572000"/>
            <a:ext cx="1481328" cy="1536192"/>
          </a:xfrm>
          <a:prstGeom prst="roundRect">
            <a:avLst>
              <a:gd name="adj" fmla="val 8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9" name="TextBox 9028"/>
          <p:cNvSpPr txBox="1"/>
          <p:nvPr/>
        </p:nvSpPr>
        <p:spPr>
          <a:xfrm>
            <a:off x="9985248" y="4626864"/>
            <a:ext cx="1261872" cy="548640"/>
          </a:xfrm>
          <a:prstGeom prst="rect">
            <a:avLst/>
          </a:prstGeom>
          <a:noFill/>
        </p:spPr>
        <p:txBody>
          <a:bodyPr wrap="square" lIns="0" tIns="0" rIns="0" bIns="0" anchor="t">
            <a:noAutofit/>
          </a:bodyPr>
          <a:lstStyle/>
          <a:p>
            <a:pPr algn="l"/>
            <a:r>
              <a:rPr sz="3000" b="1" i="0">
                <a:solidFill>
                  <a:srgbClr val="FFFFFF"/>
                </a:solidFill>
                <a:latin typeface="Segoe UI"/>
                <a:ea typeface="Segoe UI"/>
                <a:cs typeface="Segoe UI"/>
              </a:rPr>
              <a:t>6th</a:t>
            </a:r>
            <a:r>
              <a:rPr sz="1600" b="1" i="0">
                <a:solidFill>
                  <a:srgbClr val="FFFFFF"/>
                </a:solidFill>
                <a:latin typeface="Segoe UI"/>
                <a:ea typeface="Segoe UI"/>
                <a:cs typeface="Segoe UI"/>
              </a:rPr>
              <a:t> epic</a:t>
            </a:r>
          </a:p>
        </p:txBody>
      </p:sp>
      <p:sp>
        <p:nvSpPr>
          <p:cNvPr id="9030" name="TextBox 9029"/>
          <p:cNvSpPr txBox="1"/>
          <p:nvPr/>
        </p:nvSpPr>
        <p:spPr>
          <a:xfrm>
            <a:off x="9985248" y="5175504"/>
            <a:ext cx="1261872" cy="274320"/>
          </a:xfrm>
          <a:prstGeom prst="rect">
            <a:avLst/>
          </a:prstGeom>
          <a:noFill/>
        </p:spPr>
        <p:txBody>
          <a:bodyPr wrap="square" lIns="0" tIns="0" rIns="0" bIns="0" anchor="t">
            <a:noAutofit/>
          </a:bodyPr>
          <a:lstStyle/>
          <a:p>
            <a:pPr algn="l"/>
            <a:r>
              <a:rPr sz="1400" b="1" i="0">
                <a:solidFill>
                  <a:srgbClr val="FFFFFF"/>
                </a:solidFill>
                <a:latin typeface="Segoe UI"/>
                <a:ea typeface="Segoe UI"/>
                <a:cs typeface="Segoe UI"/>
              </a:rPr>
              <a:t>FY27 PI-1</a:t>
            </a:r>
          </a:p>
        </p:txBody>
      </p:sp>
      <p:sp>
        <p:nvSpPr>
          <p:cNvPr id="9031" name="TextBox 9030"/>
          <p:cNvSpPr txBox="1"/>
          <p:nvPr/>
        </p:nvSpPr>
        <p:spPr>
          <a:xfrm>
            <a:off x="9985248" y="5431536"/>
            <a:ext cx="1261872" cy="640080"/>
          </a:xfrm>
          <a:prstGeom prst="rect">
            <a:avLst/>
          </a:prstGeom>
          <a:noFill/>
        </p:spPr>
        <p:txBody>
          <a:bodyPr wrap="square" lIns="0" tIns="0" rIns="0" bIns="0" anchor="t">
            <a:noAutofit/>
          </a:bodyPr>
          <a:lstStyle/>
          <a:p>
            <a:pPr algn="l"/>
            <a:r>
              <a:rPr lang="en-US" sz="1400" b="0" i="0" dirty="0">
                <a:solidFill>
                  <a:srgbClr val="FFFFFF"/>
                </a:solidFill>
                <a:latin typeface="Segoe UI"/>
                <a:ea typeface="Segoe UI"/>
                <a:cs typeface="Segoe UI"/>
              </a:rPr>
              <a:t>Built in </a:t>
            </a:r>
            <a:r>
              <a:rPr sz="1400" b="0" i="0" dirty="0">
                <a:solidFill>
                  <a:srgbClr val="FFFFFF"/>
                </a:solidFill>
                <a:latin typeface="Segoe UI"/>
                <a:ea typeface="Segoe UI"/>
                <a:cs typeface="Segoe UI"/>
              </a:rPr>
              <a:t>a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960120"/>
            <a:ext cx="10515600" cy="1600200"/>
          </a:xfrm>
        </p:spPr>
        <p:txBody>
          <a:bodyPr/>
          <a:lstStyle/>
          <a:p>
            <a:pPr algn="l"/>
            <a:r>
              <a:rPr sz="3800" b="1" i="0" dirty="0">
                <a:solidFill>
                  <a:srgbClr val="FFFFFF"/>
                </a:solidFill>
                <a:latin typeface="Segoe UI"/>
                <a:ea typeface="Segoe UI"/>
                <a:cs typeface="Segoe UI"/>
              </a:rPr>
              <a:t>AI </a:t>
            </a:r>
            <a:r>
              <a:rPr lang="en-US" b="0" dirty="0">
                <a:solidFill>
                  <a:srgbClr val="FFFFFF"/>
                </a:solidFill>
                <a:latin typeface="Segoe UI"/>
                <a:ea typeface="Segoe UI"/>
                <a:cs typeface="Segoe UI"/>
              </a:rPr>
              <a:t>helps you go </a:t>
            </a:r>
            <a:r>
              <a:rPr lang="en-US" sz="3800" b="1" i="0" dirty="0">
                <a:solidFill>
                  <a:srgbClr val="FFFFFF"/>
                </a:solidFill>
                <a:latin typeface="Segoe UI"/>
                <a:ea typeface="Segoe UI"/>
                <a:cs typeface="Segoe UI"/>
              </a:rPr>
              <a:t>faster</a:t>
            </a:r>
            <a:r>
              <a:rPr sz="3800" b="1" i="0" dirty="0">
                <a:solidFill>
                  <a:srgbClr val="FFFFFF"/>
                </a:solidFill>
                <a:latin typeface="Segoe UI"/>
                <a:ea typeface="Segoe UI"/>
                <a:cs typeface="Segoe UI"/>
              </a:rPr>
              <a:t>.</a:t>
            </a:r>
          </a:p>
          <a:p>
            <a:pPr algn="l"/>
            <a:r>
              <a:rPr lang="en-US" sz="3800" b="1" i="0" dirty="0">
                <a:solidFill>
                  <a:srgbClr val="FFFFFF"/>
                </a:solidFill>
                <a:latin typeface="Segoe UI"/>
                <a:ea typeface="Segoe UI"/>
                <a:cs typeface="Segoe UI"/>
              </a:rPr>
              <a:t>Structure </a:t>
            </a:r>
            <a:r>
              <a:rPr lang="en-US" sz="3800" b="0" i="0" dirty="0">
                <a:solidFill>
                  <a:srgbClr val="FFFFFF"/>
                </a:solidFill>
                <a:latin typeface="Segoe UI"/>
                <a:ea typeface="Segoe UI"/>
                <a:cs typeface="Segoe UI"/>
              </a:rPr>
              <a:t>helps you </a:t>
            </a:r>
            <a:r>
              <a:rPr lang="en-US" sz="3800" b="1" i="0" dirty="0">
                <a:solidFill>
                  <a:srgbClr val="FFFFFF"/>
                </a:solidFill>
                <a:latin typeface="Segoe UI"/>
                <a:ea typeface="Segoe UI"/>
                <a:cs typeface="Segoe UI"/>
              </a:rPr>
              <a:t>navigate at speed</a:t>
            </a:r>
            <a:r>
              <a:rPr sz="3800" b="1" i="0" dirty="0">
                <a:solidFill>
                  <a:srgbClr val="FFFFFF"/>
                </a:solidFill>
                <a:latin typeface="Segoe UI"/>
                <a:ea typeface="Segoe UI"/>
                <a:cs typeface="Segoe UI"/>
              </a:rPr>
              <a:t>.</a:t>
            </a:r>
            <a:br>
              <a:rPr lang="en-US" sz="3800" b="1" i="0" dirty="0">
                <a:solidFill>
                  <a:srgbClr val="FFFFFF"/>
                </a:solidFill>
                <a:latin typeface="Segoe UI"/>
                <a:ea typeface="Segoe UI"/>
                <a:cs typeface="Segoe UI"/>
              </a:rPr>
            </a:br>
            <a:r>
              <a:rPr lang="en-US" sz="3800" b="1" i="0" dirty="0">
                <a:solidFill>
                  <a:srgbClr val="FFFFFF"/>
                </a:solidFill>
                <a:latin typeface="Segoe UI"/>
                <a:ea typeface="Segoe UI"/>
                <a:cs typeface="Segoe UI"/>
              </a:rPr>
              <a:t>Context </a:t>
            </a:r>
            <a:r>
              <a:rPr lang="en-US" sz="3800" b="0" i="0" dirty="0">
                <a:solidFill>
                  <a:srgbClr val="FFFFFF"/>
                </a:solidFill>
                <a:latin typeface="Segoe UI"/>
                <a:ea typeface="Segoe UI"/>
                <a:cs typeface="Segoe UI"/>
              </a:rPr>
              <a:t>helps you </a:t>
            </a:r>
            <a:r>
              <a:rPr lang="en-US" sz="3800" b="1" i="0" dirty="0">
                <a:solidFill>
                  <a:srgbClr val="FFFFFF"/>
                </a:solidFill>
                <a:latin typeface="Segoe UI"/>
                <a:ea typeface="Segoe UI"/>
                <a:cs typeface="Segoe UI"/>
              </a:rPr>
              <a:t>remember the shortcuts.</a:t>
            </a:r>
            <a:endParaRPr sz="3800" b="1" i="0" dirty="0">
              <a:solidFill>
                <a:srgbClr val="FFFFFF"/>
              </a:solidFill>
              <a:latin typeface="Segoe UI"/>
              <a:ea typeface="Segoe UI"/>
              <a:cs typeface="Segoe UI"/>
            </a:endParaRPr>
          </a:p>
        </p:txBody>
      </p:sp>
      <p:sp>
        <p:nvSpPr>
          <p:cNvPr id="3" name="TextBox 2"/>
          <p:cNvSpPr txBox="1"/>
          <p:nvPr/>
        </p:nvSpPr>
        <p:spPr>
          <a:xfrm>
            <a:off x="841248" y="566928"/>
            <a:ext cx="5486400" cy="292608"/>
          </a:xfrm>
          <a:prstGeom prst="rect">
            <a:avLst/>
          </a:prstGeom>
          <a:noFill/>
        </p:spPr>
        <p:txBody>
          <a:bodyPr wrap="square" lIns="0" tIns="0" rIns="0" bIns="0" anchor="t">
            <a:noAutofit/>
          </a:bodyPr>
          <a:lstStyle/>
          <a:p>
            <a:pPr algn="l"/>
            <a:r>
              <a:rPr sz="1400" b="1" i="0">
                <a:solidFill>
                  <a:srgbClr val="FFFFFF"/>
                </a:solidFill>
                <a:latin typeface="Segoe UI"/>
                <a:ea typeface="Segoe UI"/>
                <a:cs typeface="Segoe UI"/>
              </a:rPr>
              <a:t>THE THESIS</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5</a:t>
            </a:fld>
            <a:endParaRPr lang="en-US"/>
          </a:p>
        </p:txBody>
      </p:sp>
      <p:sp>
        <p:nvSpPr>
          <p:cNvPr id="9002" name="Pillar0"/>
          <p:cNvSpPr/>
          <p:nvPr/>
        </p:nvSpPr>
        <p:spPr>
          <a:xfrm>
            <a:off x="841248" y="3246120"/>
            <a:ext cx="3346704" cy="228600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97280" y="3456432"/>
            <a:ext cx="713232" cy="713232"/>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AI is the engine icon"/>
          <p:cNvPicPr>
            <a:picLocks noChangeAspect="1"/>
          </p:cNvPicPr>
          <p:nvPr/>
        </p:nvPicPr>
        <p:blipFill>
          <a:blip r:embed="rId3"/>
          <a:stretch>
            <a:fillRect/>
          </a:stretch>
        </p:blipFill>
        <p:spPr>
          <a:xfrm>
            <a:off x="1254191" y="3613343"/>
            <a:ext cx="399409" cy="399409"/>
          </a:xfrm>
          <a:prstGeom prst="rect">
            <a:avLst/>
          </a:prstGeom>
        </p:spPr>
      </p:pic>
      <p:sp>
        <p:nvSpPr>
          <p:cNvPr id="9005" name="TextBox 9004"/>
          <p:cNvSpPr txBox="1"/>
          <p:nvPr/>
        </p:nvSpPr>
        <p:spPr>
          <a:xfrm>
            <a:off x="1892807" y="3456432"/>
            <a:ext cx="2212848" cy="713232"/>
          </a:xfrm>
          <a:prstGeom prst="rect">
            <a:avLst/>
          </a:prstGeom>
          <a:noFill/>
        </p:spPr>
        <p:txBody>
          <a:bodyPr wrap="square" lIns="0" tIns="0" rIns="0" bIns="0" anchor="ctr">
            <a:noAutofit/>
          </a:bodyPr>
          <a:lstStyle/>
          <a:p>
            <a:pPr algn="l"/>
            <a:r>
              <a:rPr sz="1900" b="1" i="0">
                <a:solidFill>
                  <a:srgbClr val="FFFFFF"/>
                </a:solidFill>
                <a:latin typeface="Segoe UI"/>
                <a:ea typeface="Segoe UI"/>
                <a:cs typeface="Segoe UI"/>
              </a:rPr>
              <a:t>AI is the engine</a:t>
            </a:r>
          </a:p>
        </p:txBody>
      </p:sp>
      <p:sp>
        <p:nvSpPr>
          <p:cNvPr id="9006" name="TextBox 9005"/>
          <p:cNvSpPr txBox="1"/>
          <p:nvPr/>
        </p:nvSpPr>
        <p:spPr>
          <a:xfrm>
            <a:off x="1097280" y="4343400"/>
            <a:ext cx="2834640" cy="1325880"/>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The agent does the heavy lifting: code, tests, diagrams, and docs. Speed is the easy part now.</a:t>
            </a:r>
          </a:p>
        </p:txBody>
      </p:sp>
      <p:sp>
        <p:nvSpPr>
          <p:cNvPr id="9007" name="Pillar1"/>
          <p:cNvSpPr/>
          <p:nvPr/>
        </p:nvSpPr>
        <p:spPr>
          <a:xfrm>
            <a:off x="4425696" y="3246120"/>
            <a:ext cx="3346704" cy="228600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4681728" y="3456432"/>
            <a:ext cx="713232" cy="713232"/>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Structure steers icon"/>
          <p:cNvPicPr>
            <a:picLocks noChangeAspect="1"/>
          </p:cNvPicPr>
          <p:nvPr/>
        </p:nvPicPr>
        <p:blipFill>
          <a:blip r:embed="rId4"/>
          <a:stretch>
            <a:fillRect/>
          </a:stretch>
        </p:blipFill>
        <p:spPr>
          <a:xfrm>
            <a:off x="4838639" y="3613343"/>
            <a:ext cx="399409" cy="399409"/>
          </a:xfrm>
          <a:prstGeom prst="rect">
            <a:avLst/>
          </a:prstGeom>
        </p:spPr>
      </p:pic>
      <p:sp>
        <p:nvSpPr>
          <p:cNvPr id="9010" name="TextBox 9009"/>
          <p:cNvSpPr txBox="1"/>
          <p:nvPr/>
        </p:nvSpPr>
        <p:spPr>
          <a:xfrm>
            <a:off x="5477256" y="3456432"/>
            <a:ext cx="2212848" cy="713232"/>
          </a:xfrm>
          <a:prstGeom prst="rect">
            <a:avLst/>
          </a:prstGeom>
          <a:noFill/>
        </p:spPr>
        <p:txBody>
          <a:bodyPr wrap="square" lIns="0" tIns="0" rIns="0" bIns="0" anchor="ctr">
            <a:noAutofit/>
          </a:bodyPr>
          <a:lstStyle/>
          <a:p>
            <a:pPr algn="l"/>
            <a:r>
              <a:rPr sz="1900" b="1" i="0">
                <a:solidFill>
                  <a:srgbClr val="FFFFFF"/>
                </a:solidFill>
                <a:latin typeface="Segoe UI"/>
                <a:ea typeface="Segoe UI"/>
                <a:cs typeface="Segoe UI"/>
              </a:rPr>
              <a:t>Structure steers</a:t>
            </a:r>
          </a:p>
        </p:txBody>
      </p:sp>
      <p:sp>
        <p:nvSpPr>
          <p:cNvPr id="9011" name="TextBox 9010"/>
          <p:cNvSpPr txBox="1"/>
          <p:nvPr/>
        </p:nvSpPr>
        <p:spPr>
          <a:xfrm>
            <a:off x="4681728" y="4343400"/>
            <a:ext cx="2834640" cy="1325880"/>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A lifecycle, a Definition of Done, and guardrails keep the speed headed the right way.</a:t>
            </a:r>
          </a:p>
        </p:txBody>
      </p:sp>
      <p:sp>
        <p:nvSpPr>
          <p:cNvPr id="9012" name="Pillar2"/>
          <p:cNvSpPr/>
          <p:nvPr/>
        </p:nvSpPr>
        <p:spPr>
          <a:xfrm>
            <a:off x="8010144" y="3246120"/>
            <a:ext cx="3346704" cy="228600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Oval 9012"/>
          <p:cNvSpPr/>
          <p:nvPr/>
        </p:nvSpPr>
        <p:spPr>
          <a:xfrm>
            <a:off x="8266175" y="3456432"/>
            <a:ext cx="713232" cy="713232"/>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4" name="Picture 9013" descr="Context is the map icon"/>
          <p:cNvPicPr>
            <a:picLocks noChangeAspect="1"/>
          </p:cNvPicPr>
          <p:nvPr/>
        </p:nvPicPr>
        <p:blipFill>
          <a:blip r:embed="rId5"/>
          <a:stretch>
            <a:fillRect/>
          </a:stretch>
        </p:blipFill>
        <p:spPr>
          <a:xfrm>
            <a:off x="8423087" y="3613343"/>
            <a:ext cx="399409" cy="399409"/>
          </a:xfrm>
          <a:prstGeom prst="rect">
            <a:avLst/>
          </a:prstGeom>
        </p:spPr>
      </p:pic>
      <p:sp>
        <p:nvSpPr>
          <p:cNvPr id="9015" name="TextBox 9014"/>
          <p:cNvSpPr txBox="1"/>
          <p:nvPr/>
        </p:nvSpPr>
        <p:spPr>
          <a:xfrm>
            <a:off x="9061704" y="3456432"/>
            <a:ext cx="2212848" cy="713232"/>
          </a:xfrm>
          <a:prstGeom prst="rect">
            <a:avLst/>
          </a:prstGeom>
          <a:noFill/>
        </p:spPr>
        <p:txBody>
          <a:bodyPr wrap="square" lIns="0" tIns="0" rIns="0" bIns="0" anchor="ctr">
            <a:noAutofit/>
          </a:bodyPr>
          <a:lstStyle/>
          <a:p>
            <a:pPr algn="l"/>
            <a:r>
              <a:rPr sz="1900" b="1" i="0">
                <a:solidFill>
                  <a:srgbClr val="FFFFFF"/>
                </a:solidFill>
                <a:latin typeface="Segoe UI"/>
                <a:ea typeface="Segoe UI"/>
                <a:cs typeface="Segoe UI"/>
              </a:rPr>
              <a:t>Context is the map</a:t>
            </a:r>
          </a:p>
        </p:txBody>
      </p:sp>
      <p:sp>
        <p:nvSpPr>
          <p:cNvPr id="9016" name="TextBox 9015"/>
          <p:cNvSpPr txBox="1"/>
          <p:nvPr/>
        </p:nvSpPr>
        <p:spPr>
          <a:xfrm>
            <a:off x="8266175" y="4343400"/>
            <a:ext cx="2834640" cy="1325880"/>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Agreements, decisions, and lessons live in the repo, so every session starts where the last one left off.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How most people use AI vs. what's possible</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WHY THIS MATTERS</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6</a:t>
            </a:fld>
            <a:endParaRPr lang="en-US"/>
          </a:p>
        </p:txBody>
      </p:sp>
      <p:sp>
        <p:nvSpPr>
          <p:cNvPr id="9002" name="GapLeftHdr"/>
          <p:cNvSpPr/>
          <p:nvPr/>
        </p:nvSpPr>
        <p:spPr>
          <a:xfrm>
            <a:off x="841248" y="1664208"/>
            <a:ext cx="4617720" cy="548640"/>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3" name="Picture 9002" descr="Chat bubble icon"/>
          <p:cNvPicPr>
            <a:picLocks noChangeAspect="1"/>
          </p:cNvPicPr>
          <p:nvPr/>
        </p:nvPicPr>
        <p:blipFill>
          <a:blip r:embed="rId3"/>
          <a:stretch>
            <a:fillRect/>
          </a:stretch>
        </p:blipFill>
        <p:spPr>
          <a:xfrm>
            <a:off x="978408" y="1755648"/>
            <a:ext cx="365760" cy="365760"/>
          </a:xfrm>
          <a:prstGeom prst="rect">
            <a:avLst/>
          </a:prstGeom>
        </p:spPr>
      </p:pic>
      <p:sp>
        <p:nvSpPr>
          <p:cNvPr id="9004" name="TextBox 9003"/>
          <p:cNvSpPr txBox="1"/>
          <p:nvPr/>
        </p:nvSpPr>
        <p:spPr>
          <a:xfrm>
            <a:off x="1463040" y="1664208"/>
            <a:ext cx="3886200" cy="548640"/>
          </a:xfrm>
          <a:prstGeom prst="rect">
            <a:avLst/>
          </a:prstGeom>
          <a:noFill/>
        </p:spPr>
        <p:txBody>
          <a:bodyPr wrap="square" lIns="0" tIns="0" rIns="0" bIns="0" anchor="ctr">
            <a:noAutofit/>
          </a:bodyPr>
          <a:lstStyle/>
          <a:p>
            <a:pPr algn="l"/>
            <a:r>
              <a:rPr lang="en-US" sz="2000" b="1" i="0" dirty="0">
                <a:solidFill>
                  <a:srgbClr val="5F6670"/>
                </a:solidFill>
                <a:latin typeface="Segoe UI"/>
                <a:ea typeface="Segoe UI"/>
                <a:cs typeface="Segoe UI"/>
              </a:rPr>
              <a:t>AI as a chat bot</a:t>
            </a:r>
            <a:endParaRPr sz="2000" b="1" i="0" dirty="0">
              <a:solidFill>
                <a:srgbClr val="5F6670"/>
              </a:solidFill>
              <a:latin typeface="Segoe UI"/>
              <a:ea typeface="Segoe UI"/>
              <a:cs typeface="Segoe UI"/>
            </a:endParaRPr>
          </a:p>
        </p:txBody>
      </p:sp>
      <p:sp>
        <p:nvSpPr>
          <p:cNvPr id="9005" name="GapRightHdr"/>
          <p:cNvSpPr/>
          <p:nvPr/>
        </p:nvSpPr>
        <p:spPr>
          <a:xfrm>
            <a:off x="6144768" y="1664208"/>
            <a:ext cx="5212080" cy="548640"/>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6" name="Picture 9005" descr="Robot icon"/>
          <p:cNvPicPr>
            <a:picLocks noChangeAspect="1"/>
          </p:cNvPicPr>
          <p:nvPr/>
        </p:nvPicPr>
        <p:blipFill>
          <a:blip r:embed="rId4"/>
          <a:stretch>
            <a:fillRect/>
          </a:stretch>
        </p:blipFill>
        <p:spPr>
          <a:xfrm>
            <a:off x="6281928" y="1755648"/>
            <a:ext cx="365760" cy="365760"/>
          </a:xfrm>
          <a:prstGeom prst="rect">
            <a:avLst/>
          </a:prstGeom>
        </p:spPr>
      </p:pic>
      <p:sp>
        <p:nvSpPr>
          <p:cNvPr id="9007" name="TextBox 9006"/>
          <p:cNvSpPr txBox="1"/>
          <p:nvPr/>
        </p:nvSpPr>
        <p:spPr>
          <a:xfrm>
            <a:off x="6766559" y="1664208"/>
            <a:ext cx="4480560" cy="548640"/>
          </a:xfrm>
          <a:prstGeom prst="rect">
            <a:avLst/>
          </a:prstGeom>
          <a:noFill/>
        </p:spPr>
        <p:txBody>
          <a:bodyPr wrap="square" lIns="0" tIns="0" rIns="0" bIns="0" anchor="ctr">
            <a:noAutofit/>
          </a:bodyPr>
          <a:lstStyle/>
          <a:p>
            <a:pPr algn="l"/>
            <a:r>
              <a:rPr lang="en-US" sz="2000" b="1" i="0" dirty="0">
                <a:solidFill>
                  <a:srgbClr val="FFFFFF"/>
                </a:solidFill>
                <a:latin typeface="Segoe UI"/>
                <a:ea typeface="Segoe UI"/>
                <a:cs typeface="Segoe UI"/>
              </a:rPr>
              <a:t>AI as an</a:t>
            </a:r>
            <a:r>
              <a:rPr sz="2000" b="1" i="0" dirty="0">
                <a:solidFill>
                  <a:srgbClr val="FFFFFF"/>
                </a:solidFill>
                <a:latin typeface="Segoe UI"/>
                <a:ea typeface="Segoe UI"/>
                <a:cs typeface="Segoe UI"/>
              </a:rPr>
              <a:t> engineering partner</a:t>
            </a:r>
          </a:p>
        </p:txBody>
      </p:sp>
      <p:sp>
        <p:nvSpPr>
          <p:cNvPr id="9008" name="GapL0"/>
          <p:cNvSpPr/>
          <p:nvPr/>
        </p:nvSpPr>
        <p:spPr>
          <a:xfrm>
            <a:off x="841248" y="2359152"/>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dirty="0">
                <a:solidFill>
                  <a:srgbClr val="3A3A3A"/>
                </a:solidFill>
                <a:latin typeface="Segoe UI"/>
                <a:ea typeface="Segoe UI"/>
                <a:cs typeface="Segoe UI"/>
              </a:rPr>
              <a:t>Ask</a:t>
            </a:r>
            <a:r>
              <a:rPr lang="en-US" dirty="0">
                <a:solidFill>
                  <a:srgbClr val="3A3A3A"/>
                </a:solidFill>
                <a:latin typeface="Segoe UI"/>
                <a:ea typeface="Segoe UI"/>
                <a:cs typeface="Segoe UI"/>
              </a:rPr>
              <a:t> </a:t>
            </a:r>
            <a:r>
              <a:rPr lang="en-US" sz="1800" b="0" i="0" dirty="0">
                <a:solidFill>
                  <a:srgbClr val="3A3A3A"/>
                </a:solidFill>
                <a:latin typeface="Segoe UI"/>
                <a:ea typeface="Segoe UI"/>
                <a:cs typeface="Segoe UI"/>
              </a:rPr>
              <a:t>question</a:t>
            </a:r>
            <a:r>
              <a:rPr sz="1800" b="0" i="0" dirty="0">
                <a:solidFill>
                  <a:srgbClr val="3A3A3A"/>
                </a:solidFill>
                <a:latin typeface="Segoe UI"/>
                <a:ea typeface="Segoe UI"/>
                <a:cs typeface="Segoe UI"/>
              </a:rPr>
              <a:t>, paste</a:t>
            </a:r>
            <a:r>
              <a:rPr lang="en-US" sz="1800" b="0" i="0" dirty="0">
                <a:solidFill>
                  <a:srgbClr val="3A3A3A"/>
                </a:solidFill>
                <a:latin typeface="Segoe UI"/>
                <a:ea typeface="Segoe UI"/>
                <a:cs typeface="Segoe UI"/>
              </a:rPr>
              <a:t> answer</a:t>
            </a:r>
            <a:r>
              <a:rPr sz="1800" b="0" i="0" dirty="0">
                <a:solidFill>
                  <a:srgbClr val="3A3A3A"/>
                </a:solidFill>
                <a:latin typeface="Segoe UI"/>
                <a:ea typeface="Segoe UI"/>
                <a:cs typeface="Segoe UI"/>
              </a:rPr>
              <a:t>, hope</a:t>
            </a:r>
            <a:r>
              <a:rPr lang="en-US" sz="1800" b="0" i="0" dirty="0">
                <a:solidFill>
                  <a:srgbClr val="3A3A3A"/>
                </a:solidFill>
                <a:latin typeface="Segoe UI"/>
                <a:ea typeface="Segoe UI"/>
                <a:cs typeface="Segoe UI"/>
              </a:rPr>
              <a:t> it works</a:t>
            </a:r>
            <a:endParaRPr sz="1800" b="0" i="0" dirty="0">
              <a:solidFill>
                <a:srgbClr val="3A3A3A"/>
              </a:solidFill>
              <a:latin typeface="Segoe UI"/>
              <a:ea typeface="Segoe UI"/>
              <a:cs typeface="Segoe UI"/>
            </a:endParaRPr>
          </a:p>
        </p:txBody>
      </p:sp>
      <p:sp>
        <p:nvSpPr>
          <p:cNvPr id="9009" name="GapArrow0"/>
          <p:cNvSpPr/>
          <p:nvPr/>
        </p:nvSpPr>
        <p:spPr>
          <a:xfrm>
            <a:off x="5650992" y="2459736"/>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0" name="GapR0"/>
          <p:cNvSpPr/>
          <p:nvPr/>
        </p:nvSpPr>
        <p:spPr>
          <a:xfrm>
            <a:off x="6144768" y="2359152"/>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a:solidFill>
                  <a:srgbClr val="2E1065"/>
                </a:solidFill>
                <a:latin typeface="Segoe UI"/>
                <a:ea typeface="Segoe UI"/>
                <a:cs typeface="Segoe UI"/>
              </a:rPr>
              <a:t>A full lifecycle, from idea to release</a:t>
            </a:r>
          </a:p>
        </p:txBody>
      </p:sp>
      <p:sp>
        <p:nvSpPr>
          <p:cNvPr id="9011" name="GapL1"/>
          <p:cNvSpPr/>
          <p:nvPr/>
        </p:nvSpPr>
        <p:spPr>
          <a:xfrm>
            <a:off x="841248" y="2935224"/>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a:solidFill>
                  <a:srgbClr val="3A3A3A"/>
                </a:solidFill>
                <a:latin typeface="Segoe UI"/>
                <a:ea typeface="Segoe UI"/>
                <a:cs typeface="Segoe UI"/>
              </a:rPr>
              <a:t>One story or one bug at a time</a:t>
            </a:r>
          </a:p>
        </p:txBody>
      </p:sp>
      <p:sp>
        <p:nvSpPr>
          <p:cNvPr id="9012" name="GapArrow1"/>
          <p:cNvSpPr/>
          <p:nvPr/>
        </p:nvSpPr>
        <p:spPr>
          <a:xfrm>
            <a:off x="5650992" y="3035808"/>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GapR1"/>
          <p:cNvSpPr/>
          <p:nvPr/>
        </p:nvSpPr>
        <p:spPr>
          <a:xfrm>
            <a:off x="6144768" y="2935224"/>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a:solidFill>
                  <a:srgbClr val="2E1065"/>
                </a:solidFill>
                <a:latin typeface="Segoe UI"/>
                <a:ea typeface="Segoe UI"/>
                <a:cs typeface="Segoe UI"/>
              </a:rPr>
              <a:t>Whole epics, end to end</a:t>
            </a:r>
          </a:p>
        </p:txBody>
      </p:sp>
      <p:sp>
        <p:nvSpPr>
          <p:cNvPr id="9014" name="GapL2"/>
          <p:cNvSpPr/>
          <p:nvPr/>
        </p:nvSpPr>
        <p:spPr>
          <a:xfrm>
            <a:off x="841248" y="3511296"/>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dirty="0">
                <a:solidFill>
                  <a:srgbClr val="3A3A3A"/>
                </a:solidFill>
                <a:latin typeface="Segoe UI"/>
                <a:ea typeface="Segoe UI"/>
                <a:cs typeface="Segoe UI"/>
              </a:rPr>
              <a:t>Re-explain the project every chat</a:t>
            </a:r>
          </a:p>
        </p:txBody>
      </p:sp>
      <p:sp>
        <p:nvSpPr>
          <p:cNvPr id="9015" name="GapArrow2"/>
          <p:cNvSpPr/>
          <p:nvPr/>
        </p:nvSpPr>
        <p:spPr>
          <a:xfrm>
            <a:off x="5650992" y="3611879"/>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6" name="GapR2"/>
          <p:cNvSpPr/>
          <p:nvPr/>
        </p:nvSpPr>
        <p:spPr>
          <a:xfrm>
            <a:off x="6144768" y="3511296"/>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dirty="0">
                <a:solidFill>
                  <a:srgbClr val="2E1065"/>
                </a:solidFill>
                <a:latin typeface="Segoe UI"/>
                <a:ea typeface="Segoe UI"/>
                <a:cs typeface="Segoe UI"/>
              </a:rPr>
              <a:t>The repo </a:t>
            </a:r>
            <a:r>
              <a:rPr lang="en-US" sz="1800" b="1" i="0" dirty="0">
                <a:solidFill>
                  <a:srgbClr val="2E1065"/>
                </a:solidFill>
                <a:latin typeface="Segoe UI"/>
                <a:ea typeface="Segoe UI"/>
                <a:cs typeface="Segoe UI"/>
              </a:rPr>
              <a:t>holds the context</a:t>
            </a:r>
            <a:endParaRPr sz="1800" b="1" i="0" dirty="0">
              <a:solidFill>
                <a:srgbClr val="2E1065"/>
              </a:solidFill>
              <a:latin typeface="Segoe UI"/>
              <a:ea typeface="Segoe UI"/>
              <a:cs typeface="Segoe UI"/>
            </a:endParaRPr>
          </a:p>
        </p:txBody>
      </p:sp>
      <p:sp>
        <p:nvSpPr>
          <p:cNvPr id="9017" name="GapL3"/>
          <p:cNvSpPr/>
          <p:nvPr/>
        </p:nvSpPr>
        <p:spPr>
          <a:xfrm>
            <a:off x="841248" y="4087368"/>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a:solidFill>
                  <a:srgbClr val="3A3A3A"/>
                </a:solidFill>
                <a:latin typeface="Segoe UI"/>
                <a:ea typeface="Segoe UI"/>
                <a:cs typeface="Segoe UI"/>
              </a:rPr>
              <a:t>Fluent answers mistaken for correct ones</a:t>
            </a:r>
          </a:p>
        </p:txBody>
      </p:sp>
      <p:sp>
        <p:nvSpPr>
          <p:cNvPr id="9018" name="GapArrow3"/>
          <p:cNvSpPr/>
          <p:nvPr/>
        </p:nvSpPr>
        <p:spPr>
          <a:xfrm>
            <a:off x="5650992" y="4187952"/>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9" name="GapR3"/>
          <p:cNvSpPr/>
          <p:nvPr/>
        </p:nvSpPr>
        <p:spPr>
          <a:xfrm>
            <a:off x="6144768" y="4087368"/>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a:solidFill>
                  <a:srgbClr val="2E1065"/>
                </a:solidFill>
                <a:latin typeface="Segoe UI"/>
                <a:ea typeface="Segoe UI"/>
                <a:cs typeface="Segoe UI"/>
              </a:rPr>
              <a:t>A Definition of Done with tests and docs</a:t>
            </a:r>
          </a:p>
        </p:txBody>
      </p:sp>
      <p:sp>
        <p:nvSpPr>
          <p:cNvPr id="9020" name="GapL4"/>
          <p:cNvSpPr/>
          <p:nvPr/>
        </p:nvSpPr>
        <p:spPr>
          <a:xfrm>
            <a:off x="841248" y="4663440"/>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a:solidFill>
                  <a:srgbClr val="3A3A3A"/>
                </a:solidFill>
                <a:latin typeface="Segoe UI"/>
                <a:ea typeface="Segoe UI"/>
                <a:cs typeface="Segoe UI"/>
              </a:rPr>
              <a:t>Hope nothing irreversible happens</a:t>
            </a:r>
          </a:p>
        </p:txBody>
      </p:sp>
      <p:sp>
        <p:nvSpPr>
          <p:cNvPr id="9021" name="GapArrow4"/>
          <p:cNvSpPr/>
          <p:nvPr/>
        </p:nvSpPr>
        <p:spPr>
          <a:xfrm>
            <a:off x="5650992" y="4764024"/>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2" name="GapR4"/>
          <p:cNvSpPr/>
          <p:nvPr/>
        </p:nvSpPr>
        <p:spPr>
          <a:xfrm>
            <a:off x="6144768" y="4663440"/>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a:solidFill>
                  <a:srgbClr val="2E1065"/>
                </a:solidFill>
                <a:latin typeface="Segoe UI"/>
                <a:ea typeface="Segoe UI"/>
                <a:cs typeface="Segoe UI"/>
              </a:rPr>
              <a:t>Guardrails on anything irreversible</a:t>
            </a:r>
          </a:p>
        </p:txBody>
      </p:sp>
      <p:sp>
        <p:nvSpPr>
          <p:cNvPr id="9023" name="GapL5"/>
          <p:cNvSpPr/>
          <p:nvPr/>
        </p:nvSpPr>
        <p:spPr>
          <a:xfrm>
            <a:off x="841248" y="5239512"/>
            <a:ext cx="4617720" cy="484632"/>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0" i="0">
                <a:solidFill>
                  <a:srgbClr val="3A3A3A"/>
                </a:solidFill>
                <a:latin typeface="Segoe UI"/>
                <a:ea typeface="Segoe UI"/>
                <a:cs typeface="Segoe UI"/>
              </a:rPr>
              <a:t>The same mistake, again and again</a:t>
            </a:r>
          </a:p>
        </p:txBody>
      </p:sp>
      <p:sp>
        <p:nvSpPr>
          <p:cNvPr id="9024" name="GapArrow5"/>
          <p:cNvSpPr/>
          <p:nvPr/>
        </p:nvSpPr>
        <p:spPr>
          <a:xfrm>
            <a:off x="5650992" y="5340096"/>
            <a:ext cx="347472" cy="2834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5" name="GapR5"/>
          <p:cNvSpPr/>
          <p:nvPr/>
        </p:nvSpPr>
        <p:spPr>
          <a:xfrm>
            <a:off x="6144768" y="5239512"/>
            <a:ext cx="5212080" cy="484632"/>
          </a:xfrm>
          <a:prstGeom prst="roundRect">
            <a:avLst>
              <a:gd name="adj" fmla="val 12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r>
              <a:rPr sz="1800" b="1" i="0">
                <a:solidFill>
                  <a:srgbClr val="2E1065"/>
                </a:solidFill>
                <a:latin typeface="Segoe UI"/>
                <a:ea typeface="Segoe UI"/>
                <a:cs typeface="Segoe UI"/>
              </a:rPr>
              <a:t>Every mistake becomes a written rule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Same roles, same artifacts, with AI helping every step</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lang="en-US" sz="1400" b="1" i="0" dirty="0">
                <a:solidFill>
                  <a:srgbClr val="DB2777"/>
                </a:solidFill>
                <a:latin typeface="Segoe UI"/>
                <a:ea typeface="Segoe UI"/>
                <a:cs typeface="Segoe UI"/>
              </a:rPr>
              <a:t>HOW DO YOU DO THE VOODOO THAT YOU DO</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7</a:t>
            </a:fld>
            <a:endParaRPr lang="en-US"/>
          </a:p>
        </p:txBody>
      </p:sp>
      <p:sp>
        <p:nvSpPr>
          <p:cNvPr id="9002" name="LblStep"/>
          <p:cNvSpPr txBox="1"/>
          <p:nvPr/>
        </p:nvSpPr>
        <p:spPr>
          <a:xfrm>
            <a:off x="841248" y="1627632"/>
            <a:ext cx="868680" cy="566928"/>
          </a:xfrm>
          <a:prstGeom prst="rect">
            <a:avLst/>
          </a:prstGeom>
          <a:noFill/>
        </p:spPr>
        <p:txBody>
          <a:bodyPr wrap="square" lIns="0" tIns="0" rIns="0" bIns="0" anchor="ctr">
            <a:noAutofit/>
          </a:bodyPr>
          <a:lstStyle/>
          <a:p>
            <a:pPr algn="l"/>
            <a:r>
              <a:rPr sz="1400" b="1" i="0">
                <a:solidFill>
                  <a:srgbClr val="5F6670"/>
                </a:solidFill>
                <a:latin typeface="Segoe UI"/>
                <a:ea typeface="Segoe UI"/>
                <a:cs typeface="Segoe UI"/>
              </a:rPr>
              <a:t>STEP</a:t>
            </a:r>
          </a:p>
        </p:txBody>
      </p:sp>
      <p:pic>
        <p:nvPicPr>
          <p:cNvPr id="9003" name="Picture 9002" descr="Who icon"/>
          <p:cNvPicPr>
            <a:picLocks noChangeAspect="1"/>
          </p:cNvPicPr>
          <p:nvPr/>
        </p:nvPicPr>
        <p:blipFill>
          <a:blip r:embed="rId3"/>
          <a:stretch>
            <a:fillRect/>
          </a:stretch>
        </p:blipFill>
        <p:spPr>
          <a:xfrm>
            <a:off x="841248" y="2386584"/>
            <a:ext cx="329184" cy="329184"/>
          </a:xfrm>
          <a:prstGeom prst="rect">
            <a:avLst/>
          </a:prstGeom>
        </p:spPr>
      </p:pic>
      <p:sp>
        <p:nvSpPr>
          <p:cNvPr id="9004" name="LblWho"/>
          <p:cNvSpPr txBox="1"/>
          <p:nvPr/>
        </p:nvSpPr>
        <p:spPr>
          <a:xfrm>
            <a:off x="841248" y="2734056"/>
            <a:ext cx="868680" cy="274320"/>
          </a:xfrm>
          <a:prstGeom prst="rect">
            <a:avLst/>
          </a:prstGeom>
          <a:noFill/>
        </p:spPr>
        <p:txBody>
          <a:bodyPr wrap="square" lIns="0" tIns="0" rIns="0" bIns="0" anchor="t">
            <a:noAutofit/>
          </a:bodyPr>
          <a:lstStyle/>
          <a:p>
            <a:pPr algn="l"/>
            <a:r>
              <a:rPr sz="1400" b="1" i="0">
                <a:solidFill>
                  <a:srgbClr val="2E1065"/>
                </a:solidFill>
                <a:latin typeface="Segoe UI"/>
                <a:ea typeface="Segoe UI"/>
                <a:cs typeface="Segoe UI"/>
              </a:rPr>
              <a:t>WHO</a:t>
            </a:r>
          </a:p>
        </p:txBody>
      </p:sp>
      <p:pic>
        <p:nvPicPr>
          <p:cNvPr id="9005" name="Picture 9004" descr="Output icon"/>
          <p:cNvPicPr>
            <a:picLocks noChangeAspect="1"/>
          </p:cNvPicPr>
          <p:nvPr/>
        </p:nvPicPr>
        <p:blipFill>
          <a:blip r:embed="rId4"/>
          <a:stretch>
            <a:fillRect/>
          </a:stretch>
        </p:blipFill>
        <p:spPr>
          <a:xfrm>
            <a:off x="841248" y="3255264"/>
            <a:ext cx="329184" cy="329184"/>
          </a:xfrm>
          <a:prstGeom prst="rect">
            <a:avLst/>
          </a:prstGeom>
        </p:spPr>
      </p:pic>
      <p:sp>
        <p:nvSpPr>
          <p:cNvPr id="9006" name="LblOutput"/>
          <p:cNvSpPr txBox="1"/>
          <p:nvPr/>
        </p:nvSpPr>
        <p:spPr>
          <a:xfrm>
            <a:off x="841248" y="3602736"/>
            <a:ext cx="868680" cy="274320"/>
          </a:xfrm>
          <a:prstGeom prst="rect">
            <a:avLst/>
          </a:prstGeom>
          <a:noFill/>
        </p:spPr>
        <p:txBody>
          <a:bodyPr wrap="square" lIns="0" tIns="0" rIns="0" bIns="0" anchor="t">
            <a:noAutofit/>
          </a:bodyPr>
          <a:lstStyle/>
          <a:p>
            <a:pPr algn="l"/>
            <a:r>
              <a:rPr sz="1400" b="1" i="0">
                <a:solidFill>
                  <a:srgbClr val="2E1065"/>
                </a:solidFill>
                <a:latin typeface="Segoe UI"/>
                <a:ea typeface="Segoe UI"/>
                <a:cs typeface="Segoe UI"/>
              </a:rPr>
              <a:t>OUTPUT</a:t>
            </a:r>
          </a:p>
        </p:txBody>
      </p:sp>
      <p:pic>
        <p:nvPicPr>
          <p:cNvPr id="9007" name="Picture 9006" descr="Ai Helps icon"/>
          <p:cNvPicPr>
            <a:picLocks noChangeAspect="1"/>
          </p:cNvPicPr>
          <p:nvPr/>
        </p:nvPicPr>
        <p:blipFill>
          <a:blip r:embed="rId5"/>
          <a:stretch>
            <a:fillRect/>
          </a:stretch>
        </p:blipFill>
        <p:spPr>
          <a:xfrm>
            <a:off x="841248" y="4352544"/>
            <a:ext cx="329184" cy="329184"/>
          </a:xfrm>
          <a:prstGeom prst="rect">
            <a:avLst/>
          </a:prstGeom>
        </p:spPr>
      </p:pic>
      <p:sp>
        <p:nvSpPr>
          <p:cNvPr id="9008" name="LblAiHelps"/>
          <p:cNvSpPr txBox="1"/>
          <p:nvPr/>
        </p:nvSpPr>
        <p:spPr>
          <a:xfrm>
            <a:off x="841248" y="4700016"/>
            <a:ext cx="86868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AI HELPS</a:t>
            </a:r>
          </a:p>
        </p:txBody>
      </p:sp>
      <p:sp>
        <p:nvSpPr>
          <p:cNvPr id="9009" name="Stage0"/>
          <p:cNvSpPr/>
          <p:nvPr/>
        </p:nvSpPr>
        <p:spPr>
          <a:xfrm>
            <a:off x="1764792" y="1627632"/>
            <a:ext cx="1687068" cy="566928"/>
          </a:xfrm>
          <a:prstGeom prst="homePlate">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i="0" dirty="0">
                <a:solidFill>
                  <a:srgbClr val="FFFFFF"/>
                </a:solidFill>
                <a:latin typeface="Segoe UI"/>
                <a:ea typeface="Segoe UI"/>
                <a:cs typeface="Segoe UI"/>
              </a:rPr>
              <a:t>Idea</a:t>
            </a:r>
            <a:r>
              <a:rPr lang="en-US" sz="1400" b="1" i="0" dirty="0">
                <a:solidFill>
                  <a:srgbClr val="FFFFFF"/>
                </a:solidFill>
                <a:latin typeface="Segoe UI"/>
                <a:ea typeface="Segoe UI"/>
                <a:cs typeface="Segoe UI"/>
              </a:rPr>
              <a:t>te</a:t>
            </a:r>
            <a:endParaRPr sz="1400" b="1" i="0" dirty="0">
              <a:solidFill>
                <a:srgbClr val="FFFFFF"/>
              </a:solidFill>
              <a:latin typeface="Segoe UI"/>
              <a:ea typeface="Segoe UI"/>
              <a:cs typeface="Segoe UI"/>
            </a:endParaRPr>
          </a:p>
        </p:txBody>
      </p:sp>
      <p:sp>
        <p:nvSpPr>
          <p:cNvPr id="9010" name="Who0"/>
          <p:cNvSpPr/>
          <p:nvPr/>
        </p:nvSpPr>
        <p:spPr>
          <a:xfrm>
            <a:off x="1828800"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1" i="0">
                <a:solidFill>
                  <a:srgbClr val="2E1065"/>
                </a:solidFill>
                <a:latin typeface="Segoe UI"/>
                <a:ea typeface="Segoe UI"/>
                <a:cs typeface="Segoe UI"/>
              </a:rPr>
              <a:t>Anyone: users, stakeholders, the team</a:t>
            </a:r>
          </a:p>
        </p:txBody>
      </p:sp>
      <p:sp>
        <p:nvSpPr>
          <p:cNvPr id="9011" name="Out0"/>
          <p:cNvSpPr/>
          <p:nvPr/>
        </p:nvSpPr>
        <p:spPr>
          <a:xfrm>
            <a:off x="1828800"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lang="en-US" sz="1400" b="0" i="0" dirty="0">
                <a:solidFill>
                  <a:srgbClr val="3A3A3A"/>
                </a:solidFill>
                <a:latin typeface="Segoe UI"/>
                <a:ea typeface="Segoe UI"/>
                <a:cs typeface="Segoe UI"/>
              </a:rPr>
              <a:t>Collect</a:t>
            </a:r>
            <a:r>
              <a:rPr sz="1400" b="0" i="0" dirty="0">
                <a:solidFill>
                  <a:srgbClr val="3A3A3A"/>
                </a:solidFill>
                <a:latin typeface="Segoe UI"/>
                <a:ea typeface="Segoe UI"/>
                <a:cs typeface="Segoe UI"/>
              </a:rPr>
              <a:t> ideas, brainstorms, and </a:t>
            </a:r>
            <a:r>
              <a:rPr lang="en-US" sz="1400" b="0" i="0" dirty="0">
                <a:solidFill>
                  <a:srgbClr val="3A3A3A"/>
                </a:solidFill>
                <a:latin typeface="Segoe UI"/>
                <a:ea typeface="Segoe UI"/>
                <a:cs typeface="Segoe UI"/>
              </a:rPr>
              <a:t>backlog</a:t>
            </a:r>
            <a:endParaRPr sz="1400" b="0" i="0" dirty="0">
              <a:solidFill>
                <a:srgbClr val="3A3A3A"/>
              </a:solidFill>
              <a:latin typeface="Segoe UI"/>
              <a:ea typeface="Segoe UI"/>
              <a:cs typeface="Segoe UI"/>
            </a:endParaRPr>
          </a:p>
        </p:txBody>
      </p:sp>
      <p:sp>
        <p:nvSpPr>
          <p:cNvPr id="9012" name="AI0"/>
          <p:cNvSpPr/>
          <p:nvPr/>
        </p:nvSpPr>
        <p:spPr>
          <a:xfrm>
            <a:off x="1828800"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dirty="0">
                <a:solidFill>
                  <a:srgbClr val="3A3A3A"/>
                </a:solidFill>
                <a:latin typeface="Segoe UI"/>
                <a:ea typeface="Segoe UI"/>
                <a:cs typeface="Segoe UI"/>
              </a:rPr>
              <a:t>Shapes raw ideas into a scope</a:t>
            </a:r>
          </a:p>
        </p:txBody>
      </p:sp>
      <p:sp>
        <p:nvSpPr>
          <p:cNvPr id="9013" name="Stage1"/>
          <p:cNvSpPr/>
          <p:nvPr/>
        </p:nvSpPr>
        <p:spPr>
          <a:xfrm>
            <a:off x="3360420" y="1627632"/>
            <a:ext cx="1687068" cy="566928"/>
          </a:xfrm>
          <a:prstGeom prst="chevron">
            <a:avLst>
              <a:gd name="adj" fmla="val 2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noAutofit/>
          </a:bodyPr>
          <a:lstStyle/>
          <a:p>
            <a:pPr algn="ctr"/>
            <a:r>
              <a:rPr lang="en-US" sz="1400" b="1" i="0" dirty="0">
                <a:solidFill>
                  <a:srgbClr val="FFFFFF"/>
                </a:solidFill>
                <a:latin typeface="Segoe UI"/>
                <a:ea typeface="Segoe UI"/>
                <a:cs typeface="Segoe UI"/>
              </a:rPr>
              <a:t>Define</a:t>
            </a:r>
            <a:endParaRPr sz="1400" b="1" i="0" dirty="0">
              <a:solidFill>
                <a:srgbClr val="FFFFFF"/>
              </a:solidFill>
              <a:latin typeface="Segoe UI"/>
              <a:ea typeface="Segoe UI"/>
              <a:cs typeface="Segoe UI"/>
            </a:endParaRPr>
          </a:p>
        </p:txBody>
      </p:sp>
      <p:sp>
        <p:nvSpPr>
          <p:cNvPr id="9014" name="Who1"/>
          <p:cNvSpPr/>
          <p:nvPr/>
        </p:nvSpPr>
        <p:spPr>
          <a:xfrm>
            <a:off x="3424428"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1" i="0" dirty="0">
                <a:solidFill>
                  <a:srgbClr val="2E1065"/>
                </a:solidFill>
                <a:latin typeface="Segoe UI"/>
                <a:ea typeface="Segoe UI"/>
                <a:cs typeface="Segoe UI"/>
              </a:rPr>
              <a:t>Product Manager</a:t>
            </a:r>
          </a:p>
        </p:txBody>
      </p:sp>
      <p:sp>
        <p:nvSpPr>
          <p:cNvPr id="9015" name="Out1"/>
          <p:cNvSpPr/>
          <p:nvPr/>
        </p:nvSpPr>
        <p:spPr>
          <a:xfrm>
            <a:off x="3424428"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lang="en-US" sz="1400" b="0" i="0" dirty="0">
                <a:solidFill>
                  <a:srgbClr val="3A3A3A"/>
                </a:solidFill>
                <a:latin typeface="Segoe UI"/>
                <a:ea typeface="Segoe UI"/>
                <a:cs typeface="Segoe UI"/>
              </a:rPr>
              <a:t>Product Requirements Doc (</a:t>
            </a:r>
            <a:r>
              <a:rPr sz="1400" b="0" i="0" dirty="0">
                <a:solidFill>
                  <a:srgbClr val="3A3A3A"/>
                </a:solidFill>
                <a:latin typeface="Segoe UI"/>
                <a:ea typeface="Segoe UI"/>
                <a:cs typeface="Segoe UI"/>
              </a:rPr>
              <a:t>PRD</a:t>
            </a:r>
            <a:r>
              <a:rPr lang="en-US" sz="1400" b="0" i="0" dirty="0">
                <a:solidFill>
                  <a:srgbClr val="3A3A3A"/>
                </a:solidFill>
                <a:latin typeface="Segoe UI"/>
                <a:ea typeface="Segoe UI"/>
                <a:cs typeface="Segoe UI"/>
              </a:rPr>
              <a:t>)</a:t>
            </a:r>
            <a:endParaRPr sz="1400" b="0" i="0" dirty="0">
              <a:solidFill>
                <a:srgbClr val="3A3A3A"/>
              </a:solidFill>
              <a:latin typeface="Segoe UI"/>
              <a:ea typeface="Segoe UI"/>
              <a:cs typeface="Segoe UI"/>
            </a:endParaRPr>
          </a:p>
        </p:txBody>
      </p:sp>
      <p:sp>
        <p:nvSpPr>
          <p:cNvPr id="9016" name="AI1"/>
          <p:cNvSpPr/>
          <p:nvPr/>
        </p:nvSpPr>
        <p:spPr>
          <a:xfrm>
            <a:off x="3424428"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a:solidFill>
                  <a:srgbClr val="3A3A3A"/>
                </a:solidFill>
                <a:latin typeface="Segoe UI"/>
                <a:ea typeface="Segoe UI"/>
                <a:cs typeface="Segoe UI"/>
              </a:rPr>
              <a:t>Drafts it and asks clarifying questions</a:t>
            </a:r>
          </a:p>
        </p:txBody>
      </p:sp>
      <p:sp>
        <p:nvSpPr>
          <p:cNvPr id="9017" name="Stage2"/>
          <p:cNvSpPr/>
          <p:nvPr/>
        </p:nvSpPr>
        <p:spPr>
          <a:xfrm>
            <a:off x="4956048" y="1627632"/>
            <a:ext cx="1687068" cy="566928"/>
          </a:xfrm>
          <a:prstGeom prst="chevron">
            <a:avLst>
              <a:gd name="adj" fmla="val 28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noAutofit/>
          </a:bodyPr>
          <a:lstStyle/>
          <a:p>
            <a:pPr algn="ctr"/>
            <a:r>
              <a:rPr lang="en-US" sz="1400" b="1" i="0" dirty="0">
                <a:solidFill>
                  <a:srgbClr val="FFFFFF"/>
                </a:solidFill>
                <a:latin typeface="Segoe UI"/>
                <a:ea typeface="Segoe UI"/>
                <a:cs typeface="Segoe UI"/>
              </a:rPr>
              <a:t>Design</a:t>
            </a:r>
            <a:endParaRPr sz="1400" b="1" i="0" dirty="0">
              <a:solidFill>
                <a:srgbClr val="FFFFFF"/>
              </a:solidFill>
              <a:latin typeface="Segoe UI"/>
              <a:ea typeface="Segoe UI"/>
              <a:cs typeface="Segoe UI"/>
            </a:endParaRPr>
          </a:p>
        </p:txBody>
      </p:sp>
      <p:sp>
        <p:nvSpPr>
          <p:cNvPr id="9018" name="Who2"/>
          <p:cNvSpPr/>
          <p:nvPr/>
        </p:nvSpPr>
        <p:spPr>
          <a:xfrm>
            <a:off x="5020056"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r>
              <a:rPr lang="en-US" sz="1400" b="1" dirty="0">
                <a:solidFill>
                  <a:srgbClr val="2E1065"/>
                </a:solidFill>
                <a:latin typeface="Segoe UI"/>
                <a:ea typeface="Segoe UI"/>
                <a:cs typeface="Segoe UI"/>
              </a:rPr>
              <a:t>Technical Architect</a:t>
            </a:r>
            <a:endParaRPr sz="1400" b="1" i="0" dirty="0">
              <a:solidFill>
                <a:srgbClr val="2E1065"/>
              </a:solidFill>
              <a:latin typeface="Segoe UI"/>
              <a:ea typeface="Segoe UI"/>
              <a:cs typeface="Segoe UI"/>
            </a:endParaRPr>
          </a:p>
        </p:txBody>
      </p:sp>
      <p:sp>
        <p:nvSpPr>
          <p:cNvPr id="9019" name="Out2"/>
          <p:cNvSpPr/>
          <p:nvPr/>
        </p:nvSpPr>
        <p:spPr>
          <a:xfrm>
            <a:off x="5020056"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lang="en-US" sz="1400" b="0" i="0" dirty="0">
                <a:solidFill>
                  <a:srgbClr val="3A3A3A"/>
                </a:solidFill>
                <a:latin typeface="Segoe UI"/>
                <a:ea typeface="Segoe UI"/>
                <a:cs typeface="Segoe UI"/>
              </a:rPr>
              <a:t>Technical Design Doc (</a:t>
            </a:r>
            <a:r>
              <a:rPr sz="1400" b="0" i="0" dirty="0">
                <a:solidFill>
                  <a:srgbClr val="3A3A3A"/>
                </a:solidFill>
                <a:latin typeface="Segoe UI"/>
                <a:ea typeface="Segoe UI"/>
                <a:cs typeface="Segoe UI"/>
              </a:rPr>
              <a:t>TDD</a:t>
            </a:r>
            <a:r>
              <a:rPr lang="en-US" sz="1400" b="0" i="0" dirty="0">
                <a:solidFill>
                  <a:srgbClr val="3A3A3A"/>
                </a:solidFill>
                <a:latin typeface="Segoe UI"/>
                <a:ea typeface="Segoe UI"/>
                <a:cs typeface="Segoe UI"/>
              </a:rPr>
              <a:t>)</a:t>
            </a:r>
            <a:endParaRPr sz="1400" b="0" i="0" dirty="0">
              <a:solidFill>
                <a:srgbClr val="3A3A3A"/>
              </a:solidFill>
              <a:latin typeface="Segoe UI"/>
              <a:ea typeface="Segoe UI"/>
              <a:cs typeface="Segoe UI"/>
            </a:endParaRPr>
          </a:p>
        </p:txBody>
      </p:sp>
      <p:sp>
        <p:nvSpPr>
          <p:cNvPr id="9020" name="AI2"/>
          <p:cNvSpPr/>
          <p:nvPr/>
        </p:nvSpPr>
        <p:spPr>
          <a:xfrm>
            <a:off x="5020056"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a:solidFill>
                  <a:srgbClr val="3A3A3A"/>
                </a:solidFill>
                <a:latin typeface="Segoe UI"/>
                <a:ea typeface="Segoe UI"/>
                <a:cs typeface="Segoe UI"/>
              </a:rPr>
              <a:t>Drafts the design and diagrams</a:t>
            </a:r>
          </a:p>
        </p:txBody>
      </p:sp>
      <p:sp>
        <p:nvSpPr>
          <p:cNvPr id="9021" name="Stage3"/>
          <p:cNvSpPr/>
          <p:nvPr/>
        </p:nvSpPr>
        <p:spPr>
          <a:xfrm>
            <a:off x="6551676" y="1627632"/>
            <a:ext cx="1687068" cy="566928"/>
          </a:xfrm>
          <a:prstGeom prst="chevron">
            <a:avLst>
              <a:gd name="adj" fmla="val 28000"/>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noAutofit/>
          </a:bodyPr>
          <a:lstStyle/>
          <a:p>
            <a:pPr algn="ctr"/>
            <a:r>
              <a:rPr lang="en-US" sz="1400" b="1" i="0" dirty="0">
                <a:solidFill>
                  <a:srgbClr val="FFFFFF"/>
                </a:solidFill>
                <a:latin typeface="Segoe UI"/>
                <a:ea typeface="Segoe UI"/>
                <a:cs typeface="Segoe UI"/>
              </a:rPr>
              <a:t>Write and Refine</a:t>
            </a:r>
            <a:endParaRPr sz="1400" b="1" i="0" dirty="0">
              <a:solidFill>
                <a:srgbClr val="FFFFFF"/>
              </a:solidFill>
              <a:latin typeface="Segoe UI"/>
              <a:ea typeface="Segoe UI"/>
              <a:cs typeface="Segoe UI"/>
            </a:endParaRPr>
          </a:p>
        </p:txBody>
      </p:sp>
      <p:sp>
        <p:nvSpPr>
          <p:cNvPr id="9022" name="Who3"/>
          <p:cNvSpPr/>
          <p:nvPr/>
        </p:nvSpPr>
        <p:spPr>
          <a:xfrm>
            <a:off x="6615684"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1" i="0" dirty="0">
                <a:solidFill>
                  <a:srgbClr val="2E1065"/>
                </a:solidFill>
                <a:latin typeface="Segoe UI"/>
                <a:ea typeface="Segoe UI"/>
                <a:cs typeface="Segoe UI"/>
              </a:rPr>
              <a:t>Product Owner</a:t>
            </a:r>
            <a:r>
              <a:rPr lang="en-US" sz="1400" b="1" i="0" dirty="0">
                <a:solidFill>
                  <a:srgbClr val="2E1065"/>
                </a:solidFill>
                <a:latin typeface="Segoe UI"/>
                <a:ea typeface="Segoe UI"/>
                <a:cs typeface="Segoe UI"/>
              </a:rPr>
              <a:t>, Business Analyst</a:t>
            </a:r>
            <a:endParaRPr sz="1400" b="1" i="0" dirty="0">
              <a:solidFill>
                <a:srgbClr val="2E1065"/>
              </a:solidFill>
              <a:latin typeface="Segoe UI"/>
              <a:ea typeface="Segoe UI"/>
              <a:cs typeface="Segoe UI"/>
            </a:endParaRPr>
          </a:p>
        </p:txBody>
      </p:sp>
      <p:sp>
        <p:nvSpPr>
          <p:cNvPr id="9023" name="Out3"/>
          <p:cNvSpPr/>
          <p:nvPr/>
        </p:nvSpPr>
        <p:spPr>
          <a:xfrm>
            <a:off x="6615684"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0" dirty="0">
                <a:solidFill>
                  <a:srgbClr val="3A3A3A"/>
                </a:solidFill>
                <a:latin typeface="Segoe UI"/>
                <a:ea typeface="Segoe UI"/>
                <a:cs typeface="Segoe UI"/>
              </a:rPr>
              <a:t>Epics, spikes, and stories with acceptance criteria</a:t>
            </a:r>
          </a:p>
        </p:txBody>
      </p:sp>
      <p:sp>
        <p:nvSpPr>
          <p:cNvPr id="9024" name="AI3"/>
          <p:cNvSpPr/>
          <p:nvPr/>
        </p:nvSpPr>
        <p:spPr>
          <a:xfrm>
            <a:off x="6615684"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a:solidFill>
                  <a:srgbClr val="3A3A3A"/>
                </a:solidFill>
                <a:latin typeface="Segoe UI"/>
                <a:ea typeface="Segoe UI"/>
                <a:cs typeface="Segoe UI"/>
              </a:rPr>
              <a:t>Runs spikes, drafts stories</a:t>
            </a:r>
          </a:p>
        </p:txBody>
      </p:sp>
      <p:sp>
        <p:nvSpPr>
          <p:cNvPr id="9025" name="Stage4"/>
          <p:cNvSpPr/>
          <p:nvPr/>
        </p:nvSpPr>
        <p:spPr>
          <a:xfrm>
            <a:off x="8147304" y="1627632"/>
            <a:ext cx="1687068" cy="566928"/>
          </a:xfrm>
          <a:prstGeom prst="chevron">
            <a:avLst>
              <a:gd name="adj" fmla="val 28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noAutofit/>
          </a:bodyPr>
          <a:lstStyle/>
          <a:p>
            <a:pPr algn="ctr"/>
            <a:r>
              <a:rPr lang="en-US" sz="1400" b="1" i="0" dirty="0">
                <a:solidFill>
                  <a:srgbClr val="FFFFFF"/>
                </a:solidFill>
                <a:latin typeface="Segoe UI"/>
                <a:ea typeface="Segoe UI"/>
                <a:cs typeface="Segoe UI"/>
              </a:rPr>
              <a:t>Build and Test</a:t>
            </a:r>
            <a:endParaRPr sz="1400" b="1" i="0" dirty="0">
              <a:solidFill>
                <a:srgbClr val="FFFFFF"/>
              </a:solidFill>
              <a:latin typeface="Segoe UI"/>
              <a:ea typeface="Segoe UI"/>
              <a:cs typeface="Segoe UI"/>
            </a:endParaRPr>
          </a:p>
        </p:txBody>
      </p:sp>
      <p:sp>
        <p:nvSpPr>
          <p:cNvPr id="9026" name="Who4"/>
          <p:cNvSpPr/>
          <p:nvPr/>
        </p:nvSpPr>
        <p:spPr>
          <a:xfrm>
            <a:off x="8211312"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lang="en-US" sz="1400" b="1" i="0" dirty="0">
                <a:solidFill>
                  <a:srgbClr val="2E1065"/>
                </a:solidFill>
                <a:latin typeface="Segoe UI"/>
                <a:ea typeface="Segoe UI"/>
                <a:cs typeface="Segoe UI"/>
              </a:rPr>
              <a:t>Business Analysts, </a:t>
            </a:r>
            <a:r>
              <a:rPr sz="1400" b="1" i="0" dirty="0">
                <a:solidFill>
                  <a:srgbClr val="2E1065"/>
                </a:solidFill>
                <a:latin typeface="Segoe UI"/>
                <a:ea typeface="Segoe UI"/>
                <a:cs typeface="Segoe UI"/>
              </a:rPr>
              <a:t>Devs and QA</a:t>
            </a:r>
          </a:p>
        </p:txBody>
      </p:sp>
      <p:sp>
        <p:nvSpPr>
          <p:cNvPr id="9027" name="Out4"/>
          <p:cNvSpPr/>
          <p:nvPr/>
        </p:nvSpPr>
        <p:spPr>
          <a:xfrm>
            <a:off x="8211312"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0" dirty="0">
                <a:solidFill>
                  <a:srgbClr val="3A3A3A"/>
                </a:solidFill>
                <a:latin typeface="Segoe UI"/>
                <a:ea typeface="Segoe UI"/>
                <a:cs typeface="Segoe UI"/>
              </a:rPr>
              <a:t>Code, unit tests, </a:t>
            </a:r>
            <a:r>
              <a:rPr lang="en-US" sz="1400" b="0" i="0" dirty="0">
                <a:solidFill>
                  <a:srgbClr val="3A3A3A"/>
                </a:solidFill>
                <a:latin typeface="Segoe UI"/>
                <a:ea typeface="Segoe UI"/>
                <a:cs typeface="Segoe UI"/>
              </a:rPr>
              <a:t>functional </a:t>
            </a:r>
            <a:r>
              <a:rPr sz="1400" b="0" i="0" dirty="0">
                <a:solidFill>
                  <a:srgbClr val="3A3A3A"/>
                </a:solidFill>
                <a:latin typeface="Segoe UI"/>
                <a:ea typeface="Segoe UI"/>
                <a:cs typeface="Segoe UI"/>
              </a:rPr>
              <a:t>test plan</a:t>
            </a:r>
            <a:r>
              <a:rPr lang="en-US" sz="1400" b="0" i="0" dirty="0">
                <a:solidFill>
                  <a:srgbClr val="3A3A3A"/>
                </a:solidFill>
                <a:latin typeface="Segoe UI"/>
                <a:ea typeface="Segoe UI"/>
                <a:cs typeface="Segoe UI"/>
              </a:rPr>
              <a:t>s</a:t>
            </a:r>
            <a:endParaRPr sz="1400" b="0" i="0" dirty="0">
              <a:solidFill>
                <a:srgbClr val="3A3A3A"/>
              </a:solidFill>
              <a:latin typeface="Segoe UI"/>
              <a:ea typeface="Segoe UI"/>
              <a:cs typeface="Segoe UI"/>
            </a:endParaRPr>
          </a:p>
        </p:txBody>
      </p:sp>
      <p:sp>
        <p:nvSpPr>
          <p:cNvPr id="9028" name="AI4"/>
          <p:cNvSpPr/>
          <p:nvPr/>
        </p:nvSpPr>
        <p:spPr>
          <a:xfrm>
            <a:off x="8211312"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a:solidFill>
                  <a:srgbClr val="3A3A3A"/>
                </a:solidFill>
                <a:latin typeface="Segoe UI"/>
                <a:ea typeface="Segoe UI"/>
                <a:cs typeface="Segoe UI"/>
              </a:rPr>
              <a:t>Writes code, tests, and docs together</a:t>
            </a:r>
          </a:p>
        </p:txBody>
      </p:sp>
      <p:sp>
        <p:nvSpPr>
          <p:cNvPr id="9029" name="Stage5"/>
          <p:cNvSpPr/>
          <p:nvPr/>
        </p:nvSpPr>
        <p:spPr>
          <a:xfrm>
            <a:off x="9742932" y="1627632"/>
            <a:ext cx="1613915" cy="566928"/>
          </a:xfrm>
          <a:prstGeom prst="chevron">
            <a:avLst>
              <a:gd name="adj" fmla="val 28000"/>
            </a:avLst>
          </a:prstGeom>
          <a:solidFill>
            <a:srgbClr val="1E0B3A"/>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noAutofit/>
          </a:bodyPr>
          <a:lstStyle/>
          <a:p>
            <a:pPr algn="ctr"/>
            <a:r>
              <a:rPr sz="1400" b="1" i="0">
                <a:solidFill>
                  <a:srgbClr val="FFFFFF"/>
                </a:solidFill>
                <a:latin typeface="Segoe UI"/>
                <a:ea typeface="Segoe UI"/>
                <a:cs typeface="Segoe UI"/>
              </a:rPr>
              <a:t>Release</a:t>
            </a:r>
          </a:p>
        </p:txBody>
      </p:sp>
      <p:sp>
        <p:nvSpPr>
          <p:cNvPr id="9030" name="Who5"/>
          <p:cNvSpPr/>
          <p:nvPr/>
        </p:nvSpPr>
        <p:spPr>
          <a:xfrm>
            <a:off x="9806940" y="2331720"/>
            <a:ext cx="1504188" cy="77724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1" i="0">
                <a:solidFill>
                  <a:srgbClr val="2E1065"/>
                </a:solidFill>
                <a:latin typeface="Segoe UI"/>
                <a:ea typeface="Segoe UI"/>
                <a:cs typeface="Segoe UI"/>
              </a:rPr>
              <a:t>Release Manager</a:t>
            </a:r>
          </a:p>
        </p:txBody>
      </p:sp>
      <p:sp>
        <p:nvSpPr>
          <p:cNvPr id="9031" name="Out5"/>
          <p:cNvSpPr/>
          <p:nvPr/>
        </p:nvSpPr>
        <p:spPr>
          <a:xfrm>
            <a:off x="9806940" y="3200400"/>
            <a:ext cx="1504188" cy="1005840"/>
          </a:xfrm>
          <a:prstGeom prst="roundRect">
            <a:avLst>
              <a:gd name="adj" fmla="val 6000"/>
            </a:avLst>
          </a:prstGeom>
          <a:solidFill>
            <a:srgbClr val="FFFFFF"/>
          </a:solidFill>
          <a:ln w="12700">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0" dirty="0">
                <a:solidFill>
                  <a:srgbClr val="3A3A3A"/>
                </a:solidFill>
                <a:latin typeface="Segoe UI"/>
                <a:ea typeface="Segoe UI"/>
                <a:cs typeface="Segoe UI"/>
              </a:rPr>
              <a:t>Release notes</a:t>
            </a:r>
            <a:r>
              <a:rPr lang="en-US" sz="1400" b="0" i="0" dirty="0">
                <a:solidFill>
                  <a:srgbClr val="3A3A3A"/>
                </a:solidFill>
                <a:latin typeface="Segoe UI"/>
                <a:ea typeface="Segoe UI"/>
                <a:cs typeface="Segoe UI"/>
              </a:rPr>
              <a:t>, internal and external docs,</a:t>
            </a:r>
            <a:r>
              <a:rPr sz="1400" b="0" i="0" dirty="0">
                <a:solidFill>
                  <a:srgbClr val="3A3A3A"/>
                </a:solidFill>
                <a:latin typeface="Segoe UI"/>
                <a:ea typeface="Segoe UI"/>
                <a:cs typeface="Segoe UI"/>
              </a:rPr>
              <a:t> and the launch</a:t>
            </a:r>
          </a:p>
        </p:txBody>
      </p:sp>
      <p:sp>
        <p:nvSpPr>
          <p:cNvPr id="9032" name="AI5"/>
          <p:cNvSpPr/>
          <p:nvPr/>
        </p:nvSpPr>
        <p:spPr>
          <a:xfrm>
            <a:off x="9806940" y="4297680"/>
            <a:ext cx="1504188" cy="777240"/>
          </a:xfrm>
          <a:prstGeom prst="roundRect">
            <a:avLst>
              <a:gd name="adj" fmla="val 8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400" b="0" i="1">
                <a:solidFill>
                  <a:srgbClr val="3A3A3A"/>
                </a:solidFill>
                <a:latin typeface="Segoe UI"/>
                <a:ea typeface="Segoe UI"/>
                <a:cs typeface="Segoe UI"/>
              </a:rPr>
              <a:t>Drafts release notes</a:t>
            </a:r>
          </a:p>
        </p:txBody>
      </p:sp>
      <p:sp>
        <p:nvSpPr>
          <p:cNvPr id="9033" name="RolesBand"/>
          <p:cNvSpPr/>
          <p:nvPr/>
        </p:nvSpPr>
        <p:spPr>
          <a:xfrm>
            <a:off x="841248" y="5285232"/>
            <a:ext cx="10515600" cy="658368"/>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34" name="Picture 9033" descr="Robot icon"/>
          <p:cNvPicPr>
            <a:picLocks noChangeAspect="1"/>
          </p:cNvPicPr>
          <p:nvPr/>
        </p:nvPicPr>
        <p:blipFill>
          <a:blip r:embed="rId6"/>
          <a:stretch>
            <a:fillRect/>
          </a:stretch>
        </p:blipFill>
        <p:spPr>
          <a:xfrm>
            <a:off x="1005840" y="5358384"/>
            <a:ext cx="512064" cy="512064"/>
          </a:xfrm>
          <a:prstGeom prst="rect">
            <a:avLst/>
          </a:prstGeom>
        </p:spPr>
      </p:pic>
      <p:sp>
        <p:nvSpPr>
          <p:cNvPr id="9035" name="TextBox 9034"/>
          <p:cNvSpPr txBox="1"/>
          <p:nvPr/>
        </p:nvSpPr>
        <p:spPr>
          <a:xfrm>
            <a:off x="1691640" y="5285232"/>
            <a:ext cx="9555480" cy="658368"/>
          </a:xfrm>
          <a:prstGeom prst="rect">
            <a:avLst/>
          </a:prstGeom>
          <a:noFill/>
        </p:spPr>
        <p:txBody>
          <a:bodyPr wrap="square" lIns="0" tIns="0" rIns="0" bIns="0" anchor="ctr">
            <a:noAutofit/>
          </a:bodyPr>
          <a:lstStyle/>
          <a:p>
            <a:pPr algn="l"/>
            <a:r>
              <a:rPr sz="1600" b="1" i="0" dirty="0">
                <a:solidFill>
                  <a:srgbClr val="FFFFFF"/>
                </a:solidFill>
                <a:latin typeface="Segoe UI"/>
                <a:ea typeface="Segoe UI"/>
                <a:cs typeface="Segoe UI"/>
              </a:rPr>
              <a:t>Nothing traditional is skipped. </a:t>
            </a:r>
            <a:r>
              <a:rPr sz="1600" b="0" i="0" dirty="0">
                <a:solidFill>
                  <a:srgbClr val="FFFFFF"/>
                </a:solidFill>
                <a:latin typeface="Segoe UI"/>
                <a:ea typeface="Segoe UI"/>
                <a:cs typeface="Segoe UI"/>
              </a:rPr>
              <a:t>Every role still owns its step, and every step leaves a real artifact.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The repo </a:t>
            </a:r>
            <a:r>
              <a:rPr lang="en-US" dirty="0"/>
              <a:t>holds</a:t>
            </a:r>
            <a:r>
              <a:rPr dirty="0"/>
              <a:t> the </a:t>
            </a:r>
            <a:r>
              <a:rPr lang="en-US" dirty="0"/>
              <a:t>memories</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ROBOT RULE #1</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8</a:t>
            </a:fld>
            <a:endParaRPr lang="en-US"/>
          </a:p>
        </p:txBody>
      </p:sp>
      <p:sp>
        <p:nvSpPr>
          <p:cNvPr id="9002" name="TextBox 9001"/>
          <p:cNvSpPr txBox="1"/>
          <p:nvPr/>
        </p:nvSpPr>
        <p:spPr>
          <a:xfrm>
            <a:off x="841248" y="1691640"/>
            <a:ext cx="4480560" cy="128016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Each new chat is a new hire on day one.</a:t>
            </a:r>
          </a:p>
        </p:txBody>
      </p:sp>
      <p:sp>
        <p:nvSpPr>
          <p:cNvPr id="9003" name="TextBox 9002"/>
          <p:cNvSpPr txBox="1"/>
          <p:nvPr/>
        </p:nvSpPr>
        <p:spPr>
          <a:xfrm>
            <a:off x="841248" y="3108960"/>
            <a:ext cx="4480560" cy="914400"/>
          </a:xfrm>
          <a:prstGeom prst="rect">
            <a:avLst/>
          </a:prstGeom>
          <a:noFill/>
        </p:spPr>
        <p:txBody>
          <a:bodyPr wrap="square" lIns="0" tIns="0" rIns="0" bIns="0" anchor="t">
            <a:noAutofit/>
          </a:bodyPr>
          <a:lstStyle/>
          <a:p>
            <a:pPr algn="l"/>
            <a:r>
              <a:rPr sz="1800" b="0" i="0">
                <a:solidFill>
                  <a:srgbClr val="3A3A3A"/>
                </a:solidFill>
                <a:latin typeface="Segoe UI"/>
                <a:ea typeface="Segoe UI"/>
                <a:cs typeface="Segoe UI"/>
              </a:rPr>
              <a:t>The agent starts every chat with no memory. So the repo is its memory.</a:t>
            </a:r>
          </a:p>
        </p:txBody>
      </p:sp>
      <p:sp>
        <p:nvSpPr>
          <p:cNvPr id="9004" name="TextBox 9003"/>
          <p:cNvSpPr txBox="1"/>
          <p:nvPr/>
        </p:nvSpPr>
        <p:spPr>
          <a:xfrm>
            <a:off x="841248" y="4023360"/>
            <a:ext cx="4480560" cy="914400"/>
          </a:xfrm>
          <a:prstGeom prst="rect">
            <a:avLst/>
          </a:prstGeom>
          <a:noFill/>
        </p:spPr>
        <p:txBody>
          <a:bodyPr wrap="square" lIns="0" tIns="0" rIns="0" bIns="0" anchor="t">
            <a:noAutofit/>
          </a:bodyPr>
          <a:lstStyle/>
          <a:p>
            <a:pPr algn="l"/>
            <a:r>
              <a:rPr sz="1800" b="1" i="0">
                <a:solidFill>
                  <a:srgbClr val="7C3AED"/>
                </a:solidFill>
                <a:latin typeface="Segoe UI"/>
                <a:ea typeface="Segoe UI"/>
                <a:cs typeface="Segoe UI"/>
              </a:rPr>
              <a:t>If it isn't written down, it doesn't exist next session.</a:t>
            </a:r>
          </a:p>
        </p:txBody>
      </p:sp>
      <p:sp>
        <p:nvSpPr>
          <p:cNvPr id="9005" name="TextBox 9004"/>
          <p:cNvSpPr txBox="1"/>
          <p:nvPr/>
        </p:nvSpPr>
        <p:spPr>
          <a:xfrm>
            <a:off x="841248" y="4937760"/>
            <a:ext cx="4480560" cy="914400"/>
          </a:xfrm>
          <a:prstGeom prst="rect">
            <a:avLst/>
          </a:prstGeom>
          <a:noFill/>
        </p:spPr>
        <p:txBody>
          <a:bodyPr wrap="square" lIns="0" tIns="0" rIns="0" bIns="0" anchor="t">
            <a:noAutofit/>
          </a:bodyPr>
          <a:lstStyle/>
          <a:p>
            <a:pPr algn="l"/>
            <a:r>
              <a:rPr sz="1600" b="0" i="1">
                <a:solidFill>
                  <a:srgbClr val="5F6670"/>
                </a:solidFill>
                <a:latin typeface="Segoe UI"/>
                <a:ea typeface="Segoe UI"/>
                <a:cs typeface="Segoe UI"/>
              </a:rPr>
              <a:t>A good onboarding doc makes day one as productive as day one hundred.</a:t>
            </a:r>
          </a:p>
        </p:txBody>
      </p:sp>
      <p:sp>
        <p:nvSpPr>
          <p:cNvPr id="9006" name="HubAgents"/>
          <p:cNvSpPr/>
          <p:nvPr/>
        </p:nvSpPr>
        <p:spPr>
          <a:xfrm>
            <a:off x="7086600" y="1691640"/>
            <a:ext cx="3017520" cy="1188720"/>
          </a:xfrm>
          <a:prstGeom prst="roundRect">
            <a:avLst>
              <a:gd name="adj" fmla="val 8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7" name="Picture 9006" descr="Robot icon"/>
          <p:cNvPicPr>
            <a:picLocks noChangeAspect="1"/>
          </p:cNvPicPr>
          <p:nvPr/>
        </p:nvPicPr>
        <p:blipFill>
          <a:blip r:embed="rId3"/>
          <a:stretch>
            <a:fillRect/>
          </a:stretch>
        </p:blipFill>
        <p:spPr>
          <a:xfrm>
            <a:off x="7269480" y="1828800"/>
            <a:ext cx="457200" cy="457200"/>
          </a:xfrm>
          <a:prstGeom prst="rect">
            <a:avLst/>
          </a:prstGeom>
        </p:spPr>
      </p:pic>
      <p:sp>
        <p:nvSpPr>
          <p:cNvPr id="9008" name="TextBox 9007"/>
          <p:cNvSpPr txBox="1"/>
          <p:nvPr/>
        </p:nvSpPr>
        <p:spPr>
          <a:xfrm>
            <a:off x="7818120" y="1783080"/>
            <a:ext cx="2194560" cy="457200"/>
          </a:xfrm>
          <a:prstGeom prst="rect">
            <a:avLst/>
          </a:prstGeom>
          <a:noFill/>
        </p:spPr>
        <p:txBody>
          <a:bodyPr wrap="square" lIns="0" tIns="0" rIns="0" bIns="0" anchor="ctr">
            <a:noAutofit/>
          </a:bodyPr>
          <a:lstStyle/>
          <a:p>
            <a:pPr algn="l"/>
            <a:r>
              <a:rPr sz="2200" b="1" i="0">
                <a:solidFill>
                  <a:srgbClr val="FFFFFF"/>
                </a:solidFill>
                <a:latin typeface="Segoe UI"/>
                <a:ea typeface="Segoe UI"/>
                <a:cs typeface="Segoe UI"/>
              </a:rPr>
              <a:t>AGENTS.md</a:t>
            </a:r>
          </a:p>
        </p:txBody>
      </p:sp>
      <p:sp>
        <p:nvSpPr>
          <p:cNvPr id="9009" name="TextBox 9008"/>
          <p:cNvSpPr txBox="1"/>
          <p:nvPr/>
        </p:nvSpPr>
        <p:spPr>
          <a:xfrm>
            <a:off x="7269480" y="2304288"/>
            <a:ext cx="2697480" cy="54864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The single source of agent instructions, read every session</a:t>
            </a:r>
          </a:p>
        </p:txBody>
      </p:sp>
      <p:sp>
        <p:nvSpPr>
          <p:cNvPr id="9010" name="Ptr0"/>
          <p:cNvSpPr/>
          <p:nvPr/>
        </p:nvSpPr>
        <p:spPr>
          <a:xfrm>
            <a:off x="5760720" y="3383280"/>
            <a:ext cx="1554480" cy="1005840"/>
          </a:xfrm>
          <a:prstGeom prst="roundRect">
            <a:avLst>
              <a:gd name="adj" fmla="val 10000"/>
            </a:avLst>
          </a:prstGeom>
          <a:solidFill>
            <a:srgbClr val="F5F3FF"/>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1" name="TextBox 9010"/>
          <p:cNvSpPr txBox="1"/>
          <p:nvPr/>
        </p:nvSpPr>
        <p:spPr>
          <a:xfrm>
            <a:off x="5833872" y="3419856"/>
            <a:ext cx="1408176" cy="548640"/>
          </a:xfrm>
          <a:prstGeom prst="rect">
            <a:avLst/>
          </a:prstGeom>
          <a:noFill/>
        </p:spPr>
        <p:txBody>
          <a:bodyPr wrap="square" lIns="0" tIns="0" rIns="0" bIns="0" anchor="b">
            <a:noAutofit/>
          </a:bodyPr>
          <a:lstStyle/>
          <a:p>
            <a:pPr algn="ctr"/>
            <a:r>
              <a:rPr sz="1400" b="1" i="0">
                <a:solidFill>
                  <a:srgbClr val="2E1065"/>
                </a:solidFill>
                <a:latin typeface="Segoe UI"/>
                <a:ea typeface="Segoe UI"/>
                <a:cs typeface="Segoe UI"/>
              </a:rPr>
              <a:t>CLAUDE.md</a:t>
            </a:r>
          </a:p>
        </p:txBody>
      </p:sp>
      <p:sp>
        <p:nvSpPr>
          <p:cNvPr id="9012" name="TextBox 9011"/>
          <p:cNvSpPr txBox="1"/>
          <p:nvPr/>
        </p:nvSpPr>
        <p:spPr>
          <a:xfrm>
            <a:off x="5833872" y="3986784"/>
            <a:ext cx="1408176" cy="36576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imports it</a:t>
            </a:r>
          </a:p>
        </p:txBody>
      </p:sp>
      <p:cxnSp>
        <p:nvCxnSpPr>
          <p:cNvPr id="9013" name="Connector 9012"/>
          <p:cNvCxnSpPr/>
          <p:nvPr/>
        </p:nvCxnSpPr>
        <p:spPr>
          <a:xfrm flipV="1">
            <a:off x="6537959" y="2880360"/>
            <a:ext cx="1091794" cy="50292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4" name="Ptr1"/>
          <p:cNvSpPr/>
          <p:nvPr/>
        </p:nvSpPr>
        <p:spPr>
          <a:xfrm>
            <a:off x="7452360" y="3383280"/>
            <a:ext cx="2331720" cy="1005840"/>
          </a:xfrm>
          <a:prstGeom prst="roundRect">
            <a:avLst>
              <a:gd name="adj" fmla="val 10000"/>
            </a:avLst>
          </a:prstGeom>
          <a:solidFill>
            <a:srgbClr val="F5F3FF"/>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TextBox 9014"/>
          <p:cNvSpPr txBox="1"/>
          <p:nvPr/>
        </p:nvSpPr>
        <p:spPr>
          <a:xfrm>
            <a:off x="7525512" y="3419856"/>
            <a:ext cx="2185415" cy="548640"/>
          </a:xfrm>
          <a:prstGeom prst="rect">
            <a:avLst/>
          </a:prstGeom>
          <a:noFill/>
        </p:spPr>
        <p:txBody>
          <a:bodyPr wrap="square" lIns="0" tIns="0" rIns="0" bIns="0" anchor="b">
            <a:noAutofit/>
          </a:bodyPr>
          <a:lstStyle/>
          <a:p>
            <a:pPr algn="ctr"/>
            <a:r>
              <a:rPr sz="1400" b="1" i="0">
                <a:solidFill>
                  <a:srgbClr val="2E1065"/>
                </a:solidFill>
                <a:latin typeface="Segoe UI"/>
                <a:ea typeface="Segoe UI"/>
                <a:cs typeface="Segoe UI"/>
              </a:rPr>
              <a:t>copilot-instructions.md</a:t>
            </a:r>
          </a:p>
        </p:txBody>
      </p:sp>
      <p:sp>
        <p:nvSpPr>
          <p:cNvPr id="9016" name="TextBox 9015"/>
          <p:cNvSpPr txBox="1"/>
          <p:nvPr/>
        </p:nvSpPr>
        <p:spPr>
          <a:xfrm>
            <a:off x="7525512" y="3986784"/>
            <a:ext cx="2185415" cy="36576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points to it</a:t>
            </a:r>
          </a:p>
        </p:txBody>
      </p:sp>
      <p:cxnSp>
        <p:nvCxnSpPr>
          <p:cNvPr id="9017" name="Connector 9016"/>
          <p:cNvCxnSpPr/>
          <p:nvPr/>
        </p:nvCxnSpPr>
        <p:spPr>
          <a:xfrm flipH="1" flipV="1">
            <a:off x="8595360" y="2880360"/>
            <a:ext cx="22860" cy="50292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8" name="Ptr2"/>
          <p:cNvSpPr/>
          <p:nvPr/>
        </p:nvSpPr>
        <p:spPr>
          <a:xfrm>
            <a:off x="9921240" y="3383280"/>
            <a:ext cx="1435608" cy="1005840"/>
          </a:xfrm>
          <a:prstGeom prst="roundRect">
            <a:avLst>
              <a:gd name="adj" fmla="val 10000"/>
            </a:avLst>
          </a:prstGeom>
          <a:solidFill>
            <a:srgbClr val="F5F3FF"/>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9" name="TextBox 9018"/>
          <p:cNvSpPr txBox="1"/>
          <p:nvPr/>
        </p:nvSpPr>
        <p:spPr>
          <a:xfrm>
            <a:off x="9994392" y="3419856"/>
            <a:ext cx="1289304" cy="548640"/>
          </a:xfrm>
          <a:prstGeom prst="rect">
            <a:avLst/>
          </a:prstGeom>
          <a:noFill/>
        </p:spPr>
        <p:txBody>
          <a:bodyPr wrap="square" lIns="0" tIns="0" rIns="0" bIns="0" anchor="b">
            <a:noAutofit/>
          </a:bodyPr>
          <a:lstStyle/>
          <a:p>
            <a:pPr algn="ctr"/>
            <a:r>
              <a:rPr sz="1400" b="1" i="0">
                <a:solidFill>
                  <a:srgbClr val="2E1065"/>
                </a:solidFill>
                <a:latin typeface="Segoe UI"/>
                <a:ea typeface="Segoe UI"/>
                <a:cs typeface="Segoe UI"/>
              </a:rPr>
              <a:t>Codex and other tools</a:t>
            </a:r>
          </a:p>
        </p:txBody>
      </p:sp>
      <p:sp>
        <p:nvSpPr>
          <p:cNvPr id="9020" name="TextBox 9019"/>
          <p:cNvSpPr txBox="1"/>
          <p:nvPr/>
        </p:nvSpPr>
        <p:spPr>
          <a:xfrm>
            <a:off x="9994392" y="3986784"/>
            <a:ext cx="1289304" cy="36576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read it directly</a:t>
            </a:r>
          </a:p>
        </p:txBody>
      </p:sp>
      <p:cxnSp>
        <p:nvCxnSpPr>
          <p:cNvPr id="9021" name="Connector 9020"/>
          <p:cNvCxnSpPr/>
          <p:nvPr/>
        </p:nvCxnSpPr>
        <p:spPr>
          <a:xfrm flipH="1" flipV="1">
            <a:off x="9560966" y="2880360"/>
            <a:ext cx="1078078" cy="50292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2" name="ReviewChecklists"/>
          <p:cNvSpPr/>
          <p:nvPr/>
        </p:nvSpPr>
        <p:spPr>
          <a:xfrm>
            <a:off x="5760720" y="4709160"/>
            <a:ext cx="5596128" cy="1188720"/>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3" name="Picture 9022" descr="Checklist icon"/>
          <p:cNvPicPr>
            <a:picLocks noChangeAspect="1"/>
          </p:cNvPicPr>
          <p:nvPr/>
        </p:nvPicPr>
        <p:blipFill>
          <a:blip r:embed="rId4"/>
          <a:stretch>
            <a:fillRect/>
          </a:stretch>
        </p:blipFill>
        <p:spPr>
          <a:xfrm>
            <a:off x="5925312" y="4846320"/>
            <a:ext cx="411480" cy="411480"/>
          </a:xfrm>
          <a:prstGeom prst="rect">
            <a:avLst/>
          </a:prstGeom>
        </p:spPr>
      </p:pic>
      <p:sp>
        <p:nvSpPr>
          <p:cNvPr id="9024" name="TextBox 9023"/>
          <p:cNvSpPr txBox="1"/>
          <p:nvPr/>
        </p:nvSpPr>
        <p:spPr>
          <a:xfrm>
            <a:off x="6473952" y="4791456"/>
            <a:ext cx="4754880" cy="365760"/>
          </a:xfrm>
          <a:prstGeom prst="rect">
            <a:avLst/>
          </a:prstGeom>
          <a:noFill/>
        </p:spPr>
        <p:txBody>
          <a:bodyPr wrap="square" lIns="0" tIns="0" rIns="0" bIns="0" anchor="t">
            <a:noAutofit/>
          </a:bodyPr>
          <a:lstStyle/>
          <a:p>
            <a:pPr algn="l"/>
            <a:r>
              <a:rPr sz="1400" b="1" i="0">
                <a:solidFill>
                  <a:srgbClr val="2E1065"/>
                </a:solidFill>
                <a:latin typeface="Consolas"/>
                <a:ea typeface="Consolas"/>
                <a:cs typeface="Consolas"/>
              </a:rPr>
              <a:t>.github/instructions/*.instructions.md</a:t>
            </a:r>
          </a:p>
        </p:txBody>
      </p:sp>
      <p:sp>
        <p:nvSpPr>
          <p:cNvPr id="9025" name="TextBox 9024"/>
          <p:cNvSpPr txBox="1"/>
          <p:nvPr/>
        </p:nvSpPr>
        <p:spPr>
          <a:xfrm>
            <a:off x="6473952" y="5138928"/>
            <a:ext cx="4754880" cy="73152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Short code-review checklists, each kept under Copilot's 4,000-character review limit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Definition of Done: code, tests, and </a:t>
            </a:r>
            <a:r>
              <a:rPr lang="en-US" dirty="0"/>
              <a:t>docs</a:t>
            </a:r>
            <a:r>
              <a:rPr dirty="0"/>
              <a:t>, </a:t>
            </a:r>
            <a:r>
              <a:rPr lang="en-US" dirty="0"/>
              <a:t>done </a:t>
            </a:r>
            <a:r>
              <a:rPr dirty="0"/>
              <a:t>together</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ROBOT RULE #2</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9</a:t>
            </a:fld>
            <a:endParaRPr lang="en-US"/>
          </a:p>
        </p:txBody>
      </p:sp>
      <p:sp>
        <p:nvSpPr>
          <p:cNvPr id="9002" name="ChangeSet"/>
          <p:cNvSpPr/>
          <p:nvPr/>
        </p:nvSpPr>
        <p:spPr>
          <a:xfrm>
            <a:off x="841248" y="1874519"/>
            <a:ext cx="10515600" cy="2697480"/>
          </a:xfrm>
          <a:prstGeom prst="roundRect">
            <a:avLst>
              <a:gd name="adj" fmla="val 5000"/>
            </a:avLst>
          </a:prstGeom>
          <a:noFill/>
          <a:ln w="22225">
            <a:solidFill>
              <a:srgbClr val="7C3AED"/>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ChangeSetLbl"/>
          <p:cNvSpPr/>
          <p:nvPr/>
        </p:nvSpPr>
        <p:spPr>
          <a:xfrm>
            <a:off x="1097280" y="1691640"/>
            <a:ext cx="278251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l"/>
            <a:r>
              <a:rPr sz="1600" b="1" i="0" dirty="0">
                <a:solidFill>
                  <a:srgbClr val="7C3AED"/>
                </a:solidFill>
                <a:latin typeface="Segoe UI"/>
                <a:ea typeface="Segoe UI"/>
                <a:cs typeface="Segoe UI"/>
              </a:rPr>
              <a:t>Every story ships</a:t>
            </a:r>
            <a:r>
              <a:rPr lang="en-US" sz="1600" b="1" i="0" dirty="0">
                <a:solidFill>
                  <a:srgbClr val="7C3AED"/>
                </a:solidFill>
                <a:latin typeface="Segoe UI"/>
                <a:ea typeface="Segoe UI"/>
                <a:cs typeface="Segoe UI"/>
              </a:rPr>
              <a:t> complete</a:t>
            </a:r>
            <a:r>
              <a:rPr sz="1600" b="1" i="0" dirty="0">
                <a:solidFill>
                  <a:srgbClr val="7C3AED"/>
                </a:solidFill>
                <a:latin typeface="Segoe UI"/>
                <a:ea typeface="Segoe UI"/>
                <a:cs typeface="Segoe UI"/>
              </a:rPr>
              <a:t>:</a:t>
            </a:r>
          </a:p>
        </p:txBody>
      </p:sp>
      <p:sp>
        <p:nvSpPr>
          <p:cNvPr id="9004" name="DoD0"/>
          <p:cNvSpPr/>
          <p:nvPr/>
        </p:nvSpPr>
        <p:spPr>
          <a:xfrm>
            <a:off x="1051560"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5" name="Oval 9004"/>
          <p:cNvSpPr/>
          <p:nvPr/>
        </p:nvSpPr>
        <p:spPr>
          <a:xfrm>
            <a:off x="1472184" y="2450592"/>
            <a:ext cx="713232" cy="713232"/>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6" name="Picture 9005" descr="Code icon"/>
          <p:cNvPicPr>
            <a:picLocks noChangeAspect="1"/>
          </p:cNvPicPr>
          <p:nvPr/>
        </p:nvPicPr>
        <p:blipFill>
          <a:blip r:embed="rId3"/>
          <a:stretch>
            <a:fillRect/>
          </a:stretch>
        </p:blipFill>
        <p:spPr>
          <a:xfrm>
            <a:off x="1629095" y="2607503"/>
            <a:ext cx="399409" cy="399409"/>
          </a:xfrm>
          <a:prstGeom prst="rect">
            <a:avLst/>
          </a:prstGeom>
        </p:spPr>
      </p:pic>
      <p:sp>
        <p:nvSpPr>
          <p:cNvPr id="9007" name="TextBox 9006"/>
          <p:cNvSpPr txBox="1"/>
          <p:nvPr/>
        </p:nvSpPr>
        <p:spPr>
          <a:xfrm>
            <a:off x="1124712"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Code</a:t>
            </a:r>
          </a:p>
        </p:txBody>
      </p:sp>
      <p:sp>
        <p:nvSpPr>
          <p:cNvPr id="9008" name="TextBox 9007"/>
          <p:cNvSpPr txBox="1"/>
          <p:nvPr/>
        </p:nvSpPr>
        <p:spPr>
          <a:xfrm>
            <a:off x="1124712"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the change itself</a:t>
            </a:r>
          </a:p>
        </p:txBody>
      </p:sp>
      <p:sp>
        <p:nvSpPr>
          <p:cNvPr id="9009" name="DoD1"/>
          <p:cNvSpPr/>
          <p:nvPr/>
        </p:nvSpPr>
        <p:spPr>
          <a:xfrm>
            <a:off x="2745943"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0" name="Oval 9009"/>
          <p:cNvSpPr/>
          <p:nvPr/>
        </p:nvSpPr>
        <p:spPr>
          <a:xfrm>
            <a:off x="3166567"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1" name="Picture 9010" descr="Unit tests icon"/>
          <p:cNvPicPr>
            <a:picLocks noChangeAspect="1"/>
          </p:cNvPicPr>
          <p:nvPr/>
        </p:nvPicPr>
        <p:blipFill>
          <a:blip r:embed="rId4"/>
          <a:stretch>
            <a:fillRect/>
          </a:stretch>
        </p:blipFill>
        <p:spPr>
          <a:xfrm>
            <a:off x="3323478" y="2607503"/>
            <a:ext cx="399409" cy="399409"/>
          </a:xfrm>
          <a:prstGeom prst="rect">
            <a:avLst/>
          </a:prstGeom>
        </p:spPr>
      </p:pic>
      <p:sp>
        <p:nvSpPr>
          <p:cNvPr id="9012" name="TextBox 9011"/>
          <p:cNvSpPr txBox="1"/>
          <p:nvPr/>
        </p:nvSpPr>
        <p:spPr>
          <a:xfrm>
            <a:off x="2819095"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Unit tests</a:t>
            </a:r>
          </a:p>
        </p:txBody>
      </p:sp>
      <p:sp>
        <p:nvSpPr>
          <p:cNvPr id="9013" name="TextBox 9012"/>
          <p:cNvSpPr txBox="1"/>
          <p:nvPr/>
        </p:nvSpPr>
        <p:spPr>
          <a:xfrm>
            <a:off x="2819095"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network calls mocked</a:t>
            </a:r>
          </a:p>
        </p:txBody>
      </p:sp>
      <p:sp>
        <p:nvSpPr>
          <p:cNvPr id="9014" name="DoD2"/>
          <p:cNvSpPr/>
          <p:nvPr/>
        </p:nvSpPr>
        <p:spPr>
          <a:xfrm>
            <a:off x="4440326"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Oval 9014"/>
          <p:cNvSpPr/>
          <p:nvPr/>
        </p:nvSpPr>
        <p:spPr>
          <a:xfrm>
            <a:off x="4860950"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6" name="Picture 9015" descr="Diagram icon"/>
          <p:cNvPicPr>
            <a:picLocks noChangeAspect="1"/>
          </p:cNvPicPr>
          <p:nvPr/>
        </p:nvPicPr>
        <p:blipFill>
          <a:blip r:embed="rId5"/>
          <a:stretch>
            <a:fillRect/>
          </a:stretch>
        </p:blipFill>
        <p:spPr>
          <a:xfrm>
            <a:off x="5017861" y="2607503"/>
            <a:ext cx="399409" cy="399409"/>
          </a:xfrm>
          <a:prstGeom prst="rect">
            <a:avLst/>
          </a:prstGeom>
        </p:spPr>
      </p:pic>
      <p:sp>
        <p:nvSpPr>
          <p:cNvPr id="9017" name="TextBox 9016"/>
          <p:cNvSpPr txBox="1"/>
          <p:nvPr/>
        </p:nvSpPr>
        <p:spPr>
          <a:xfrm>
            <a:off x="4513478"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Diagram</a:t>
            </a:r>
          </a:p>
        </p:txBody>
      </p:sp>
      <p:sp>
        <p:nvSpPr>
          <p:cNvPr id="9018" name="TextBox 9017"/>
          <p:cNvSpPr txBox="1"/>
          <p:nvPr/>
        </p:nvSpPr>
        <p:spPr>
          <a:xfrm>
            <a:off x="4513478"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TDD updated for the module</a:t>
            </a:r>
          </a:p>
        </p:txBody>
      </p:sp>
      <p:sp>
        <p:nvSpPr>
          <p:cNvPr id="9019" name="DoD3"/>
          <p:cNvSpPr/>
          <p:nvPr/>
        </p:nvSpPr>
        <p:spPr>
          <a:xfrm>
            <a:off x="6134709"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0" name="Oval 9019"/>
          <p:cNvSpPr/>
          <p:nvPr/>
        </p:nvSpPr>
        <p:spPr>
          <a:xfrm>
            <a:off x="6555333"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1" name="Picture 9020" descr="Docs icon"/>
          <p:cNvPicPr>
            <a:picLocks noChangeAspect="1"/>
          </p:cNvPicPr>
          <p:nvPr/>
        </p:nvPicPr>
        <p:blipFill>
          <a:blip r:embed="rId6"/>
          <a:stretch>
            <a:fillRect/>
          </a:stretch>
        </p:blipFill>
        <p:spPr>
          <a:xfrm>
            <a:off x="6712244" y="2607503"/>
            <a:ext cx="399409" cy="399409"/>
          </a:xfrm>
          <a:prstGeom prst="rect">
            <a:avLst/>
          </a:prstGeom>
        </p:spPr>
      </p:pic>
      <p:sp>
        <p:nvSpPr>
          <p:cNvPr id="9022" name="TextBox 9021"/>
          <p:cNvSpPr txBox="1"/>
          <p:nvPr/>
        </p:nvSpPr>
        <p:spPr>
          <a:xfrm>
            <a:off x="6207861"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Docs</a:t>
            </a:r>
          </a:p>
        </p:txBody>
      </p:sp>
      <p:sp>
        <p:nvSpPr>
          <p:cNvPr id="9023" name="TextBox 9022"/>
          <p:cNvSpPr txBox="1"/>
          <p:nvPr/>
        </p:nvSpPr>
        <p:spPr>
          <a:xfrm>
            <a:off x="6207861"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admin, developer, end user</a:t>
            </a:r>
          </a:p>
        </p:txBody>
      </p:sp>
      <p:sp>
        <p:nvSpPr>
          <p:cNvPr id="9024" name="DoD4"/>
          <p:cNvSpPr/>
          <p:nvPr/>
        </p:nvSpPr>
        <p:spPr>
          <a:xfrm>
            <a:off x="7829092"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5" name="Oval 9024"/>
          <p:cNvSpPr/>
          <p:nvPr/>
        </p:nvSpPr>
        <p:spPr>
          <a:xfrm>
            <a:off x="8249716"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6" name="Picture 9025" descr="Test plan icon"/>
          <p:cNvPicPr>
            <a:picLocks noChangeAspect="1"/>
          </p:cNvPicPr>
          <p:nvPr/>
        </p:nvPicPr>
        <p:blipFill>
          <a:blip r:embed="rId7"/>
          <a:stretch>
            <a:fillRect/>
          </a:stretch>
        </p:blipFill>
        <p:spPr>
          <a:xfrm>
            <a:off x="8406627" y="2607503"/>
            <a:ext cx="399409" cy="399409"/>
          </a:xfrm>
          <a:prstGeom prst="rect">
            <a:avLst/>
          </a:prstGeom>
        </p:spPr>
      </p:pic>
      <p:sp>
        <p:nvSpPr>
          <p:cNvPr id="9027" name="TextBox 9026"/>
          <p:cNvSpPr txBox="1"/>
          <p:nvPr/>
        </p:nvSpPr>
        <p:spPr>
          <a:xfrm>
            <a:off x="7902244"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Test plan</a:t>
            </a:r>
          </a:p>
        </p:txBody>
      </p:sp>
      <p:sp>
        <p:nvSpPr>
          <p:cNvPr id="9028" name="TextBox 9027"/>
          <p:cNvSpPr txBox="1"/>
          <p:nvPr/>
        </p:nvSpPr>
        <p:spPr>
          <a:xfrm>
            <a:off x="7902244"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end-to-end plan updated</a:t>
            </a:r>
          </a:p>
        </p:txBody>
      </p:sp>
      <p:sp>
        <p:nvSpPr>
          <p:cNvPr id="9029" name="DoD5"/>
          <p:cNvSpPr/>
          <p:nvPr/>
        </p:nvSpPr>
        <p:spPr>
          <a:xfrm>
            <a:off x="9523476" y="2267712"/>
            <a:ext cx="1554480" cy="2103120"/>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30" name="Oval 9029"/>
          <p:cNvSpPr/>
          <p:nvPr/>
        </p:nvSpPr>
        <p:spPr>
          <a:xfrm>
            <a:off x="9944100"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31" name="Picture 9030" descr="ADRs icon"/>
          <p:cNvPicPr>
            <a:picLocks noChangeAspect="1"/>
          </p:cNvPicPr>
          <p:nvPr/>
        </p:nvPicPr>
        <p:blipFill>
          <a:blip r:embed="rId8"/>
          <a:stretch>
            <a:fillRect/>
          </a:stretch>
        </p:blipFill>
        <p:spPr>
          <a:xfrm>
            <a:off x="10101011" y="2607503"/>
            <a:ext cx="399409" cy="399409"/>
          </a:xfrm>
          <a:prstGeom prst="rect">
            <a:avLst/>
          </a:prstGeom>
        </p:spPr>
      </p:pic>
      <p:sp>
        <p:nvSpPr>
          <p:cNvPr id="9032" name="TextBox 9031"/>
          <p:cNvSpPr txBox="1"/>
          <p:nvPr/>
        </p:nvSpPr>
        <p:spPr>
          <a:xfrm>
            <a:off x="9596628" y="3291840"/>
            <a:ext cx="1408176" cy="365760"/>
          </a:xfrm>
          <a:prstGeom prst="rect">
            <a:avLst/>
          </a:prstGeom>
          <a:noFill/>
        </p:spPr>
        <p:txBody>
          <a:bodyPr wrap="square" lIns="0" tIns="0" rIns="0" bIns="0" anchor="t">
            <a:noAutofit/>
          </a:bodyPr>
          <a:lstStyle/>
          <a:p>
            <a:pPr algn="ctr"/>
            <a:r>
              <a:rPr sz="1800" b="1" i="0">
                <a:solidFill>
                  <a:srgbClr val="2E1065"/>
                </a:solidFill>
                <a:latin typeface="Segoe UI"/>
                <a:ea typeface="Segoe UI"/>
                <a:cs typeface="Segoe UI"/>
              </a:rPr>
              <a:t>ADRs</a:t>
            </a:r>
          </a:p>
        </p:txBody>
      </p:sp>
      <p:sp>
        <p:nvSpPr>
          <p:cNvPr id="9033" name="TextBox 9032"/>
          <p:cNvSpPr txBox="1"/>
          <p:nvPr/>
        </p:nvSpPr>
        <p:spPr>
          <a:xfrm>
            <a:off x="9596628" y="3675887"/>
            <a:ext cx="1408176" cy="64008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one per decision</a:t>
            </a:r>
          </a:p>
        </p:txBody>
      </p:sp>
      <p:sp>
        <p:nvSpPr>
          <p:cNvPr id="9034" name="TextBox 9033"/>
          <p:cNvSpPr txBox="1"/>
          <p:nvPr/>
        </p:nvSpPr>
        <p:spPr>
          <a:xfrm>
            <a:off x="841248" y="4892040"/>
            <a:ext cx="3840480" cy="914400"/>
          </a:xfrm>
          <a:prstGeom prst="rect">
            <a:avLst/>
          </a:prstGeom>
          <a:noFill/>
        </p:spPr>
        <p:txBody>
          <a:bodyPr wrap="square" lIns="0" tIns="0" rIns="0" bIns="0" anchor="ctr">
            <a:noAutofit/>
          </a:bodyPr>
          <a:lstStyle/>
          <a:p>
            <a:pPr algn="l"/>
            <a:r>
              <a:rPr sz="3000" b="1" i="0">
                <a:solidFill>
                  <a:srgbClr val="2E1065"/>
                </a:solidFill>
                <a:latin typeface="Segoe UI"/>
                <a:ea typeface="Segoe UI"/>
                <a:cs typeface="Segoe UI"/>
              </a:rPr>
              <a:t>The opposite of slop.</a:t>
            </a:r>
          </a:p>
        </p:txBody>
      </p:sp>
      <p:sp>
        <p:nvSpPr>
          <p:cNvPr id="9035" name="TextBox 9034"/>
          <p:cNvSpPr txBox="1"/>
          <p:nvPr/>
        </p:nvSpPr>
        <p:spPr>
          <a:xfrm>
            <a:off x="4800600" y="4846320"/>
            <a:ext cx="6556248" cy="1005840"/>
          </a:xfrm>
          <a:prstGeom prst="rect">
            <a:avLst/>
          </a:prstGeom>
          <a:noFill/>
        </p:spPr>
        <p:txBody>
          <a:bodyPr wrap="square" lIns="0" tIns="0" rIns="0" bIns="0" anchor="ctr">
            <a:noAutofit/>
          </a:bodyPr>
          <a:lstStyle/>
          <a:p>
            <a:pPr algn="l"/>
            <a:r>
              <a:rPr lang="en-US" dirty="0">
                <a:solidFill>
                  <a:srgbClr val="3A3A3A"/>
                </a:solidFill>
                <a:latin typeface="Segoe UI"/>
                <a:ea typeface="Segoe UI"/>
                <a:cs typeface="Segoe UI"/>
              </a:rPr>
              <a:t>H</a:t>
            </a:r>
            <a:r>
              <a:rPr sz="1800" b="0" i="0" dirty="0">
                <a:solidFill>
                  <a:srgbClr val="3A3A3A"/>
                </a:solidFill>
                <a:latin typeface="Segoe UI"/>
                <a:ea typeface="Segoe UI"/>
                <a:cs typeface="Segoe UI"/>
              </a:rPr>
              <a:t>uman</a:t>
            </a:r>
            <a:r>
              <a:rPr lang="en-US" sz="1800" b="0" i="0" dirty="0">
                <a:solidFill>
                  <a:srgbClr val="3A3A3A"/>
                </a:solidFill>
                <a:latin typeface="Segoe UI"/>
                <a:ea typeface="Segoe UI"/>
                <a:cs typeface="Segoe UI"/>
              </a:rPr>
              <a:t>s</a:t>
            </a:r>
            <a:r>
              <a:rPr sz="1800" b="0" i="0" dirty="0">
                <a:solidFill>
                  <a:srgbClr val="3A3A3A"/>
                </a:solidFill>
                <a:latin typeface="Segoe UI"/>
                <a:ea typeface="Segoe UI"/>
                <a:cs typeface="Segoe UI"/>
              </a:rPr>
              <a:t> </a:t>
            </a:r>
            <a:r>
              <a:rPr lang="en-US" sz="1800" b="0" i="0" dirty="0">
                <a:solidFill>
                  <a:srgbClr val="3A3A3A"/>
                </a:solidFill>
                <a:latin typeface="Segoe UI"/>
                <a:ea typeface="Segoe UI"/>
                <a:cs typeface="Segoe UI"/>
              </a:rPr>
              <a:t>often </a:t>
            </a:r>
            <a:r>
              <a:rPr sz="1800" b="0" i="0" dirty="0">
                <a:solidFill>
                  <a:srgbClr val="3A3A3A"/>
                </a:solidFill>
                <a:latin typeface="Segoe UI"/>
                <a:ea typeface="Segoe UI"/>
                <a:cs typeface="Segoe UI"/>
              </a:rPr>
              <a:t>skip the </a:t>
            </a:r>
            <a:r>
              <a:rPr lang="en-US" sz="1800" b="0" i="0" dirty="0">
                <a:solidFill>
                  <a:srgbClr val="3A3A3A"/>
                </a:solidFill>
                <a:latin typeface="Segoe UI"/>
                <a:ea typeface="Segoe UI"/>
                <a:cs typeface="Segoe UI"/>
              </a:rPr>
              <a:t>tedious parts or procrastinate them till the end or after</a:t>
            </a:r>
            <a:r>
              <a:rPr sz="1800" b="0" i="0" dirty="0">
                <a:solidFill>
                  <a:srgbClr val="3A3A3A"/>
                </a:solidFill>
                <a:latin typeface="Segoe UI"/>
                <a:ea typeface="Segoe UI"/>
                <a:cs typeface="Segoe UI"/>
              </a:rPr>
              <a:t>. </a:t>
            </a:r>
            <a:r>
              <a:rPr lang="en-US" sz="1800" b="0" i="0" dirty="0">
                <a:solidFill>
                  <a:srgbClr val="3A3A3A"/>
                </a:solidFill>
                <a:latin typeface="Segoe UI"/>
                <a:ea typeface="Segoe UI"/>
                <a:cs typeface="Segoe UI"/>
              </a:rPr>
              <a:t>A</a:t>
            </a:r>
            <a:r>
              <a:rPr sz="1800" b="0" i="0" dirty="0">
                <a:solidFill>
                  <a:srgbClr val="3A3A3A"/>
                </a:solidFill>
                <a:latin typeface="Segoe UI"/>
                <a:ea typeface="Segoe UI"/>
                <a:cs typeface="Segoe UI"/>
              </a:rPr>
              <a:t>gent</a:t>
            </a:r>
            <a:r>
              <a:rPr lang="en-US" sz="1800" b="0" i="0" dirty="0">
                <a:solidFill>
                  <a:srgbClr val="3A3A3A"/>
                </a:solidFill>
                <a:latin typeface="Segoe UI"/>
                <a:ea typeface="Segoe UI"/>
                <a:cs typeface="Segoe UI"/>
              </a:rPr>
              <a:t>s</a:t>
            </a:r>
            <a:r>
              <a:rPr sz="1800" b="0" i="0" dirty="0">
                <a:solidFill>
                  <a:srgbClr val="3A3A3A"/>
                </a:solidFill>
                <a:latin typeface="Segoe UI"/>
                <a:ea typeface="Segoe UI"/>
                <a:cs typeface="Segoe UI"/>
              </a:rPr>
              <a:t> </a:t>
            </a:r>
            <a:r>
              <a:rPr lang="en-US" sz="1800" b="0" i="0" dirty="0">
                <a:solidFill>
                  <a:srgbClr val="3A3A3A"/>
                </a:solidFill>
                <a:latin typeface="Segoe UI"/>
                <a:ea typeface="Segoe UI"/>
                <a:cs typeface="Segoe UI"/>
              </a:rPr>
              <a:t>love tedious work!</a:t>
            </a:r>
            <a:r>
              <a:rPr sz="1800" b="0" i="0" dirty="0">
                <a:solidFill>
                  <a:srgbClr val="3A3A3A"/>
                </a:solidFill>
                <a:latin typeface="Segoe UI"/>
                <a:ea typeface="Segoe UI"/>
                <a:cs typeface="Segoe UI"/>
              </a:rPr>
              <a:t> </a:t>
            </a:r>
            <a:r>
              <a:rPr lang="en-US" sz="1800" b="0" i="0" dirty="0">
                <a:solidFill>
                  <a:srgbClr val="3A3A3A"/>
                </a:solidFill>
                <a:latin typeface="Segoe UI"/>
                <a:ea typeface="Segoe UI"/>
                <a:cs typeface="Segoe UI"/>
              </a:rPr>
              <a:t>Keep documents up-to-date in real time</a:t>
            </a:r>
            <a:r>
              <a:rPr sz="1800" b="0" i="0" dirty="0">
                <a:solidFill>
                  <a:srgbClr val="3A3A3A"/>
                </a:solidFill>
                <a:latin typeface="Segoe UI"/>
                <a:ea typeface="Segoe UI"/>
                <a:cs typeface="Segoe UI"/>
              </a:rPr>
              <a:t>. Code and paperwork get reviewed together.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H</a:t>
            </a:r>
            <a:r>
              <a:rPr dirty="0"/>
              <a:t>uman</a:t>
            </a:r>
            <a:r>
              <a:rPr lang="en-US" dirty="0"/>
              <a:t>s control</a:t>
            </a:r>
            <a:r>
              <a:rPr dirty="0"/>
              <a:t> the </a:t>
            </a:r>
            <a:r>
              <a:rPr lang="en-US" dirty="0"/>
              <a:t>risks and gates</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ROBOT RULE #3 · THE RISK SLIDE</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10</a:t>
            </a:fld>
            <a:endParaRPr lang="en-US"/>
          </a:p>
        </p:txBody>
      </p:sp>
      <p:sp>
        <p:nvSpPr>
          <p:cNvPr id="9002" name="SafeZone"/>
          <p:cNvSpPr/>
          <p:nvPr/>
        </p:nvSpPr>
        <p:spPr>
          <a:xfrm>
            <a:off x="841248" y="1691640"/>
            <a:ext cx="5623560" cy="3611880"/>
          </a:xfrm>
          <a:prstGeom prst="roundRect">
            <a:avLst>
              <a:gd name="adj" fmla="val 5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51560" y="1874519"/>
            <a:ext cx="603504" cy="6035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Lightning bolt icon"/>
          <p:cNvPicPr>
            <a:picLocks noChangeAspect="1"/>
          </p:cNvPicPr>
          <p:nvPr/>
        </p:nvPicPr>
        <p:blipFill>
          <a:blip r:embed="rId3"/>
          <a:stretch>
            <a:fillRect/>
          </a:stretch>
        </p:blipFill>
        <p:spPr>
          <a:xfrm>
            <a:off x="1184330" y="2007290"/>
            <a:ext cx="337962" cy="337962"/>
          </a:xfrm>
          <a:prstGeom prst="rect">
            <a:avLst/>
          </a:prstGeom>
        </p:spPr>
      </p:pic>
      <p:sp>
        <p:nvSpPr>
          <p:cNvPr id="9005" name="TextBox 9004"/>
          <p:cNvSpPr txBox="1"/>
          <p:nvPr/>
        </p:nvSpPr>
        <p:spPr>
          <a:xfrm>
            <a:off x="1810512" y="1874519"/>
            <a:ext cx="4526280" cy="603504"/>
          </a:xfrm>
          <a:prstGeom prst="rect">
            <a:avLst/>
          </a:prstGeom>
          <a:noFill/>
        </p:spPr>
        <p:txBody>
          <a:bodyPr wrap="square" lIns="0" tIns="0" rIns="0" bIns="0" anchor="ctr">
            <a:noAutofit/>
          </a:bodyPr>
          <a:lstStyle/>
          <a:p>
            <a:pPr algn="l"/>
            <a:r>
              <a:rPr lang="en-US" sz="2000" b="1" i="0" dirty="0">
                <a:solidFill>
                  <a:srgbClr val="2E1065"/>
                </a:solidFill>
                <a:latin typeface="Segoe UI"/>
                <a:ea typeface="Segoe UI"/>
                <a:cs typeface="Segoe UI"/>
              </a:rPr>
              <a:t>Low risk</a:t>
            </a:r>
            <a:r>
              <a:rPr sz="2000" b="1" i="0" dirty="0">
                <a:solidFill>
                  <a:srgbClr val="2E1065"/>
                </a:solidFill>
                <a:latin typeface="Segoe UI"/>
                <a:ea typeface="Segoe UI"/>
                <a:cs typeface="Segoe UI"/>
              </a:rPr>
              <a:t>: the agent moves at full speed</a:t>
            </a:r>
          </a:p>
        </p:txBody>
      </p:sp>
      <p:pic>
        <p:nvPicPr>
          <p:cNvPr id="9006" name="Picture 9005" descr="Check icon"/>
          <p:cNvPicPr>
            <a:picLocks noChangeAspect="1"/>
          </p:cNvPicPr>
          <p:nvPr/>
        </p:nvPicPr>
        <p:blipFill>
          <a:blip r:embed="rId4"/>
          <a:stretch>
            <a:fillRect/>
          </a:stretch>
        </p:blipFill>
        <p:spPr>
          <a:xfrm>
            <a:off x="1097280" y="2788920"/>
            <a:ext cx="347472" cy="347472"/>
          </a:xfrm>
          <a:prstGeom prst="rect">
            <a:avLst/>
          </a:prstGeom>
        </p:spPr>
      </p:pic>
      <p:sp>
        <p:nvSpPr>
          <p:cNvPr id="9007" name="TextBox 9006"/>
          <p:cNvSpPr txBox="1"/>
          <p:nvPr/>
        </p:nvSpPr>
        <p:spPr>
          <a:xfrm>
            <a:off x="1600200" y="2743200"/>
            <a:ext cx="4663440" cy="457200"/>
          </a:xfrm>
          <a:prstGeom prst="rect">
            <a:avLst/>
          </a:prstGeom>
          <a:noFill/>
        </p:spPr>
        <p:txBody>
          <a:bodyPr wrap="square" lIns="0" tIns="0" rIns="0" bIns="0" anchor="ctr">
            <a:noAutofit/>
          </a:bodyPr>
          <a:lstStyle/>
          <a:p>
            <a:pPr algn="l"/>
            <a:r>
              <a:rPr sz="1800" b="0" i="0">
                <a:solidFill>
                  <a:srgbClr val="3A3A3A"/>
                </a:solidFill>
                <a:latin typeface="Segoe UI"/>
                <a:ea typeface="Segoe UI"/>
                <a:cs typeface="Segoe UI"/>
              </a:rPr>
              <a:t>Reading, searching, and drafting</a:t>
            </a:r>
          </a:p>
        </p:txBody>
      </p:sp>
      <p:pic>
        <p:nvPicPr>
          <p:cNvPr id="9008" name="Picture 9007" descr="Check icon"/>
          <p:cNvPicPr>
            <a:picLocks noChangeAspect="1"/>
          </p:cNvPicPr>
          <p:nvPr/>
        </p:nvPicPr>
        <p:blipFill>
          <a:blip r:embed="rId4"/>
          <a:stretch>
            <a:fillRect/>
          </a:stretch>
        </p:blipFill>
        <p:spPr>
          <a:xfrm>
            <a:off x="1097280" y="3392424"/>
            <a:ext cx="347472" cy="347472"/>
          </a:xfrm>
          <a:prstGeom prst="rect">
            <a:avLst/>
          </a:prstGeom>
        </p:spPr>
      </p:pic>
      <p:sp>
        <p:nvSpPr>
          <p:cNvPr id="9009" name="TextBox 9008"/>
          <p:cNvSpPr txBox="1"/>
          <p:nvPr/>
        </p:nvSpPr>
        <p:spPr>
          <a:xfrm>
            <a:off x="1600200" y="3346704"/>
            <a:ext cx="4663440" cy="457200"/>
          </a:xfrm>
          <a:prstGeom prst="rect">
            <a:avLst/>
          </a:prstGeom>
          <a:noFill/>
        </p:spPr>
        <p:txBody>
          <a:bodyPr wrap="square" lIns="0" tIns="0" rIns="0" bIns="0" anchor="ctr">
            <a:noAutofit/>
          </a:bodyPr>
          <a:lstStyle/>
          <a:p>
            <a:pPr algn="l"/>
            <a:r>
              <a:rPr sz="1800" b="0" i="0">
                <a:solidFill>
                  <a:srgbClr val="3A3A3A"/>
                </a:solidFill>
                <a:latin typeface="Segoe UI"/>
                <a:ea typeface="Segoe UI"/>
                <a:cs typeface="Segoe UI"/>
              </a:rPr>
              <a:t>Code and tests in your working copy</a:t>
            </a:r>
          </a:p>
        </p:txBody>
      </p:sp>
      <p:pic>
        <p:nvPicPr>
          <p:cNvPr id="9010" name="Picture 9009" descr="Check icon"/>
          <p:cNvPicPr>
            <a:picLocks noChangeAspect="1"/>
          </p:cNvPicPr>
          <p:nvPr/>
        </p:nvPicPr>
        <p:blipFill>
          <a:blip r:embed="rId4"/>
          <a:stretch>
            <a:fillRect/>
          </a:stretch>
        </p:blipFill>
        <p:spPr>
          <a:xfrm>
            <a:off x="1097280" y="3995928"/>
            <a:ext cx="347472" cy="347472"/>
          </a:xfrm>
          <a:prstGeom prst="rect">
            <a:avLst/>
          </a:prstGeom>
        </p:spPr>
      </p:pic>
      <p:sp>
        <p:nvSpPr>
          <p:cNvPr id="9011" name="TextBox 9010"/>
          <p:cNvSpPr txBox="1"/>
          <p:nvPr/>
        </p:nvSpPr>
        <p:spPr>
          <a:xfrm>
            <a:off x="1600200" y="3950208"/>
            <a:ext cx="4663440" cy="457200"/>
          </a:xfrm>
          <a:prstGeom prst="rect">
            <a:avLst/>
          </a:prstGeom>
          <a:noFill/>
        </p:spPr>
        <p:txBody>
          <a:bodyPr wrap="square" lIns="0" tIns="0" rIns="0" bIns="0" anchor="ctr">
            <a:noAutofit/>
          </a:bodyPr>
          <a:lstStyle/>
          <a:p>
            <a:pPr algn="l"/>
            <a:r>
              <a:rPr sz="1800" b="0" i="0">
                <a:solidFill>
                  <a:srgbClr val="3A3A3A"/>
                </a:solidFill>
                <a:latin typeface="Segoe UI"/>
                <a:ea typeface="Segoe UI"/>
                <a:cs typeface="Segoe UI"/>
              </a:rPr>
              <a:t>Docs, diagrams, and draft decision records</a:t>
            </a:r>
          </a:p>
        </p:txBody>
      </p:sp>
      <p:pic>
        <p:nvPicPr>
          <p:cNvPr id="9012" name="Picture 9011" descr="Check icon"/>
          <p:cNvPicPr>
            <a:picLocks noChangeAspect="1"/>
          </p:cNvPicPr>
          <p:nvPr/>
        </p:nvPicPr>
        <p:blipFill>
          <a:blip r:embed="rId4"/>
          <a:stretch>
            <a:fillRect/>
          </a:stretch>
        </p:blipFill>
        <p:spPr>
          <a:xfrm>
            <a:off x="1097280" y="4599432"/>
            <a:ext cx="347472" cy="347472"/>
          </a:xfrm>
          <a:prstGeom prst="rect">
            <a:avLst/>
          </a:prstGeom>
        </p:spPr>
      </p:pic>
      <p:sp>
        <p:nvSpPr>
          <p:cNvPr id="9013" name="TextBox 9012"/>
          <p:cNvSpPr txBox="1"/>
          <p:nvPr/>
        </p:nvSpPr>
        <p:spPr>
          <a:xfrm>
            <a:off x="1600200" y="4553712"/>
            <a:ext cx="4663440" cy="457200"/>
          </a:xfrm>
          <a:prstGeom prst="rect">
            <a:avLst/>
          </a:prstGeom>
          <a:noFill/>
        </p:spPr>
        <p:txBody>
          <a:bodyPr wrap="square" lIns="0" tIns="0" rIns="0" bIns="0" anchor="ctr">
            <a:noAutofit/>
          </a:bodyPr>
          <a:lstStyle/>
          <a:p>
            <a:pPr algn="l"/>
            <a:r>
              <a:rPr sz="1800" b="0" i="0">
                <a:solidFill>
                  <a:srgbClr val="3A3A3A"/>
                </a:solidFill>
                <a:latin typeface="Segoe UI"/>
                <a:ea typeface="Segoe UI"/>
                <a:cs typeface="Segoe UI"/>
              </a:rPr>
              <a:t>Running tests and local scripts</a:t>
            </a:r>
          </a:p>
        </p:txBody>
      </p:sp>
      <p:sp>
        <p:nvSpPr>
          <p:cNvPr id="9014" name="HumanZone"/>
          <p:cNvSpPr/>
          <p:nvPr/>
        </p:nvSpPr>
        <p:spPr>
          <a:xfrm>
            <a:off x="6675120" y="1691640"/>
            <a:ext cx="4681728" cy="3611880"/>
          </a:xfrm>
          <a:prstGeom prst="roundRect">
            <a:avLst>
              <a:gd name="adj" fmla="val 5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Oval 9014"/>
          <p:cNvSpPr/>
          <p:nvPr/>
        </p:nvSpPr>
        <p:spPr>
          <a:xfrm>
            <a:off x="6885432" y="1874519"/>
            <a:ext cx="603504" cy="603504"/>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6" name="Picture 9015" descr="Lock icon"/>
          <p:cNvPicPr>
            <a:picLocks noChangeAspect="1"/>
          </p:cNvPicPr>
          <p:nvPr/>
        </p:nvPicPr>
        <p:blipFill>
          <a:blip r:embed="rId5"/>
          <a:stretch>
            <a:fillRect/>
          </a:stretch>
        </p:blipFill>
        <p:spPr>
          <a:xfrm>
            <a:off x="7018202" y="2007290"/>
            <a:ext cx="337962" cy="337962"/>
          </a:xfrm>
          <a:prstGeom prst="rect">
            <a:avLst/>
          </a:prstGeom>
        </p:spPr>
      </p:pic>
      <p:sp>
        <p:nvSpPr>
          <p:cNvPr id="9017" name="TextBox 9016"/>
          <p:cNvSpPr txBox="1"/>
          <p:nvPr/>
        </p:nvSpPr>
        <p:spPr>
          <a:xfrm>
            <a:off x="7644383" y="1874519"/>
            <a:ext cx="3566160" cy="603504"/>
          </a:xfrm>
          <a:prstGeom prst="rect">
            <a:avLst/>
          </a:prstGeom>
          <a:noFill/>
        </p:spPr>
        <p:txBody>
          <a:bodyPr wrap="square" lIns="0" tIns="0" rIns="0" bIns="0" anchor="ctr">
            <a:noAutofit/>
          </a:bodyPr>
          <a:lstStyle/>
          <a:p>
            <a:pPr algn="l"/>
            <a:r>
              <a:rPr lang="en-US" sz="2000" b="1" i="0" dirty="0">
                <a:solidFill>
                  <a:srgbClr val="FFFFFF"/>
                </a:solidFill>
                <a:latin typeface="Segoe UI"/>
                <a:ea typeface="Segoe UI"/>
                <a:cs typeface="Segoe UI"/>
              </a:rPr>
              <a:t>Higher risk</a:t>
            </a:r>
            <a:r>
              <a:rPr sz="2000" b="1" i="0" dirty="0">
                <a:solidFill>
                  <a:srgbClr val="FFFFFF"/>
                </a:solidFill>
                <a:latin typeface="Segoe UI"/>
                <a:ea typeface="Segoe UI"/>
                <a:cs typeface="Segoe UI"/>
              </a:rPr>
              <a:t>: a human decides</a:t>
            </a:r>
          </a:p>
        </p:txBody>
      </p:sp>
      <p:pic>
        <p:nvPicPr>
          <p:cNvPr id="9018" name="Picture 9017" descr="Lock icon"/>
          <p:cNvPicPr>
            <a:picLocks noChangeAspect="1"/>
          </p:cNvPicPr>
          <p:nvPr/>
        </p:nvPicPr>
        <p:blipFill>
          <a:blip r:embed="rId6"/>
          <a:stretch>
            <a:fillRect/>
          </a:stretch>
        </p:blipFill>
        <p:spPr>
          <a:xfrm>
            <a:off x="6931152" y="2807208"/>
            <a:ext cx="310896" cy="310896"/>
          </a:xfrm>
          <a:prstGeom prst="rect">
            <a:avLst/>
          </a:prstGeom>
        </p:spPr>
      </p:pic>
      <p:sp>
        <p:nvSpPr>
          <p:cNvPr id="9019" name="TextBox 9018"/>
          <p:cNvSpPr txBox="1"/>
          <p:nvPr/>
        </p:nvSpPr>
        <p:spPr>
          <a:xfrm>
            <a:off x="7406640" y="2706624"/>
            <a:ext cx="3840480" cy="566928"/>
          </a:xfrm>
          <a:prstGeom prst="rect">
            <a:avLst/>
          </a:prstGeom>
          <a:noFill/>
        </p:spPr>
        <p:txBody>
          <a:bodyPr wrap="square" lIns="0" tIns="0" rIns="0" bIns="0" anchor="ctr">
            <a:noAutofit/>
          </a:bodyPr>
          <a:lstStyle/>
          <a:p>
            <a:pPr algn="l"/>
            <a:r>
              <a:rPr sz="1600" b="0" i="0" dirty="0">
                <a:solidFill>
                  <a:srgbClr val="FFFFFF"/>
                </a:solidFill>
                <a:latin typeface="Segoe UI"/>
                <a:ea typeface="Segoe UI"/>
                <a:cs typeface="Segoe UI"/>
              </a:rPr>
              <a:t>Commits, pull requests</a:t>
            </a:r>
            <a:r>
              <a:rPr lang="en-US" sz="1600" b="0" i="0" dirty="0">
                <a:solidFill>
                  <a:srgbClr val="FFFFFF"/>
                </a:solidFill>
                <a:latin typeface="Segoe UI"/>
                <a:ea typeface="Segoe UI"/>
                <a:cs typeface="Segoe UI"/>
              </a:rPr>
              <a:t>, and merges</a:t>
            </a:r>
            <a:endParaRPr sz="1600" b="0" i="0" dirty="0">
              <a:solidFill>
                <a:srgbClr val="FFFFFF"/>
              </a:solidFill>
              <a:latin typeface="Segoe UI"/>
              <a:ea typeface="Segoe UI"/>
              <a:cs typeface="Segoe UI"/>
            </a:endParaRPr>
          </a:p>
        </p:txBody>
      </p:sp>
      <p:pic>
        <p:nvPicPr>
          <p:cNvPr id="9020" name="Picture 9019" descr="Lock icon"/>
          <p:cNvPicPr>
            <a:picLocks noChangeAspect="1"/>
          </p:cNvPicPr>
          <p:nvPr/>
        </p:nvPicPr>
        <p:blipFill>
          <a:blip r:embed="rId6"/>
          <a:stretch>
            <a:fillRect/>
          </a:stretch>
        </p:blipFill>
        <p:spPr>
          <a:xfrm>
            <a:off x="6931152" y="3410712"/>
            <a:ext cx="310896" cy="310896"/>
          </a:xfrm>
          <a:prstGeom prst="rect">
            <a:avLst/>
          </a:prstGeom>
        </p:spPr>
      </p:pic>
      <p:sp>
        <p:nvSpPr>
          <p:cNvPr id="9021" name="TextBox 9020"/>
          <p:cNvSpPr txBox="1"/>
          <p:nvPr/>
        </p:nvSpPr>
        <p:spPr>
          <a:xfrm>
            <a:off x="7406640" y="3310128"/>
            <a:ext cx="3840480" cy="566928"/>
          </a:xfrm>
          <a:prstGeom prst="rect">
            <a:avLst/>
          </a:prstGeom>
          <a:noFill/>
        </p:spPr>
        <p:txBody>
          <a:bodyPr wrap="square" lIns="0" tIns="0" rIns="0" bIns="0" anchor="ctr">
            <a:noAutofit/>
          </a:bodyPr>
          <a:lstStyle/>
          <a:p>
            <a:pPr algn="l"/>
            <a:r>
              <a:rPr sz="1600" b="0" i="0" dirty="0">
                <a:solidFill>
                  <a:srgbClr val="FFFFFF"/>
                </a:solidFill>
                <a:latin typeface="Segoe UI"/>
                <a:ea typeface="Segoe UI"/>
                <a:cs typeface="Segoe UI"/>
              </a:rPr>
              <a:t>Closing a Jira story needs explicit confirmation</a:t>
            </a:r>
          </a:p>
        </p:txBody>
      </p:sp>
      <p:pic>
        <p:nvPicPr>
          <p:cNvPr id="9022" name="Picture 9021" descr="Lock icon"/>
          <p:cNvPicPr>
            <a:picLocks noChangeAspect="1"/>
          </p:cNvPicPr>
          <p:nvPr/>
        </p:nvPicPr>
        <p:blipFill>
          <a:blip r:embed="rId6"/>
          <a:stretch>
            <a:fillRect/>
          </a:stretch>
        </p:blipFill>
        <p:spPr>
          <a:xfrm>
            <a:off x="6931152" y="4014216"/>
            <a:ext cx="310896" cy="310896"/>
          </a:xfrm>
          <a:prstGeom prst="rect">
            <a:avLst/>
          </a:prstGeom>
        </p:spPr>
      </p:pic>
      <p:sp>
        <p:nvSpPr>
          <p:cNvPr id="9023" name="TextBox 9022"/>
          <p:cNvSpPr txBox="1"/>
          <p:nvPr/>
        </p:nvSpPr>
        <p:spPr>
          <a:xfrm>
            <a:off x="7406640" y="3913632"/>
            <a:ext cx="3840480" cy="566928"/>
          </a:xfrm>
          <a:prstGeom prst="rect">
            <a:avLst/>
          </a:prstGeom>
          <a:noFill/>
        </p:spPr>
        <p:txBody>
          <a:bodyPr wrap="square" lIns="0" tIns="0" rIns="0" bIns="0" anchor="ctr">
            <a:noAutofit/>
          </a:bodyPr>
          <a:lstStyle/>
          <a:p>
            <a:pPr algn="l"/>
            <a:r>
              <a:rPr sz="1600" b="0" i="0">
                <a:solidFill>
                  <a:srgbClr val="FFFFFF"/>
                </a:solidFill>
                <a:latin typeface="Segoe UI"/>
                <a:ea typeface="Segoe UI"/>
                <a:cs typeface="Segoe UI"/>
              </a:rPr>
              <a:t>Destructive or shared-system actions</a:t>
            </a:r>
          </a:p>
        </p:txBody>
      </p:sp>
      <p:pic>
        <p:nvPicPr>
          <p:cNvPr id="9024" name="Picture 9023" descr="Lock icon"/>
          <p:cNvPicPr>
            <a:picLocks noChangeAspect="1"/>
          </p:cNvPicPr>
          <p:nvPr/>
        </p:nvPicPr>
        <p:blipFill>
          <a:blip r:embed="rId6"/>
          <a:stretch>
            <a:fillRect/>
          </a:stretch>
        </p:blipFill>
        <p:spPr>
          <a:xfrm>
            <a:off x="6931152" y="4617720"/>
            <a:ext cx="310896" cy="310896"/>
          </a:xfrm>
          <a:prstGeom prst="rect">
            <a:avLst/>
          </a:prstGeom>
        </p:spPr>
      </p:pic>
      <p:sp>
        <p:nvSpPr>
          <p:cNvPr id="9025" name="TextBox 9024"/>
          <p:cNvSpPr txBox="1"/>
          <p:nvPr/>
        </p:nvSpPr>
        <p:spPr>
          <a:xfrm>
            <a:off x="7406640" y="4517136"/>
            <a:ext cx="3840480" cy="566928"/>
          </a:xfrm>
          <a:prstGeom prst="rect">
            <a:avLst/>
          </a:prstGeom>
          <a:noFill/>
        </p:spPr>
        <p:txBody>
          <a:bodyPr wrap="square" lIns="0" tIns="0" rIns="0" bIns="0" anchor="ctr">
            <a:noAutofit/>
          </a:bodyPr>
          <a:lstStyle/>
          <a:p>
            <a:pPr algn="l"/>
            <a:r>
              <a:rPr lang="en-US" sz="1600" b="0" i="0" dirty="0">
                <a:solidFill>
                  <a:srgbClr val="FFFFFF"/>
                </a:solidFill>
                <a:latin typeface="Segoe UI"/>
                <a:ea typeface="Segoe UI"/>
                <a:cs typeface="Segoe UI"/>
              </a:rPr>
              <a:t>When to move to higher environments</a:t>
            </a:r>
            <a:endParaRPr sz="1600" b="0" i="0" dirty="0">
              <a:solidFill>
                <a:srgbClr val="FFFFFF"/>
              </a:solidFill>
              <a:latin typeface="Segoe UI"/>
              <a:ea typeface="Segoe UI"/>
              <a:cs typeface="Segoe UI"/>
            </a:endParaRPr>
          </a:p>
        </p:txBody>
      </p:sp>
      <p:pic>
        <p:nvPicPr>
          <p:cNvPr id="9026" name="Picture 9025" descr="Gauge icon"/>
          <p:cNvPicPr>
            <a:picLocks noChangeAspect="1"/>
          </p:cNvPicPr>
          <p:nvPr/>
        </p:nvPicPr>
        <p:blipFill>
          <a:blip r:embed="rId7"/>
          <a:stretch>
            <a:fillRect/>
          </a:stretch>
        </p:blipFill>
        <p:spPr>
          <a:xfrm>
            <a:off x="841248" y="5468112"/>
            <a:ext cx="438912" cy="438912"/>
          </a:xfrm>
          <a:prstGeom prst="rect">
            <a:avLst/>
          </a:prstGeom>
        </p:spPr>
      </p:pic>
      <p:sp>
        <p:nvSpPr>
          <p:cNvPr id="9027" name="TextBox 9026"/>
          <p:cNvSpPr txBox="1"/>
          <p:nvPr/>
        </p:nvSpPr>
        <p:spPr>
          <a:xfrm>
            <a:off x="1417320" y="5440680"/>
            <a:ext cx="9875520" cy="502920"/>
          </a:xfrm>
          <a:prstGeom prst="rect">
            <a:avLst/>
          </a:prstGeom>
          <a:noFill/>
        </p:spPr>
        <p:txBody>
          <a:bodyPr wrap="square" lIns="0" tIns="0" rIns="0" bIns="0" anchor="ctr">
            <a:noAutofit/>
          </a:bodyPr>
          <a:lstStyle/>
          <a:p>
            <a:r>
              <a:rPr sz="1800" b="1" i="0" dirty="0">
                <a:solidFill>
                  <a:srgbClr val="2E1065"/>
                </a:solidFill>
                <a:latin typeface="Segoe UI"/>
                <a:ea typeface="Segoe UI"/>
                <a:cs typeface="Segoe UI"/>
              </a:rPr>
              <a:t>Full speed </a:t>
            </a:r>
            <a:r>
              <a:rPr lang="en-US" sz="1800" b="1" i="0" dirty="0">
                <a:solidFill>
                  <a:srgbClr val="2E1065"/>
                </a:solidFill>
                <a:latin typeface="Segoe UI"/>
                <a:ea typeface="Segoe UI"/>
                <a:cs typeface="Segoe UI"/>
              </a:rPr>
              <a:t>at the right times</a:t>
            </a:r>
            <a:r>
              <a:rPr sz="1800" b="1" i="0" dirty="0">
                <a:solidFill>
                  <a:srgbClr val="2E1065"/>
                </a:solidFill>
                <a:latin typeface="Segoe UI"/>
                <a:ea typeface="Segoe UI"/>
                <a:cs typeface="Segoe UI"/>
              </a:rPr>
              <a:t>. </a:t>
            </a:r>
            <a:r>
              <a:rPr sz="1800" b="0" i="0" dirty="0">
                <a:solidFill>
                  <a:srgbClr val="3A3A3A"/>
                </a:solidFill>
                <a:latin typeface="Segoe UI"/>
                <a:ea typeface="Segoe UI"/>
                <a:cs typeface="Segoe UI"/>
              </a:rPr>
              <a:t>Like </a:t>
            </a:r>
            <a:r>
              <a:rPr lang="en-US" sz="1800" b="0" i="0" dirty="0">
                <a:solidFill>
                  <a:srgbClr val="3A3A3A"/>
                </a:solidFill>
                <a:latin typeface="Segoe UI"/>
                <a:ea typeface="Segoe UI"/>
                <a:cs typeface="Segoe UI"/>
              </a:rPr>
              <a:t>the lines on the road, keeping the proper speed in the </a:t>
            </a:r>
            <a:r>
              <a:rPr lang="en-US" dirty="0">
                <a:solidFill>
                  <a:srgbClr val="3A3A3A"/>
                </a:solidFill>
                <a:latin typeface="Segoe UI"/>
                <a:ea typeface="Segoe UI"/>
                <a:cs typeface="Segoe UI"/>
              </a:rPr>
              <a:t>proper lanes, stopping at the right points to let a human decide if it’s okay to proceed. </a:t>
            </a:r>
            <a:endParaRPr sz="1800" b="0" i="0" dirty="0">
              <a:solidFill>
                <a:srgbClr val="3A3A3A"/>
              </a:solidFill>
              <a:latin typeface="Segoe UI"/>
              <a:ea typeface="Segoe UI"/>
              <a:cs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It should work. “Should” means you </a:t>
            </a:r>
            <a:r>
              <a:rPr lang="en-US" u="sng" dirty="0"/>
              <a:t>must test</a:t>
            </a:r>
            <a:endParaRPr u="sng"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ROBOT RULE #4</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11</a:t>
            </a:fld>
            <a:endParaRPr lang="en-US"/>
          </a:p>
        </p:txBody>
      </p:sp>
      <p:sp>
        <p:nvSpPr>
          <p:cNvPr id="9002" name="Oval 9001"/>
          <p:cNvSpPr/>
          <p:nvPr/>
        </p:nvSpPr>
        <p:spPr>
          <a:xfrm>
            <a:off x="841248" y="1746504"/>
            <a:ext cx="603504" cy="603504"/>
          </a:xfrm>
          <a:prstGeom prst="ellipse">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3" name="Picture 9002" descr="Spikes run against the real systems icon"/>
          <p:cNvPicPr>
            <a:picLocks noChangeAspect="1"/>
          </p:cNvPicPr>
          <p:nvPr/>
        </p:nvPicPr>
        <p:blipFill>
          <a:blip r:embed="rId3"/>
          <a:stretch>
            <a:fillRect/>
          </a:stretch>
        </p:blipFill>
        <p:spPr>
          <a:xfrm>
            <a:off x="974018" y="1879274"/>
            <a:ext cx="337962" cy="337962"/>
          </a:xfrm>
          <a:prstGeom prst="rect">
            <a:avLst/>
          </a:prstGeom>
        </p:spPr>
      </p:pic>
      <p:sp>
        <p:nvSpPr>
          <p:cNvPr id="9004" name="TextBox 9003"/>
          <p:cNvSpPr txBox="1"/>
          <p:nvPr/>
        </p:nvSpPr>
        <p:spPr>
          <a:xfrm>
            <a:off x="1645920" y="1691640"/>
            <a:ext cx="6126480" cy="384048"/>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Spikes </a:t>
            </a:r>
            <a:r>
              <a:rPr lang="en-US" sz="1800" b="1" i="0" dirty="0">
                <a:solidFill>
                  <a:srgbClr val="2E1065"/>
                </a:solidFill>
                <a:latin typeface="Segoe UI"/>
                <a:ea typeface="Segoe UI"/>
                <a:cs typeface="Segoe UI"/>
              </a:rPr>
              <a:t>are actual tests, and record the results</a:t>
            </a:r>
            <a:endParaRPr sz="1800" b="1" i="0" dirty="0">
              <a:solidFill>
                <a:srgbClr val="2E1065"/>
              </a:solidFill>
              <a:latin typeface="Segoe UI"/>
              <a:ea typeface="Segoe UI"/>
              <a:cs typeface="Segoe UI"/>
            </a:endParaRPr>
          </a:p>
        </p:txBody>
      </p:sp>
      <p:sp>
        <p:nvSpPr>
          <p:cNvPr id="9005" name="TextBox 9004"/>
          <p:cNvSpPr txBox="1"/>
          <p:nvPr/>
        </p:nvSpPr>
        <p:spPr>
          <a:xfrm>
            <a:off x="1645920" y="2057400"/>
            <a:ext cx="6126480" cy="365760"/>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not </a:t>
            </a:r>
            <a:r>
              <a:rPr lang="en-US" sz="1600" b="0" i="0" dirty="0">
                <a:solidFill>
                  <a:srgbClr val="3A3A3A"/>
                </a:solidFill>
                <a:latin typeface="Segoe UI"/>
                <a:ea typeface="Segoe UI"/>
                <a:cs typeface="Segoe UI"/>
              </a:rPr>
              <a:t>just reading the docs or assuming something works</a:t>
            </a:r>
            <a:endParaRPr sz="1600" b="0" i="0" dirty="0">
              <a:solidFill>
                <a:srgbClr val="3A3A3A"/>
              </a:solidFill>
              <a:latin typeface="Segoe UI"/>
              <a:ea typeface="Segoe UI"/>
              <a:cs typeface="Segoe UI"/>
            </a:endParaRPr>
          </a:p>
        </p:txBody>
      </p:sp>
      <p:sp>
        <p:nvSpPr>
          <p:cNvPr id="9006" name="Oval 9005"/>
          <p:cNvSpPr/>
          <p:nvPr/>
        </p:nvSpPr>
        <p:spPr>
          <a:xfrm>
            <a:off x="841248" y="2587752"/>
            <a:ext cx="603504" cy="603504"/>
          </a:xfrm>
          <a:prstGeom prst="ellipse">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7" name="Picture 9006" descr="Run the tests before claiming done icon"/>
          <p:cNvPicPr>
            <a:picLocks noChangeAspect="1"/>
          </p:cNvPicPr>
          <p:nvPr/>
        </p:nvPicPr>
        <p:blipFill>
          <a:blip r:embed="rId4"/>
          <a:stretch>
            <a:fillRect/>
          </a:stretch>
        </p:blipFill>
        <p:spPr>
          <a:xfrm>
            <a:off x="974018" y="2720522"/>
            <a:ext cx="337962" cy="337962"/>
          </a:xfrm>
          <a:prstGeom prst="rect">
            <a:avLst/>
          </a:prstGeom>
        </p:spPr>
      </p:pic>
      <p:sp>
        <p:nvSpPr>
          <p:cNvPr id="9008" name="TextBox 9007"/>
          <p:cNvSpPr txBox="1"/>
          <p:nvPr/>
        </p:nvSpPr>
        <p:spPr>
          <a:xfrm>
            <a:off x="1645920" y="2532888"/>
            <a:ext cx="6126480" cy="384048"/>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Run the tests before claiming done</a:t>
            </a:r>
          </a:p>
        </p:txBody>
      </p:sp>
      <p:sp>
        <p:nvSpPr>
          <p:cNvPr id="9009" name="TextBox 9008"/>
          <p:cNvSpPr txBox="1"/>
          <p:nvPr/>
        </p:nvSpPr>
        <p:spPr>
          <a:xfrm>
            <a:off x="1645920" y="2898648"/>
            <a:ext cx="6126480" cy="365760"/>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a claim of done comes with a passing run</a:t>
            </a:r>
          </a:p>
        </p:txBody>
      </p:sp>
      <p:sp>
        <p:nvSpPr>
          <p:cNvPr id="9010" name="Oval 9009"/>
          <p:cNvSpPr/>
          <p:nvPr/>
        </p:nvSpPr>
        <p:spPr>
          <a:xfrm>
            <a:off x="841248" y="3429000"/>
            <a:ext cx="603504" cy="603504"/>
          </a:xfrm>
          <a:prstGeom prst="ellipse">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1" name="Picture 9010" descr="A vendor's &quot;fixed&quot; note isn't proof icon"/>
          <p:cNvPicPr>
            <a:picLocks noChangeAspect="1"/>
          </p:cNvPicPr>
          <p:nvPr/>
        </p:nvPicPr>
        <p:blipFill>
          <a:blip r:embed="rId5"/>
          <a:stretch>
            <a:fillRect/>
          </a:stretch>
        </p:blipFill>
        <p:spPr>
          <a:xfrm>
            <a:off x="974018" y="3561770"/>
            <a:ext cx="337962" cy="337962"/>
          </a:xfrm>
          <a:prstGeom prst="rect">
            <a:avLst/>
          </a:prstGeom>
        </p:spPr>
      </p:pic>
      <p:sp>
        <p:nvSpPr>
          <p:cNvPr id="9012" name="TextBox 9011"/>
          <p:cNvSpPr txBox="1"/>
          <p:nvPr/>
        </p:nvSpPr>
        <p:spPr>
          <a:xfrm>
            <a:off x="1645920" y="3374136"/>
            <a:ext cx="6126480" cy="384048"/>
          </a:xfrm>
          <a:prstGeom prst="rect">
            <a:avLst/>
          </a:prstGeom>
          <a:noFill/>
        </p:spPr>
        <p:txBody>
          <a:bodyPr wrap="square" lIns="0" tIns="0" rIns="0" bIns="0" anchor="t">
            <a:noAutofit/>
          </a:bodyPr>
          <a:lstStyle/>
          <a:p>
            <a:pPr algn="l"/>
            <a:r>
              <a:rPr lang="en-US" b="1" dirty="0">
                <a:solidFill>
                  <a:srgbClr val="2E1065"/>
                </a:solidFill>
                <a:latin typeface="Segoe UI"/>
                <a:ea typeface="Segoe UI"/>
                <a:cs typeface="Segoe UI"/>
              </a:rPr>
              <a:t>V</a:t>
            </a:r>
            <a:r>
              <a:rPr sz="1800" b="1" i="0" dirty="0">
                <a:solidFill>
                  <a:srgbClr val="2E1065"/>
                </a:solidFill>
                <a:latin typeface="Segoe UI"/>
                <a:ea typeface="Segoe UI"/>
                <a:cs typeface="Segoe UI"/>
              </a:rPr>
              <a:t>endor</a:t>
            </a:r>
            <a:r>
              <a:rPr lang="en-US" sz="1800" b="1" i="0" dirty="0">
                <a:solidFill>
                  <a:srgbClr val="2E1065"/>
                </a:solidFill>
                <a:latin typeface="Segoe UI"/>
                <a:ea typeface="Segoe UI"/>
                <a:cs typeface="Segoe UI"/>
              </a:rPr>
              <a:t> fixes are suspect until confirmed</a:t>
            </a:r>
            <a:endParaRPr sz="1800" b="1" i="0" dirty="0">
              <a:solidFill>
                <a:srgbClr val="2E1065"/>
              </a:solidFill>
              <a:latin typeface="Segoe UI"/>
              <a:ea typeface="Segoe UI"/>
              <a:cs typeface="Segoe UI"/>
            </a:endParaRPr>
          </a:p>
        </p:txBody>
      </p:sp>
      <p:sp>
        <p:nvSpPr>
          <p:cNvPr id="9013" name="TextBox 9012"/>
          <p:cNvSpPr txBox="1"/>
          <p:nvPr/>
        </p:nvSpPr>
        <p:spPr>
          <a:xfrm>
            <a:off x="1645920" y="3739896"/>
            <a:ext cx="6126480" cy="365760"/>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confirm the </a:t>
            </a:r>
            <a:r>
              <a:rPr lang="en-US" sz="1600" b="0" i="0" dirty="0">
                <a:solidFill>
                  <a:srgbClr val="3A3A3A"/>
                </a:solidFill>
                <a:latin typeface="Segoe UI"/>
                <a:ea typeface="Segoe UI"/>
                <a:cs typeface="Segoe UI"/>
              </a:rPr>
              <a:t>original issue now works</a:t>
            </a:r>
            <a:r>
              <a:rPr sz="1600" b="0" i="0" dirty="0">
                <a:solidFill>
                  <a:srgbClr val="3A3A3A"/>
                </a:solidFill>
                <a:latin typeface="Segoe UI"/>
                <a:ea typeface="Segoe UI"/>
                <a:cs typeface="Segoe UI"/>
              </a:rPr>
              <a:t> on the new version</a:t>
            </a:r>
          </a:p>
        </p:txBody>
      </p:sp>
      <p:sp>
        <p:nvSpPr>
          <p:cNvPr id="9014" name="Oval 9013"/>
          <p:cNvSpPr/>
          <p:nvPr/>
        </p:nvSpPr>
        <p:spPr>
          <a:xfrm>
            <a:off x="841248" y="4270248"/>
            <a:ext cx="603504" cy="603504"/>
          </a:xfrm>
          <a:prstGeom prst="ellipse">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5" name="Picture 9014" descr="Confirm the final results visually icon"/>
          <p:cNvPicPr>
            <a:picLocks noChangeAspect="1"/>
          </p:cNvPicPr>
          <p:nvPr/>
        </p:nvPicPr>
        <p:blipFill>
          <a:blip r:embed="rId6"/>
          <a:stretch>
            <a:fillRect/>
          </a:stretch>
        </p:blipFill>
        <p:spPr>
          <a:xfrm>
            <a:off x="974018" y="4403018"/>
            <a:ext cx="337962" cy="337962"/>
          </a:xfrm>
          <a:prstGeom prst="rect">
            <a:avLst/>
          </a:prstGeom>
        </p:spPr>
      </p:pic>
      <p:sp>
        <p:nvSpPr>
          <p:cNvPr id="9016" name="TextBox 9015"/>
          <p:cNvSpPr txBox="1"/>
          <p:nvPr/>
        </p:nvSpPr>
        <p:spPr>
          <a:xfrm>
            <a:off x="1645920" y="4215384"/>
            <a:ext cx="6126480" cy="384048"/>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Confirm </a:t>
            </a:r>
            <a:r>
              <a:rPr lang="en-US" sz="1800" b="1" i="0" dirty="0">
                <a:solidFill>
                  <a:srgbClr val="2E1065"/>
                </a:solidFill>
                <a:latin typeface="Segoe UI"/>
                <a:ea typeface="Segoe UI"/>
                <a:cs typeface="Segoe UI"/>
              </a:rPr>
              <a:t>visuals </a:t>
            </a:r>
            <a:r>
              <a:rPr sz="1800" b="1" i="0" dirty="0">
                <a:solidFill>
                  <a:srgbClr val="2E1065"/>
                </a:solidFill>
                <a:latin typeface="Segoe UI"/>
                <a:ea typeface="Segoe UI"/>
                <a:cs typeface="Segoe UI"/>
              </a:rPr>
              <a:t>visually</a:t>
            </a:r>
          </a:p>
        </p:txBody>
      </p:sp>
      <p:sp>
        <p:nvSpPr>
          <p:cNvPr id="9017" name="TextBox 9016"/>
          <p:cNvSpPr txBox="1"/>
          <p:nvPr/>
        </p:nvSpPr>
        <p:spPr>
          <a:xfrm>
            <a:off x="1645920" y="4581144"/>
            <a:ext cx="6126480" cy="603504"/>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use Playwright or another rendering engine to display the output and spot formatting </a:t>
            </a:r>
            <a:r>
              <a:rPr lang="en-US" sz="1600" b="0" i="0" dirty="0">
                <a:solidFill>
                  <a:srgbClr val="3A3A3A"/>
                </a:solidFill>
                <a:latin typeface="Segoe UI"/>
                <a:ea typeface="Segoe UI"/>
                <a:cs typeface="Segoe UI"/>
              </a:rPr>
              <a:t>or rendering issues</a:t>
            </a:r>
            <a:endParaRPr sz="1600" b="0" i="0" dirty="0">
              <a:solidFill>
                <a:srgbClr val="3A3A3A"/>
              </a:solidFill>
              <a:latin typeface="Segoe UI"/>
              <a:ea typeface="Segoe UI"/>
              <a:cs typeface="Segoe UI"/>
            </a:endParaRPr>
          </a:p>
        </p:txBody>
      </p:sp>
      <p:sp>
        <p:nvSpPr>
          <p:cNvPr id="9018" name="Oval 9017"/>
          <p:cNvSpPr/>
          <p:nvPr/>
        </p:nvSpPr>
        <p:spPr>
          <a:xfrm>
            <a:off x="841248" y="5349240"/>
            <a:ext cx="603504" cy="603504"/>
          </a:xfrm>
          <a:prstGeom prst="ellipse">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9" name="Picture 9018" descr="Don't trust a blank screen icon"/>
          <p:cNvPicPr>
            <a:picLocks noChangeAspect="1"/>
          </p:cNvPicPr>
          <p:nvPr/>
        </p:nvPicPr>
        <p:blipFill>
          <a:blip r:embed="rId7"/>
          <a:stretch>
            <a:fillRect/>
          </a:stretch>
        </p:blipFill>
        <p:spPr>
          <a:xfrm>
            <a:off x="974018" y="5482010"/>
            <a:ext cx="337962" cy="337962"/>
          </a:xfrm>
          <a:prstGeom prst="rect">
            <a:avLst/>
          </a:prstGeom>
        </p:spPr>
      </p:pic>
      <p:sp>
        <p:nvSpPr>
          <p:cNvPr id="9020" name="TextBox 9019"/>
          <p:cNvSpPr txBox="1"/>
          <p:nvPr/>
        </p:nvSpPr>
        <p:spPr>
          <a:xfrm>
            <a:off x="1645920" y="5294376"/>
            <a:ext cx="6126480" cy="384048"/>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Don't trust a blank screen</a:t>
            </a:r>
          </a:p>
        </p:txBody>
      </p:sp>
      <p:sp>
        <p:nvSpPr>
          <p:cNvPr id="9021" name="TextBox 9020"/>
          <p:cNvSpPr txBox="1"/>
          <p:nvPr/>
        </p:nvSpPr>
        <p:spPr>
          <a:xfrm>
            <a:off x="1645920" y="5660136"/>
            <a:ext cx="6126480" cy="365760"/>
          </a:xfrm>
          <a:prstGeom prst="rect">
            <a:avLst/>
          </a:prstGeom>
          <a:noFill/>
        </p:spPr>
        <p:txBody>
          <a:bodyPr wrap="square" lIns="0" tIns="0" rIns="0" bIns="0" anchor="t">
            <a:noAutofit/>
          </a:bodyPr>
          <a:lstStyle/>
          <a:p>
            <a:pPr algn="l"/>
            <a:r>
              <a:rPr lang="en-US" sz="1600" b="0" i="0" dirty="0">
                <a:solidFill>
                  <a:srgbClr val="3A3A3A"/>
                </a:solidFill>
                <a:latin typeface="Segoe UI"/>
                <a:ea typeface="Segoe UI"/>
                <a:cs typeface="Segoe UI"/>
              </a:rPr>
              <a:t>Build testability into your system so you know when it works or fails</a:t>
            </a:r>
            <a:endParaRPr sz="1600" b="0" i="0" dirty="0">
              <a:solidFill>
                <a:srgbClr val="3A3A3A"/>
              </a:solidFill>
              <a:latin typeface="Segoe UI"/>
              <a:ea typeface="Segoe UI"/>
              <a:cs typeface="Segoe UI"/>
            </a:endParaRPr>
          </a:p>
        </p:txBody>
      </p:sp>
      <p:sp>
        <p:nvSpPr>
          <p:cNvPr id="9022" name="VerifyQuote"/>
          <p:cNvSpPr/>
          <p:nvPr/>
        </p:nvSpPr>
        <p:spPr>
          <a:xfrm>
            <a:off x="8001000" y="1691640"/>
            <a:ext cx="3355848" cy="420624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3" name="TextBox 9022"/>
          <p:cNvSpPr txBox="1"/>
          <p:nvPr/>
        </p:nvSpPr>
        <p:spPr>
          <a:xfrm>
            <a:off x="8275320" y="1783080"/>
            <a:ext cx="914400" cy="822960"/>
          </a:xfrm>
          <a:prstGeom prst="rect">
            <a:avLst/>
          </a:prstGeom>
          <a:noFill/>
        </p:spPr>
        <p:txBody>
          <a:bodyPr wrap="square" lIns="0" tIns="0" rIns="0" bIns="0" anchor="t">
            <a:noAutofit/>
          </a:bodyPr>
          <a:lstStyle/>
          <a:p>
            <a:pPr algn="l"/>
            <a:r>
              <a:rPr sz="7200" b="1" i="0">
                <a:solidFill>
                  <a:srgbClr val="C084FC"/>
                </a:solidFill>
                <a:latin typeface="Segoe UI"/>
                <a:ea typeface="Segoe UI"/>
                <a:cs typeface="Segoe UI"/>
              </a:rPr>
              <a:t>“</a:t>
            </a:r>
          </a:p>
        </p:txBody>
      </p:sp>
      <p:sp>
        <p:nvSpPr>
          <p:cNvPr id="9024" name="TextBox 9023"/>
          <p:cNvSpPr txBox="1"/>
          <p:nvPr/>
        </p:nvSpPr>
        <p:spPr>
          <a:xfrm>
            <a:off x="8275320" y="2560320"/>
            <a:ext cx="2834640" cy="1600200"/>
          </a:xfrm>
          <a:prstGeom prst="rect">
            <a:avLst/>
          </a:prstGeom>
          <a:noFill/>
        </p:spPr>
        <p:txBody>
          <a:bodyPr wrap="square" lIns="0" tIns="0" rIns="0" bIns="0" anchor="t">
            <a:noAutofit/>
          </a:bodyPr>
          <a:lstStyle/>
          <a:p>
            <a:pPr algn="l"/>
            <a:r>
              <a:rPr sz="2400" b="1" i="0" dirty="0">
                <a:solidFill>
                  <a:srgbClr val="FFFFFF"/>
                </a:solidFill>
                <a:latin typeface="Segoe UI"/>
                <a:ea typeface="Segoe UI"/>
                <a:cs typeface="Segoe UI"/>
              </a:rPr>
              <a:t>Sounding right isn't the same as being right.</a:t>
            </a:r>
          </a:p>
        </p:txBody>
      </p:sp>
      <p:sp>
        <p:nvSpPr>
          <p:cNvPr id="9025" name="TextBox 9024"/>
          <p:cNvSpPr txBox="1"/>
          <p:nvPr/>
        </p:nvSpPr>
        <p:spPr>
          <a:xfrm>
            <a:off x="8275320" y="4251960"/>
            <a:ext cx="2834640" cy="1463040"/>
          </a:xfrm>
          <a:prstGeom prst="rect">
            <a:avLst/>
          </a:prstGeom>
          <a:noFill/>
        </p:spPr>
        <p:txBody>
          <a:bodyPr wrap="square" lIns="0" tIns="0" rIns="0" bIns="0" anchor="t">
            <a:noAutofit/>
          </a:bodyPr>
          <a:lstStyle/>
          <a:p>
            <a:pPr algn="l"/>
            <a:r>
              <a:rPr sz="1600" b="0" i="0" dirty="0">
                <a:solidFill>
                  <a:srgbClr val="C084FC"/>
                </a:solidFill>
                <a:latin typeface="Segoe UI"/>
                <a:ea typeface="Segoe UI"/>
                <a:cs typeface="Segoe UI"/>
              </a:rPr>
              <a:t>Don't rely on catching mistakes by eye. Build the checks into the process so they happen </a:t>
            </a:r>
            <a:r>
              <a:rPr lang="en-US" sz="1600" b="0" i="0" dirty="0">
                <a:solidFill>
                  <a:srgbClr val="C084FC"/>
                </a:solidFill>
                <a:latin typeface="Segoe UI"/>
                <a:ea typeface="Segoe UI"/>
                <a:cs typeface="Segoe UI"/>
              </a:rPr>
              <a:t>automatically</a:t>
            </a:r>
            <a:r>
              <a:rPr sz="1600" b="0" i="0" dirty="0">
                <a:solidFill>
                  <a:srgbClr val="C084FC"/>
                </a:solidFill>
                <a:latin typeface="Segoe UI"/>
                <a:ea typeface="Segoe UI"/>
                <a:cs typeface="Segoe UI"/>
              </a:rPr>
              <a:t>.</a:t>
            </a:r>
            <a:br>
              <a:rPr lang="en-US" sz="1600" b="0" i="0" dirty="0">
                <a:solidFill>
                  <a:srgbClr val="C084FC"/>
                </a:solidFill>
                <a:latin typeface="Segoe UI"/>
                <a:ea typeface="Segoe UI"/>
                <a:cs typeface="Segoe UI"/>
              </a:rPr>
            </a:br>
            <a:br>
              <a:rPr lang="en-US" sz="1600" b="0" i="0" dirty="0">
                <a:solidFill>
                  <a:srgbClr val="C084FC"/>
                </a:solidFill>
                <a:latin typeface="Segoe UI"/>
                <a:ea typeface="Segoe UI"/>
                <a:cs typeface="Segoe UI"/>
              </a:rPr>
            </a:br>
            <a:endParaRPr sz="1600" b="0" i="0" dirty="0">
              <a:solidFill>
                <a:srgbClr val="C084FC"/>
              </a:solidFill>
              <a:latin typeface="Segoe UI"/>
              <a:ea typeface="Segoe UI"/>
              <a:cs typeface="Segoe U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The collaboration contract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ROBOT RULE #5</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12</a:t>
            </a:fld>
            <a:endParaRPr lang="en-US"/>
          </a:p>
        </p:txBody>
      </p:sp>
      <p:sp>
        <p:nvSpPr>
          <p:cNvPr id="9002" name="Contract0"/>
          <p:cNvSpPr/>
          <p:nvPr/>
        </p:nvSpPr>
        <p:spPr>
          <a:xfrm>
            <a:off x="841248" y="1691640"/>
            <a:ext cx="5184648" cy="19659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115568" y="1984248"/>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Ask when intent is unclear icon"/>
          <p:cNvPicPr>
            <a:picLocks noChangeAspect="1"/>
          </p:cNvPicPr>
          <p:nvPr/>
        </p:nvPicPr>
        <p:blipFill>
          <a:blip r:embed="rId3"/>
          <a:stretch>
            <a:fillRect/>
          </a:stretch>
        </p:blipFill>
        <p:spPr>
          <a:xfrm>
            <a:off x="1286560" y="2155240"/>
            <a:ext cx="435254" cy="435254"/>
          </a:xfrm>
          <a:prstGeom prst="rect">
            <a:avLst/>
          </a:prstGeom>
        </p:spPr>
      </p:pic>
      <p:sp>
        <p:nvSpPr>
          <p:cNvPr id="9005" name="TextBox 9004"/>
          <p:cNvSpPr txBox="1"/>
          <p:nvPr/>
        </p:nvSpPr>
        <p:spPr>
          <a:xfrm>
            <a:off x="2121408" y="1965960"/>
            <a:ext cx="3703320" cy="457200"/>
          </a:xfrm>
          <a:prstGeom prst="rect">
            <a:avLst/>
          </a:prstGeom>
          <a:noFill/>
        </p:spPr>
        <p:txBody>
          <a:bodyPr wrap="square" lIns="0" tIns="0" rIns="0" bIns="0" anchor="t">
            <a:noAutofit/>
          </a:bodyPr>
          <a:lstStyle/>
          <a:p>
            <a:pPr algn="l"/>
            <a:r>
              <a:rPr sz="2000" b="1" i="0">
                <a:solidFill>
                  <a:srgbClr val="2E1065"/>
                </a:solidFill>
                <a:latin typeface="Segoe UI"/>
                <a:ea typeface="Segoe UI"/>
                <a:cs typeface="Segoe UI"/>
              </a:rPr>
              <a:t>Ask when intent is unclear</a:t>
            </a:r>
          </a:p>
        </p:txBody>
      </p:sp>
      <p:sp>
        <p:nvSpPr>
          <p:cNvPr id="9006" name="TextBox 9005"/>
          <p:cNvSpPr txBox="1"/>
          <p:nvPr/>
        </p:nvSpPr>
        <p:spPr>
          <a:xfrm>
            <a:off x="2121408" y="2468880"/>
            <a:ext cx="3703320" cy="1097280"/>
          </a:xfrm>
          <a:prstGeom prst="rect">
            <a:avLst/>
          </a:prstGeom>
          <a:noFill/>
        </p:spPr>
        <p:txBody>
          <a:bodyPr wrap="square" lIns="0" tIns="0" rIns="0" bIns="0" anchor="t">
            <a:noAutofit/>
          </a:bodyPr>
          <a:lstStyle/>
          <a:p>
            <a:r>
              <a:rPr lang="en-US" dirty="0">
                <a:solidFill>
                  <a:srgbClr val="3A3A3A"/>
                </a:solidFill>
                <a:latin typeface="Segoe UI"/>
                <a:ea typeface="Segoe UI"/>
                <a:cs typeface="Segoe UI"/>
              </a:rPr>
              <a:t>The agent is empowered and expected to ask for clarifications if my intent is not clear or if I contradict myself or skip parts.</a:t>
            </a:r>
            <a:endParaRPr sz="1800" b="0" i="0" dirty="0">
              <a:solidFill>
                <a:srgbClr val="3A3A3A"/>
              </a:solidFill>
              <a:latin typeface="Segoe UI"/>
              <a:ea typeface="Segoe UI"/>
              <a:cs typeface="Segoe UI"/>
            </a:endParaRPr>
          </a:p>
        </p:txBody>
      </p:sp>
      <p:sp>
        <p:nvSpPr>
          <p:cNvPr id="9007" name="Contract1"/>
          <p:cNvSpPr/>
          <p:nvPr/>
        </p:nvSpPr>
        <p:spPr>
          <a:xfrm>
            <a:off x="6172200" y="1691640"/>
            <a:ext cx="5184648" cy="19659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6446520" y="1984248"/>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A few questions at a time icon"/>
          <p:cNvPicPr>
            <a:picLocks noChangeAspect="1"/>
          </p:cNvPicPr>
          <p:nvPr/>
        </p:nvPicPr>
        <p:blipFill>
          <a:blip r:embed="rId4"/>
          <a:stretch>
            <a:fillRect/>
          </a:stretch>
        </p:blipFill>
        <p:spPr>
          <a:xfrm>
            <a:off x="6617512" y="2155240"/>
            <a:ext cx="435254" cy="435254"/>
          </a:xfrm>
          <a:prstGeom prst="rect">
            <a:avLst/>
          </a:prstGeom>
        </p:spPr>
      </p:pic>
      <p:sp>
        <p:nvSpPr>
          <p:cNvPr id="9010" name="TextBox 9009"/>
          <p:cNvSpPr txBox="1"/>
          <p:nvPr/>
        </p:nvSpPr>
        <p:spPr>
          <a:xfrm>
            <a:off x="7452360" y="1965960"/>
            <a:ext cx="3703320" cy="457200"/>
          </a:xfrm>
          <a:prstGeom prst="rect">
            <a:avLst/>
          </a:prstGeom>
          <a:noFill/>
        </p:spPr>
        <p:txBody>
          <a:bodyPr wrap="square" lIns="0" tIns="0" rIns="0" bIns="0" anchor="t">
            <a:noAutofit/>
          </a:bodyPr>
          <a:lstStyle/>
          <a:p>
            <a:pPr algn="l"/>
            <a:r>
              <a:rPr sz="2000" b="1" i="0">
                <a:solidFill>
                  <a:srgbClr val="2E1065"/>
                </a:solidFill>
                <a:latin typeface="Segoe UI"/>
                <a:ea typeface="Segoe UI"/>
                <a:cs typeface="Segoe UI"/>
              </a:rPr>
              <a:t>A few questions at a time</a:t>
            </a:r>
          </a:p>
        </p:txBody>
      </p:sp>
      <p:sp>
        <p:nvSpPr>
          <p:cNvPr id="9011" name="TextBox 9010"/>
          <p:cNvSpPr txBox="1"/>
          <p:nvPr/>
        </p:nvSpPr>
        <p:spPr>
          <a:xfrm>
            <a:off x="7452360" y="2468880"/>
            <a:ext cx="3703320" cy="1097280"/>
          </a:xfrm>
          <a:prstGeom prst="rect">
            <a:avLst/>
          </a:prstGeom>
          <a:noFill/>
        </p:spPr>
        <p:txBody>
          <a:bodyPr wrap="square" lIns="0" tIns="0" rIns="0" bIns="0" anchor="t">
            <a:noAutofit/>
          </a:bodyPr>
          <a:lstStyle/>
          <a:p>
            <a:pPr algn="l"/>
            <a:r>
              <a:rPr sz="1800" b="0" i="0">
                <a:solidFill>
                  <a:srgbClr val="3A3A3A"/>
                </a:solidFill>
                <a:latin typeface="Segoe UI"/>
                <a:ea typeface="Segoe UI"/>
                <a:cs typeface="Segoe UI"/>
              </a:rPr>
              <a:t>When answers depend on each other, later answers can change earlier ones.</a:t>
            </a:r>
          </a:p>
        </p:txBody>
      </p:sp>
      <p:sp>
        <p:nvSpPr>
          <p:cNvPr id="9012" name="Contract2"/>
          <p:cNvSpPr/>
          <p:nvPr/>
        </p:nvSpPr>
        <p:spPr>
          <a:xfrm>
            <a:off x="841248" y="3840480"/>
            <a:ext cx="5184648" cy="19659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Oval 9012"/>
          <p:cNvSpPr/>
          <p:nvPr/>
        </p:nvSpPr>
        <p:spPr>
          <a:xfrm>
            <a:off x="1115568" y="4133088"/>
            <a:ext cx="777240" cy="777240"/>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4" name="Picture 9013" descr="Push back, and cite a source icon"/>
          <p:cNvPicPr>
            <a:picLocks noChangeAspect="1"/>
          </p:cNvPicPr>
          <p:nvPr/>
        </p:nvPicPr>
        <p:blipFill>
          <a:blip r:embed="rId5"/>
          <a:stretch>
            <a:fillRect/>
          </a:stretch>
        </p:blipFill>
        <p:spPr>
          <a:xfrm>
            <a:off x="1286560" y="4304080"/>
            <a:ext cx="435254" cy="435254"/>
          </a:xfrm>
          <a:prstGeom prst="rect">
            <a:avLst/>
          </a:prstGeom>
        </p:spPr>
      </p:pic>
      <p:sp>
        <p:nvSpPr>
          <p:cNvPr id="9015" name="TextBox 9014"/>
          <p:cNvSpPr txBox="1"/>
          <p:nvPr/>
        </p:nvSpPr>
        <p:spPr>
          <a:xfrm>
            <a:off x="2121408" y="4114800"/>
            <a:ext cx="3703320" cy="457200"/>
          </a:xfrm>
          <a:prstGeom prst="rect">
            <a:avLst/>
          </a:prstGeom>
          <a:noFill/>
        </p:spPr>
        <p:txBody>
          <a:bodyPr wrap="square" lIns="0" tIns="0" rIns="0" bIns="0" anchor="t">
            <a:noAutofit/>
          </a:bodyPr>
          <a:lstStyle/>
          <a:p>
            <a:pPr algn="l"/>
            <a:r>
              <a:rPr sz="2000" b="1" i="0">
                <a:solidFill>
                  <a:srgbClr val="2E1065"/>
                </a:solidFill>
                <a:latin typeface="Segoe UI"/>
                <a:ea typeface="Segoe UI"/>
                <a:cs typeface="Segoe UI"/>
              </a:rPr>
              <a:t>Push back, and cite a source</a:t>
            </a:r>
          </a:p>
        </p:txBody>
      </p:sp>
      <p:sp>
        <p:nvSpPr>
          <p:cNvPr id="9016" name="TextBox 9015"/>
          <p:cNvSpPr txBox="1"/>
          <p:nvPr/>
        </p:nvSpPr>
        <p:spPr>
          <a:xfrm>
            <a:off x="2121408" y="4617720"/>
            <a:ext cx="3703320" cy="1097280"/>
          </a:xfrm>
          <a:prstGeom prst="rect">
            <a:avLst/>
          </a:prstGeom>
          <a:noFill/>
        </p:spPr>
        <p:txBody>
          <a:bodyPr wrap="square" lIns="0" tIns="0" rIns="0" bIns="0" anchor="t">
            <a:noAutofit/>
          </a:bodyPr>
          <a:lstStyle/>
          <a:p>
            <a:pPr algn="l"/>
            <a:r>
              <a:rPr sz="1800" b="0" i="0" dirty="0">
                <a:solidFill>
                  <a:srgbClr val="3A3A3A"/>
                </a:solidFill>
                <a:latin typeface="Segoe UI"/>
                <a:ea typeface="Segoe UI"/>
                <a:cs typeface="Segoe UI"/>
              </a:rPr>
              <a:t>No sycophancy. An agent that always agrees with you is a liability.</a:t>
            </a:r>
            <a:r>
              <a:rPr lang="en-US" sz="1800" b="0" i="0" dirty="0">
                <a:solidFill>
                  <a:srgbClr val="3A3A3A"/>
                </a:solidFill>
                <a:latin typeface="Segoe UI"/>
                <a:ea typeface="Segoe UI"/>
                <a:cs typeface="Segoe UI"/>
              </a:rPr>
              <a:t> </a:t>
            </a:r>
            <a:endParaRPr sz="1800" b="0" i="0" dirty="0">
              <a:solidFill>
                <a:srgbClr val="3A3A3A"/>
              </a:solidFill>
              <a:latin typeface="Segoe UI"/>
              <a:ea typeface="Segoe UI"/>
              <a:cs typeface="Segoe UI"/>
            </a:endParaRPr>
          </a:p>
        </p:txBody>
      </p:sp>
      <p:sp>
        <p:nvSpPr>
          <p:cNvPr id="9017" name="Contract3"/>
          <p:cNvSpPr/>
          <p:nvPr/>
        </p:nvSpPr>
        <p:spPr>
          <a:xfrm>
            <a:off x="6172200" y="3840480"/>
            <a:ext cx="5184648" cy="19659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8" name="Oval 9017"/>
          <p:cNvSpPr/>
          <p:nvPr/>
        </p:nvSpPr>
        <p:spPr>
          <a:xfrm>
            <a:off x="6446520" y="4133088"/>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9" name="Picture 9018" descr="Build only what was asked icon"/>
          <p:cNvPicPr>
            <a:picLocks noChangeAspect="1"/>
          </p:cNvPicPr>
          <p:nvPr/>
        </p:nvPicPr>
        <p:blipFill>
          <a:blip r:embed="rId6"/>
          <a:stretch>
            <a:fillRect/>
          </a:stretch>
        </p:blipFill>
        <p:spPr>
          <a:xfrm>
            <a:off x="6617512" y="4304080"/>
            <a:ext cx="435254" cy="435254"/>
          </a:xfrm>
          <a:prstGeom prst="rect">
            <a:avLst/>
          </a:prstGeom>
        </p:spPr>
      </p:pic>
      <p:sp>
        <p:nvSpPr>
          <p:cNvPr id="9020" name="TextBox 9019"/>
          <p:cNvSpPr txBox="1"/>
          <p:nvPr/>
        </p:nvSpPr>
        <p:spPr>
          <a:xfrm>
            <a:off x="7452360" y="4114800"/>
            <a:ext cx="3703320" cy="457200"/>
          </a:xfrm>
          <a:prstGeom prst="rect">
            <a:avLst/>
          </a:prstGeom>
          <a:noFill/>
        </p:spPr>
        <p:txBody>
          <a:bodyPr wrap="square" lIns="0" tIns="0" rIns="0" bIns="0" anchor="t">
            <a:noAutofit/>
          </a:bodyPr>
          <a:lstStyle/>
          <a:p>
            <a:pPr algn="l"/>
            <a:r>
              <a:rPr sz="2000" b="1" i="0">
                <a:solidFill>
                  <a:srgbClr val="2E1065"/>
                </a:solidFill>
                <a:latin typeface="Segoe UI"/>
                <a:ea typeface="Segoe UI"/>
                <a:cs typeface="Segoe UI"/>
              </a:rPr>
              <a:t>Build only what was asked</a:t>
            </a:r>
          </a:p>
        </p:txBody>
      </p:sp>
      <p:sp>
        <p:nvSpPr>
          <p:cNvPr id="9021" name="TextBox 9020"/>
          <p:cNvSpPr txBox="1"/>
          <p:nvPr/>
        </p:nvSpPr>
        <p:spPr>
          <a:xfrm>
            <a:off x="7452360" y="4617720"/>
            <a:ext cx="3703320" cy="1097280"/>
          </a:xfrm>
          <a:prstGeom prst="rect">
            <a:avLst/>
          </a:prstGeom>
          <a:noFill/>
        </p:spPr>
        <p:txBody>
          <a:bodyPr wrap="square" lIns="0" tIns="0" rIns="0" bIns="0" anchor="t">
            <a:noAutofit/>
          </a:bodyPr>
          <a:lstStyle/>
          <a:p>
            <a:pPr algn="l"/>
            <a:r>
              <a:rPr sz="1800" b="0" i="0" dirty="0">
                <a:solidFill>
                  <a:srgbClr val="3A3A3A"/>
                </a:solidFill>
                <a:latin typeface="Segoe UI"/>
                <a:ea typeface="Segoe UI"/>
                <a:cs typeface="Segoe UI"/>
              </a:rPr>
              <a:t>No surprise refactors and no speculative </a:t>
            </a:r>
            <a:r>
              <a:rPr lang="en-US" sz="1800" b="0" i="0" dirty="0">
                <a:solidFill>
                  <a:srgbClr val="3A3A3A"/>
                </a:solidFill>
                <a:latin typeface="Segoe UI"/>
                <a:ea typeface="Segoe UI"/>
                <a:cs typeface="Segoe UI"/>
              </a:rPr>
              <a:t>creations</a:t>
            </a:r>
            <a:r>
              <a:rPr sz="1800" b="0" i="0" dirty="0">
                <a:solidFill>
                  <a:srgbClr val="3A3A3A"/>
                </a:solidFill>
                <a:latin typeface="Segoe UI"/>
                <a:ea typeface="Segoe UI"/>
                <a:cs typeface="Segoe U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Learn from your m</a:t>
            </a:r>
            <a:r>
              <a:rPr dirty="0"/>
              <a:t>istakes</a:t>
            </a:r>
            <a:r>
              <a:rPr lang="en-US" dirty="0"/>
              <a:t> (pay the cost only once)</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ROBOT RULE #6 · THE MOST POWERFUL HABIT</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13</a:t>
            </a:fld>
            <a:endParaRPr lang="en-US"/>
          </a:p>
        </p:txBody>
      </p:sp>
      <p:sp>
        <p:nvSpPr>
          <p:cNvPr id="9002" name="TextBox 9001"/>
          <p:cNvSpPr txBox="1"/>
          <p:nvPr/>
        </p:nvSpPr>
        <p:spPr>
          <a:xfrm>
            <a:off x="841248" y="1645920"/>
            <a:ext cx="4754880" cy="32004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WHAT WENT WRONG</a:t>
            </a:r>
          </a:p>
        </p:txBody>
      </p:sp>
      <p:sp>
        <p:nvSpPr>
          <p:cNvPr id="9003" name="TextBox 9002"/>
          <p:cNvSpPr txBox="1"/>
          <p:nvPr/>
        </p:nvSpPr>
        <p:spPr>
          <a:xfrm>
            <a:off x="6263640" y="1645920"/>
            <a:ext cx="5029200" cy="320040"/>
          </a:xfrm>
          <a:prstGeom prst="rect">
            <a:avLst/>
          </a:prstGeom>
          <a:noFill/>
        </p:spPr>
        <p:txBody>
          <a:bodyPr wrap="square" lIns="0" tIns="0" rIns="0" bIns="0" anchor="t">
            <a:noAutofit/>
          </a:bodyPr>
          <a:lstStyle/>
          <a:p>
            <a:pPr algn="l"/>
            <a:r>
              <a:rPr sz="1400" b="1" i="0">
                <a:solidFill>
                  <a:srgbClr val="2E1065"/>
                </a:solidFill>
                <a:latin typeface="Segoe UI"/>
                <a:ea typeface="Segoe UI"/>
                <a:cs typeface="Segoe UI"/>
              </a:rPr>
              <a:t>THE RULE WE WROTE</a:t>
            </a:r>
          </a:p>
        </p:txBody>
      </p:sp>
      <p:sp>
        <p:nvSpPr>
          <p:cNvPr id="9004" name="Mis0"/>
          <p:cNvSpPr/>
          <p:nvPr/>
        </p:nvSpPr>
        <p:spPr>
          <a:xfrm>
            <a:off x="841248" y="1993392"/>
            <a:ext cx="4800600" cy="676656"/>
          </a:xfrm>
          <a:prstGeom prst="roundRect">
            <a:avLst>
              <a:gd name="adj" fmla="val 12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lang="en-US" sz="1600" b="0" i="0" dirty="0">
                <a:solidFill>
                  <a:srgbClr val="3A3A3A"/>
                </a:solidFill>
                <a:latin typeface="Segoe UI"/>
                <a:ea typeface="Segoe UI"/>
                <a:cs typeface="Segoe UI"/>
              </a:rPr>
              <a:t>Each session forgot our earlier agreements.</a:t>
            </a:r>
            <a:br>
              <a:rPr lang="en-US" sz="1600" b="0" i="0" dirty="0">
                <a:solidFill>
                  <a:srgbClr val="3A3A3A"/>
                </a:solidFill>
                <a:latin typeface="Segoe UI"/>
                <a:ea typeface="Segoe UI"/>
                <a:cs typeface="Segoe UI"/>
              </a:rPr>
            </a:br>
            <a:r>
              <a:rPr lang="en-US" sz="1600" dirty="0">
                <a:solidFill>
                  <a:srgbClr val="3A3A3A"/>
                </a:solidFill>
                <a:latin typeface="Segoe UI"/>
                <a:ea typeface="Segoe UI"/>
                <a:cs typeface="Segoe UI"/>
              </a:rPr>
              <a:t>Long chats get compacted.</a:t>
            </a:r>
            <a:endParaRPr sz="1600" b="0" i="0" dirty="0">
              <a:solidFill>
                <a:srgbClr val="3A3A3A"/>
              </a:solidFill>
              <a:latin typeface="Segoe UI"/>
              <a:ea typeface="Segoe UI"/>
              <a:cs typeface="Segoe UI"/>
            </a:endParaRPr>
          </a:p>
        </p:txBody>
      </p:sp>
      <p:cxnSp>
        <p:nvCxnSpPr>
          <p:cNvPr id="9005" name="Connector 9004"/>
          <p:cNvCxnSpPr/>
          <p:nvPr/>
        </p:nvCxnSpPr>
        <p:spPr>
          <a:xfrm>
            <a:off x="5715000" y="2331720"/>
            <a:ext cx="457200"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06" name="Rule0"/>
          <p:cNvSpPr/>
          <p:nvPr/>
        </p:nvSpPr>
        <p:spPr>
          <a:xfrm>
            <a:off x="6263640" y="1993392"/>
            <a:ext cx="5093208" cy="676656"/>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800" b="1" i="0">
                <a:solidFill>
                  <a:srgbClr val="C084FC"/>
                </a:solidFill>
                <a:latin typeface="Segoe UI"/>
                <a:ea typeface="Segoe UI"/>
                <a:cs typeface="Segoe UI"/>
              </a:rPr>
              <a:t>Write it down:</a:t>
            </a:r>
            <a:r>
              <a:rPr sz="1800" b="0" i="0">
                <a:solidFill>
                  <a:srgbClr val="FFFFFF"/>
                </a:solidFill>
                <a:latin typeface="Segoe UI"/>
                <a:ea typeface="Segoe UI"/>
                <a:cs typeface="Segoe UI"/>
              </a:rPr>
              <a:t> agreements and decisions live in the repo, so every chat starts informed</a:t>
            </a:r>
          </a:p>
        </p:txBody>
      </p:sp>
      <p:sp>
        <p:nvSpPr>
          <p:cNvPr id="9007" name="Mis1"/>
          <p:cNvSpPr/>
          <p:nvPr/>
        </p:nvSpPr>
        <p:spPr>
          <a:xfrm>
            <a:off x="841248" y="2770632"/>
            <a:ext cx="4800600" cy="676656"/>
          </a:xfrm>
          <a:prstGeom prst="roundRect">
            <a:avLst>
              <a:gd name="adj" fmla="val 12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lang="en-US" sz="1600" b="0" i="0" dirty="0">
                <a:solidFill>
                  <a:srgbClr val="3A3A3A"/>
                </a:solidFill>
                <a:latin typeface="Segoe UI"/>
                <a:ea typeface="Segoe UI"/>
                <a:cs typeface="Segoe UI"/>
              </a:rPr>
              <a:t>I had to remind the agent to update the documentation it left stale</a:t>
            </a:r>
            <a:endParaRPr sz="1600" b="0" i="0" dirty="0">
              <a:solidFill>
                <a:srgbClr val="3A3A3A"/>
              </a:solidFill>
              <a:latin typeface="Segoe UI"/>
              <a:ea typeface="Segoe UI"/>
              <a:cs typeface="Segoe UI"/>
            </a:endParaRPr>
          </a:p>
        </p:txBody>
      </p:sp>
      <p:cxnSp>
        <p:nvCxnSpPr>
          <p:cNvPr id="9008" name="Connector 9007"/>
          <p:cNvCxnSpPr/>
          <p:nvPr/>
        </p:nvCxnSpPr>
        <p:spPr>
          <a:xfrm>
            <a:off x="5715000" y="3108960"/>
            <a:ext cx="457200"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09" name="Rule1"/>
          <p:cNvSpPr/>
          <p:nvPr/>
        </p:nvSpPr>
        <p:spPr>
          <a:xfrm>
            <a:off x="6263640" y="2770632"/>
            <a:ext cx="5093208" cy="676656"/>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800" b="1" i="0">
                <a:solidFill>
                  <a:srgbClr val="C084FC"/>
                </a:solidFill>
                <a:latin typeface="Segoe UI"/>
                <a:ea typeface="Segoe UI"/>
                <a:cs typeface="Segoe UI"/>
              </a:rPr>
              <a:t>Docs move with the code:</a:t>
            </a:r>
            <a:r>
              <a:rPr sz="1800" b="0" i="0">
                <a:solidFill>
                  <a:srgbClr val="FFFFFF"/>
                </a:solidFill>
                <a:latin typeface="Segoe UI"/>
                <a:ea typeface="Segoe UI"/>
                <a:cs typeface="Segoe UI"/>
              </a:rPr>
              <a:t> every change updates the design, stories, and user guides</a:t>
            </a:r>
          </a:p>
        </p:txBody>
      </p:sp>
      <p:sp>
        <p:nvSpPr>
          <p:cNvPr id="9010" name="Mis2"/>
          <p:cNvSpPr/>
          <p:nvPr/>
        </p:nvSpPr>
        <p:spPr>
          <a:xfrm>
            <a:off x="841248" y="3547872"/>
            <a:ext cx="4800600" cy="676656"/>
          </a:xfrm>
          <a:prstGeom prst="roundRect">
            <a:avLst>
              <a:gd name="adj" fmla="val 12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600" b="0" i="0" dirty="0">
                <a:solidFill>
                  <a:srgbClr val="3A3A3A"/>
                </a:solidFill>
                <a:latin typeface="Segoe UI"/>
                <a:ea typeface="Segoe UI"/>
                <a:cs typeface="Segoe UI"/>
              </a:rPr>
              <a:t>The agent closed my Jira story before I had tested it</a:t>
            </a:r>
          </a:p>
        </p:txBody>
      </p:sp>
      <p:cxnSp>
        <p:nvCxnSpPr>
          <p:cNvPr id="9011" name="Connector 9010"/>
          <p:cNvCxnSpPr/>
          <p:nvPr/>
        </p:nvCxnSpPr>
        <p:spPr>
          <a:xfrm>
            <a:off x="5715000" y="3886200"/>
            <a:ext cx="457200"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2" name="Rule2"/>
          <p:cNvSpPr/>
          <p:nvPr/>
        </p:nvSpPr>
        <p:spPr>
          <a:xfrm>
            <a:off x="6263640" y="3547872"/>
            <a:ext cx="5093208" cy="676656"/>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800" b="1" i="0" dirty="0">
                <a:solidFill>
                  <a:srgbClr val="C084FC"/>
                </a:solidFill>
                <a:latin typeface="Segoe UI"/>
                <a:ea typeface="Segoe UI"/>
                <a:cs typeface="Segoe UI"/>
              </a:rPr>
              <a:t>Only I close stories,</a:t>
            </a:r>
            <a:r>
              <a:rPr sz="1800" b="0" i="0" dirty="0">
                <a:solidFill>
                  <a:srgbClr val="FFFFFF"/>
                </a:solidFill>
                <a:latin typeface="Segoe UI"/>
                <a:ea typeface="Segoe UI"/>
                <a:cs typeface="Segoe UI"/>
              </a:rPr>
              <a:t> </a:t>
            </a:r>
            <a:r>
              <a:rPr lang="en-US" sz="1800" b="0" i="0" dirty="0">
                <a:solidFill>
                  <a:srgbClr val="FFFFFF"/>
                </a:solidFill>
                <a:latin typeface="Segoe UI"/>
                <a:ea typeface="Segoe UI"/>
                <a:cs typeface="Segoe UI"/>
              </a:rPr>
              <a:t>set clear guidelines and responsibilities</a:t>
            </a:r>
            <a:endParaRPr sz="1800" b="0" i="0" dirty="0">
              <a:solidFill>
                <a:srgbClr val="FFFFFF"/>
              </a:solidFill>
              <a:latin typeface="Segoe UI"/>
              <a:ea typeface="Segoe UI"/>
              <a:cs typeface="Segoe UI"/>
            </a:endParaRPr>
          </a:p>
        </p:txBody>
      </p:sp>
      <p:sp>
        <p:nvSpPr>
          <p:cNvPr id="9013" name="Mis3"/>
          <p:cNvSpPr/>
          <p:nvPr/>
        </p:nvSpPr>
        <p:spPr>
          <a:xfrm>
            <a:off x="841248" y="4325112"/>
            <a:ext cx="4800600" cy="676656"/>
          </a:xfrm>
          <a:prstGeom prst="roundRect">
            <a:avLst>
              <a:gd name="adj" fmla="val 12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600" b="0" i="0">
                <a:solidFill>
                  <a:srgbClr val="3A3A3A"/>
                </a:solidFill>
                <a:latin typeface="Segoe UI"/>
                <a:ea typeface="Segoe UI"/>
                <a:cs typeface="Segoe UI"/>
              </a:rPr>
              <a:t>An earlier decision was too narrow and started boxing us in</a:t>
            </a:r>
          </a:p>
        </p:txBody>
      </p:sp>
      <p:cxnSp>
        <p:nvCxnSpPr>
          <p:cNvPr id="9014" name="Connector 9013"/>
          <p:cNvCxnSpPr/>
          <p:nvPr/>
        </p:nvCxnSpPr>
        <p:spPr>
          <a:xfrm>
            <a:off x="5715000" y="4663440"/>
            <a:ext cx="457200"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5" name="Rule3"/>
          <p:cNvSpPr/>
          <p:nvPr/>
        </p:nvSpPr>
        <p:spPr>
          <a:xfrm>
            <a:off x="6263640" y="4325112"/>
            <a:ext cx="5093208" cy="676656"/>
          </a:xfrm>
          <a:prstGeom prst="roundRect">
            <a:avLst>
              <a:gd name="adj" fmla="val 12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ctr">
            <a:noAutofit/>
          </a:bodyPr>
          <a:lstStyle/>
          <a:p>
            <a:pPr algn="l"/>
            <a:r>
              <a:rPr sz="1800" b="1" i="0" dirty="0">
                <a:solidFill>
                  <a:srgbClr val="C084FC"/>
                </a:solidFill>
                <a:latin typeface="Segoe UI"/>
                <a:ea typeface="Segoe UI"/>
                <a:cs typeface="Segoe UI"/>
              </a:rPr>
              <a:t>Rules can change, on purpose:</a:t>
            </a:r>
            <a:r>
              <a:rPr sz="1800" b="0" i="0" dirty="0">
                <a:solidFill>
                  <a:srgbClr val="FFFFFF"/>
                </a:solidFill>
                <a:latin typeface="Segoe UI"/>
                <a:ea typeface="Segoe UI"/>
                <a:cs typeface="Segoe UI"/>
              </a:rPr>
              <a:t> record the new decision and update the docs</a:t>
            </a:r>
          </a:p>
        </p:txBody>
      </p:sp>
      <p:pic>
        <p:nvPicPr>
          <p:cNvPr id="9016" name="Picture 9015" descr="Stairs icon"/>
          <p:cNvPicPr>
            <a:picLocks noChangeAspect="1"/>
          </p:cNvPicPr>
          <p:nvPr/>
        </p:nvPicPr>
        <p:blipFill>
          <a:blip r:embed="rId3"/>
          <a:stretch>
            <a:fillRect/>
          </a:stretch>
        </p:blipFill>
        <p:spPr>
          <a:xfrm>
            <a:off x="841248" y="5175504"/>
            <a:ext cx="457200" cy="457200"/>
          </a:xfrm>
          <a:prstGeom prst="rect">
            <a:avLst/>
          </a:prstGeom>
        </p:spPr>
      </p:pic>
      <p:sp>
        <p:nvSpPr>
          <p:cNvPr id="9017" name="TextBox 9016"/>
          <p:cNvSpPr txBox="1"/>
          <p:nvPr/>
        </p:nvSpPr>
        <p:spPr>
          <a:xfrm>
            <a:off x="1417320" y="5120640"/>
            <a:ext cx="9939528" cy="548640"/>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Every mistake becomes a written rule, so it can't happen again.</a:t>
            </a:r>
          </a:p>
        </p:txBody>
      </p:sp>
      <p:sp>
        <p:nvSpPr>
          <p:cNvPr id="9018" name="TextBox 9017"/>
          <p:cNvSpPr txBox="1"/>
          <p:nvPr/>
        </p:nvSpPr>
        <p:spPr>
          <a:xfrm>
            <a:off x="1417320" y="5623560"/>
            <a:ext cx="9939528" cy="347472"/>
          </a:xfrm>
          <a:prstGeom prst="rect">
            <a:avLst/>
          </a:prstGeom>
          <a:noFill/>
        </p:spPr>
        <p:txBody>
          <a:bodyPr wrap="square" lIns="0" tIns="0" rIns="0" bIns="0" anchor="t">
            <a:noAutofit/>
          </a:bodyPr>
          <a:lstStyle/>
          <a:p>
            <a:pPr algn="l"/>
            <a:r>
              <a:rPr sz="1400" b="0" i="0">
                <a:solidFill>
                  <a:srgbClr val="5F6670"/>
                </a:solidFill>
                <a:latin typeface="Segoe UI"/>
                <a:ea typeface="Segoe UI"/>
                <a:cs typeface="Segoe UI"/>
              </a:rPr>
              <a:t>Also in the rulebook: no next story or build until I say so · always set a resolution when closing a Jira issue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Toolkits: </a:t>
            </a:r>
            <a:r>
              <a:rPr lang="en-US" dirty="0"/>
              <a:t>plan for re-use</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PRODUCTIZING THE GROWTH ENGINE</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14</a:t>
            </a:fld>
            <a:endParaRPr lang="en-US"/>
          </a:p>
        </p:txBody>
      </p:sp>
      <p:sp>
        <p:nvSpPr>
          <p:cNvPr id="9002" name="Toolkit0"/>
          <p:cNvSpPr/>
          <p:nvPr/>
        </p:nvSpPr>
        <p:spPr>
          <a:xfrm>
            <a:off x="841248" y="1691640"/>
            <a:ext cx="3346704" cy="21031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69848" y="1892807"/>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Tempo icon"/>
          <p:cNvPicPr>
            <a:picLocks noChangeAspect="1"/>
          </p:cNvPicPr>
          <p:nvPr/>
        </p:nvPicPr>
        <p:blipFill>
          <a:blip r:embed="rId3"/>
          <a:stretch>
            <a:fillRect/>
          </a:stretch>
        </p:blipFill>
        <p:spPr>
          <a:xfrm>
            <a:off x="1214688" y="2037648"/>
            <a:ext cx="368686" cy="368686"/>
          </a:xfrm>
          <a:prstGeom prst="rect">
            <a:avLst/>
          </a:prstGeom>
        </p:spPr>
      </p:pic>
      <p:sp>
        <p:nvSpPr>
          <p:cNvPr id="9005" name="TextBox 9004"/>
          <p:cNvSpPr txBox="1"/>
          <p:nvPr/>
        </p:nvSpPr>
        <p:spPr>
          <a:xfrm>
            <a:off x="1865376" y="1874519"/>
            <a:ext cx="2194560" cy="384048"/>
          </a:xfrm>
          <a:prstGeom prst="rect">
            <a:avLst/>
          </a:prstGeom>
          <a:noFill/>
        </p:spPr>
        <p:txBody>
          <a:bodyPr wrap="square" lIns="0" tIns="0" rIns="0" bIns="0" anchor="t">
            <a:noAutofit/>
          </a:bodyPr>
          <a:lstStyle/>
          <a:p>
            <a:pPr algn="l"/>
            <a:r>
              <a:rPr sz="2200" b="1" i="0">
                <a:solidFill>
                  <a:srgbClr val="2E1065"/>
                </a:solidFill>
                <a:latin typeface="Segoe UI"/>
                <a:ea typeface="Segoe UI"/>
                <a:cs typeface="Segoe UI"/>
              </a:rPr>
              <a:t>Tempo</a:t>
            </a:r>
          </a:p>
        </p:txBody>
      </p:sp>
      <p:sp>
        <p:nvSpPr>
          <p:cNvPr id="9006" name="TextBox 9005"/>
          <p:cNvSpPr txBox="1"/>
          <p:nvPr/>
        </p:nvSpPr>
        <p:spPr>
          <a:xfrm>
            <a:off x="1865376" y="2258568"/>
            <a:ext cx="2194560" cy="320040"/>
          </a:xfrm>
          <a:prstGeom prst="rect">
            <a:avLst/>
          </a:prstGeom>
          <a:noFill/>
        </p:spPr>
        <p:txBody>
          <a:bodyPr wrap="square" lIns="0" tIns="0" rIns="0" bIns="0" anchor="t">
            <a:noAutofit/>
          </a:bodyPr>
          <a:lstStyle/>
          <a:p>
            <a:pPr algn="l"/>
            <a:r>
              <a:rPr sz="1400" b="1" i="0">
                <a:solidFill>
                  <a:srgbClr val="7C3AED"/>
                </a:solidFill>
                <a:latin typeface="Segoe UI"/>
                <a:ea typeface="Segoe UI"/>
                <a:cs typeface="Segoe UI"/>
              </a:rPr>
              <a:t>Just started</a:t>
            </a:r>
          </a:p>
        </p:txBody>
      </p:sp>
      <p:sp>
        <p:nvSpPr>
          <p:cNvPr id="9007" name="TextBox 9006"/>
          <p:cNvSpPr txBox="1"/>
          <p:nvPr/>
        </p:nvSpPr>
        <p:spPr>
          <a:xfrm>
            <a:off x="1069848" y="2743200"/>
            <a:ext cx="2926080" cy="118872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Establishes the pattern: one tested toolkit per capability</a:t>
            </a:r>
          </a:p>
        </p:txBody>
      </p:sp>
      <p:sp>
        <p:nvSpPr>
          <p:cNvPr id="9008" name="Toolkit1"/>
          <p:cNvSpPr/>
          <p:nvPr/>
        </p:nvSpPr>
        <p:spPr>
          <a:xfrm>
            <a:off x="4425696" y="1691640"/>
            <a:ext cx="3346704" cy="2103120"/>
          </a:xfrm>
          <a:prstGeom prst="roundRect">
            <a:avLst>
              <a:gd name="adj" fmla="val 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9" name="Oval 9008"/>
          <p:cNvSpPr/>
          <p:nvPr/>
        </p:nvSpPr>
        <p:spPr>
          <a:xfrm>
            <a:off x="4654296" y="1892807"/>
            <a:ext cx="658368" cy="658368"/>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0" name="Picture 9009" descr="CodeScan icon"/>
          <p:cNvPicPr>
            <a:picLocks noChangeAspect="1"/>
          </p:cNvPicPr>
          <p:nvPr/>
        </p:nvPicPr>
        <p:blipFill>
          <a:blip r:embed="rId4"/>
          <a:stretch>
            <a:fillRect/>
          </a:stretch>
        </p:blipFill>
        <p:spPr>
          <a:xfrm>
            <a:off x="4799136" y="2037648"/>
            <a:ext cx="368686" cy="368686"/>
          </a:xfrm>
          <a:prstGeom prst="rect">
            <a:avLst/>
          </a:prstGeom>
        </p:spPr>
      </p:pic>
      <p:sp>
        <p:nvSpPr>
          <p:cNvPr id="9011" name="TextBox 9010"/>
          <p:cNvSpPr txBox="1"/>
          <p:nvPr/>
        </p:nvSpPr>
        <p:spPr>
          <a:xfrm>
            <a:off x="5449824" y="1874519"/>
            <a:ext cx="2194560" cy="384048"/>
          </a:xfrm>
          <a:prstGeom prst="rect">
            <a:avLst/>
          </a:prstGeom>
          <a:noFill/>
        </p:spPr>
        <p:txBody>
          <a:bodyPr wrap="square" lIns="0" tIns="0" rIns="0" bIns="0" anchor="t">
            <a:noAutofit/>
          </a:bodyPr>
          <a:lstStyle/>
          <a:p>
            <a:pPr algn="l"/>
            <a:r>
              <a:rPr sz="2200" b="1" i="0">
                <a:solidFill>
                  <a:srgbClr val="FFFFFF"/>
                </a:solidFill>
                <a:latin typeface="Segoe UI"/>
                <a:ea typeface="Segoe UI"/>
                <a:cs typeface="Segoe UI"/>
              </a:rPr>
              <a:t>CodeScan</a:t>
            </a:r>
          </a:p>
        </p:txBody>
      </p:sp>
      <p:sp>
        <p:nvSpPr>
          <p:cNvPr id="9012" name="TextBox 9011"/>
          <p:cNvSpPr txBox="1"/>
          <p:nvPr/>
        </p:nvSpPr>
        <p:spPr>
          <a:xfrm>
            <a:off x="5449824" y="2258568"/>
            <a:ext cx="2194560" cy="320040"/>
          </a:xfrm>
          <a:prstGeom prst="rect">
            <a:avLst/>
          </a:prstGeom>
          <a:noFill/>
        </p:spPr>
        <p:txBody>
          <a:bodyPr wrap="square" lIns="0" tIns="0" rIns="0" bIns="0" anchor="t">
            <a:noAutofit/>
          </a:bodyPr>
          <a:lstStyle/>
          <a:p>
            <a:pPr algn="l"/>
            <a:r>
              <a:rPr sz="1400" b="1" i="0">
                <a:solidFill>
                  <a:srgbClr val="FFFFFF"/>
                </a:solidFill>
                <a:latin typeface="Segoe UI"/>
                <a:ea typeface="Segoe UI"/>
                <a:cs typeface="Segoe UI"/>
              </a:rPr>
              <a:t>Shared across 3 repos</a:t>
            </a:r>
          </a:p>
        </p:txBody>
      </p:sp>
      <p:sp>
        <p:nvSpPr>
          <p:cNvPr id="9013" name="TextBox 9012"/>
          <p:cNvSpPr txBox="1"/>
          <p:nvPr/>
        </p:nvSpPr>
        <p:spPr>
          <a:xfrm>
            <a:off x="4654296" y="2743200"/>
            <a:ext cx="2926080" cy="1188720"/>
          </a:xfrm>
          <a:prstGeom prst="rect">
            <a:avLst/>
          </a:prstGeom>
          <a:noFill/>
        </p:spPr>
        <p:txBody>
          <a:bodyPr wrap="square" lIns="0" tIns="0" rIns="0" bIns="0" anchor="t">
            <a:noAutofit/>
          </a:bodyPr>
          <a:lstStyle/>
          <a:p>
            <a:pPr algn="l"/>
            <a:r>
              <a:rPr sz="1600" b="0" i="0" dirty="0">
                <a:solidFill>
                  <a:srgbClr val="FFFFFF"/>
                </a:solidFill>
                <a:latin typeface="Segoe UI"/>
                <a:ea typeface="Segoe UI"/>
                <a:cs typeface="Segoe UI"/>
              </a:rPr>
              <a:t>Team-specific, but shared instead of copy-pasted</a:t>
            </a:r>
          </a:p>
        </p:txBody>
      </p:sp>
      <p:sp>
        <p:nvSpPr>
          <p:cNvPr id="9014" name="Toolkit2"/>
          <p:cNvSpPr/>
          <p:nvPr/>
        </p:nvSpPr>
        <p:spPr>
          <a:xfrm>
            <a:off x="8010144" y="1691640"/>
            <a:ext cx="3346704" cy="210312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Oval 9014"/>
          <p:cNvSpPr/>
          <p:nvPr/>
        </p:nvSpPr>
        <p:spPr>
          <a:xfrm>
            <a:off x="8238744" y="1892807"/>
            <a:ext cx="658368" cy="658368"/>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6" name="Picture 9015" descr="Jira icon"/>
          <p:cNvPicPr>
            <a:picLocks noChangeAspect="1"/>
          </p:cNvPicPr>
          <p:nvPr/>
        </p:nvPicPr>
        <p:blipFill>
          <a:blip r:embed="rId5"/>
          <a:stretch>
            <a:fillRect/>
          </a:stretch>
        </p:blipFill>
        <p:spPr>
          <a:xfrm>
            <a:off x="8383584" y="2037648"/>
            <a:ext cx="368686" cy="368686"/>
          </a:xfrm>
          <a:prstGeom prst="rect">
            <a:avLst/>
          </a:prstGeom>
        </p:spPr>
      </p:pic>
      <p:sp>
        <p:nvSpPr>
          <p:cNvPr id="9017" name="TextBox 9016"/>
          <p:cNvSpPr txBox="1"/>
          <p:nvPr/>
        </p:nvSpPr>
        <p:spPr>
          <a:xfrm>
            <a:off x="9034272" y="1874519"/>
            <a:ext cx="2194560" cy="384048"/>
          </a:xfrm>
          <a:prstGeom prst="rect">
            <a:avLst/>
          </a:prstGeom>
          <a:noFill/>
        </p:spPr>
        <p:txBody>
          <a:bodyPr wrap="square" lIns="0" tIns="0" rIns="0" bIns="0" anchor="t">
            <a:noAutofit/>
          </a:bodyPr>
          <a:lstStyle/>
          <a:p>
            <a:pPr algn="l"/>
            <a:r>
              <a:rPr sz="2200" b="1" i="0">
                <a:solidFill>
                  <a:srgbClr val="FFFFFF"/>
                </a:solidFill>
                <a:latin typeface="Segoe UI"/>
                <a:ea typeface="Segoe UI"/>
                <a:cs typeface="Segoe UI"/>
              </a:rPr>
              <a:t>Jira</a:t>
            </a:r>
          </a:p>
        </p:txBody>
      </p:sp>
      <p:sp>
        <p:nvSpPr>
          <p:cNvPr id="9018" name="TextBox 9017"/>
          <p:cNvSpPr txBox="1"/>
          <p:nvPr/>
        </p:nvSpPr>
        <p:spPr>
          <a:xfrm>
            <a:off x="9034272" y="2258568"/>
            <a:ext cx="2194560" cy="320040"/>
          </a:xfrm>
          <a:prstGeom prst="rect">
            <a:avLst/>
          </a:prstGeom>
          <a:noFill/>
        </p:spPr>
        <p:txBody>
          <a:bodyPr wrap="square" lIns="0" tIns="0" rIns="0" bIns="0" anchor="t">
            <a:noAutofit/>
          </a:bodyPr>
          <a:lstStyle/>
          <a:p>
            <a:pPr algn="l"/>
            <a:r>
              <a:rPr sz="1400" b="1" i="0">
                <a:solidFill>
                  <a:srgbClr val="FFFFFF"/>
                </a:solidFill>
                <a:latin typeface="Segoe UI"/>
                <a:ea typeface="Segoe UI"/>
                <a:cs typeface="Segoe UI"/>
              </a:rPr>
              <a:t>Anyone can use it</a:t>
            </a:r>
          </a:p>
        </p:txBody>
      </p:sp>
      <p:sp>
        <p:nvSpPr>
          <p:cNvPr id="9019" name="TextBox 9018"/>
          <p:cNvSpPr txBox="1"/>
          <p:nvPr/>
        </p:nvSpPr>
        <p:spPr>
          <a:xfrm>
            <a:off x="8238744" y="2743200"/>
            <a:ext cx="2926080" cy="1188720"/>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Fully general, and in the public repo today</a:t>
            </a:r>
          </a:p>
        </p:txBody>
      </p:sp>
      <p:sp>
        <p:nvSpPr>
          <p:cNvPr id="9020" name="ReuseArrow"/>
          <p:cNvSpPr/>
          <p:nvPr/>
        </p:nvSpPr>
        <p:spPr>
          <a:xfrm>
            <a:off x="841248" y="4023360"/>
            <a:ext cx="10515600" cy="457200"/>
          </a:xfrm>
          <a:prstGeom prst="rightArrow">
            <a:avLst>
              <a:gd name="adj1" fmla="val 55000"/>
              <a:gd name="adj2"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1" name="TextBox 9020"/>
          <p:cNvSpPr txBox="1"/>
          <p:nvPr/>
        </p:nvSpPr>
        <p:spPr>
          <a:xfrm>
            <a:off x="1005840" y="4023360"/>
            <a:ext cx="3657600" cy="457200"/>
          </a:xfrm>
          <a:prstGeom prst="rect">
            <a:avLst/>
          </a:prstGeom>
          <a:noFill/>
        </p:spPr>
        <p:txBody>
          <a:bodyPr wrap="square" lIns="0" tIns="0" rIns="0" bIns="0" anchor="ctr">
            <a:noAutofit/>
          </a:bodyPr>
          <a:lstStyle/>
          <a:p>
            <a:pPr algn="l"/>
            <a:r>
              <a:rPr sz="1400" b="1" i="0">
                <a:solidFill>
                  <a:srgbClr val="FFFFFF"/>
                </a:solidFill>
                <a:latin typeface="Segoe UI"/>
                <a:ea typeface="Segoe UI"/>
                <a:cs typeface="Segoe UI"/>
              </a:rPr>
              <a:t>Emerging pattern</a:t>
            </a:r>
          </a:p>
        </p:txBody>
      </p:sp>
      <p:sp>
        <p:nvSpPr>
          <p:cNvPr id="9022" name="TextBox 9021"/>
          <p:cNvSpPr txBox="1"/>
          <p:nvPr/>
        </p:nvSpPr>
        <p:spPr>
          <a:xfrm>
            <a:off x="4663440" y="4023360"/>
            <a:ext cx="2743200" cy="457200"/>
          </a:xfrm>
          <a:prstGeom prst="rect">
            <a:avLst/>
          </a:prstGeom>
          <a:noFill/>
        </p:spPr>
        <p:txBody>
          <a:bodyPr wrap="square" lIns="0" tIns="0" rIns="0" bIns="0" anchor="ctr">
            <a:noAutofit/>
          </a:bodyPr>
          <a:lstStyle/>
          <a:p>
            <a:pPr algn="ctr"/>
            <a:r>
              <a:rPr sz="1400" b="1" i="0">
                <a:solidFill>
                  <a:srgbClr val="FFFFFF"/>
                </a:solidFill>
                <a:latin typeface="Segoe UI"/>
                <a:ea typeface="Segoe UI"/>
                <a:cs typeface="Segoe UI"/>
              </a:rPr>
              <a:t>Team-shared</a:t>
            </a:r>
          </a:p>
        </p:txBody>
      </p:sp>
      <p:sp>
        <p:nvSpPr>
          <p:cNvPr id="9023" name="TextBox 9022"/>
          <p:cNvSpPr txBox="1"/>
          <p:nvPr/>
        </p:nvSpPr>
        <p:spPr>
          <a:xfrm>
            <a:off x="7863840" y="4023360"/>
            <a:ext cx="2834640" cy="457200"/>
          </a:xfrm>
          <a:prstGeom prst="rect">
            <a:avLst/>
          </a:prstGeom>
          <a:noFill/>
        </p:spPr>
        <p:txBody>
          <a:bodyPr wrap="square" lIns="0" tIns="0" rIns="0" bIns="0" anchor="ctr">
            <a:noAutofit/>
          </a:bodyPr>
          <a:lstStyle/>
          <a:p>
            <a:pPr algn="r"/>
            <a:r>
              <a:rPr sz="1400" b="1" i="0">
                <a:solidFill>
                  <a:srgbClr val="FFFFFF"/>
                </a:solidFill>
                <a:latin typeface="Segoe UI"/>
                <a:ea typeface="Segoe UI"/>
                <a:cs typeface="Segoe UI"/>
              </a:rPr>
              <a:t>Universal</a:t>
            </a:r>
          </a:p>
        </p:txBody>
      </p:sp>
      <p:pic>
        <p:nvPicPr>
          <p:cNvPr id="9024" name="Picture 9023"/>
          <p:cNvPicPr>
            <a:picLocks noChangeAspect="1"/>
          </p:cNvPicPr>
          <p:nvPr/>
        </p:nvPicPr>
        <p:blipFill>
          <a:blip r:embed="rId6"/>
          <a:stretch>
            <a:fillRect/>
          </a:stretch>
        </p:blipFill>
        <p:spPr>
          <a:xfrm>
            <a:off x="841248" y="4800600"/>
            <a:ext cx="457200" cy="457200"/>
          </a:xfrm>
          <a:prstGeom prst="rect">
            <a:avLst/>
          </a:prstGeom>
        </p:spPr>
      </p:pic>
      <p:sp>
        <p:nvSpPr>
          <p:cNvPr id="9025" name="TextBox 9024"/>
          <p:cNvSpPr txBox="1"/>
          <p:nvPr/>
        </p:nvSpPr>
        <p:spPr>
          <a:xfrm>
            <a:off x="1435608" y="4736592"/>
            <a:ext cx="2834640" cy="1097280"/>
          </a:xfrm>
          <a:prstGeom prst="rect">
            <a:avLst/>
          </a:prstGeom>
          <a:noFill/>
        </p:spPr>
        <p:txBody>
          <a:bodyPr wrap="square" lIns="0" tIns="0" rIns="0" bIns="0" anchor="t">
            <a:noAutofit/>
          </a:bodyPr>
          <a:lstStyle/>
          <a:p>
            <a:pPr algn="l"/>
            <a:r>
              <a:rPr sz="1800" b="0" i="0">
                <a:solidFill>
                  <a:srgbClr val="3A3A3A"/>
                </a:solidFill>
                <a:latin typeface="Segoe UI"/>
                <a:ea typeface="Segoe UI"/>
                <a:cs typeface="Segoe UI"/>
              </a:rPr>
              <a:t>The agent calls a known-good, tested script instead of rebuilding API calls</a:t>
            </a:r>
          </a:p>
        </p:txBody>
      </p:sp>
      <p:pic>
        <p:nvPicPr>
          <p:cNvPr id="9026" name="Picture 9025"/>
          <p:cNvPicPr>
            <a:picLocks noChangeAspect="1"/>
          </p:cNvPicPr>
          <p:nvPr/>
        </p:nvPicPr>
        <p:blipFill>
          <a:blip r:embed="rId7"/>
          <a:stretch>
            <a:fillRect/>
          </a:stretch>
        </p:blipFill>
        <p:spPr>
          <a:xfrm>
            <a:off x="4425696" y="4800600"/>
            <a:ext cx="457200" cy="457200"/>
          </a:xfrm>
          <a:prstGeom prst="rect">
            <a:avLst/>
          </a:prstGeom>
        </p:spPr>
      </p:pic>
      <p:sp>
        <p:nvSpPr>
          <p:cNvPr id="9027" name="TextBox 9026"/>
          <p:cNvSpPr txBox="1"/>
          <p:nvPr/>
        </p:nvSpPr>
        <p:spPr>
          <a:xfrm>
            <a:off x="5020056" y="4736592"/>
            <a:ext cx="2834640" cy="1097280"/>
          </a:xfrm>
          <a:prstGeom prst="rect">
            <a:avLst/>
          </a:prstGeom>
          <a:noFill/>
        </p:spPr>
        <p:txBody>
          <a:bodyPr wrap="square" lIns="0" tIns="0" rIns="0" bIns="0" anchor="t">
            <a:noAutofit/>
          </a:bodyPr>
          <a:lstStyle/>
          <a:p>
            <a:pPr algn="l"/>
            <a:r>
              <a:rPr sz="1800" b="0" i="0">
                <a:solidFill>
                  <a:srgbClr val="3A3A3A"/>
                </a:solidFill>
                <a:latin typeface="Segoe UI"/>
                <a:ea typeface="Segoe UI"/>
                <a:cs typeface="Segoe UI"/>
              </a:rPr>
              <a:t>Conventions are documented once, in one place</a:t>
            </a:r>
          </a:p>
        </p:txBody>
      </p:sp>
      <p:pic>
        <p:nvPicPr>
          <p:cNvPr id="9028" name="Picture 9027"/>
          <p:cNvPicPr>
            <a:picLocks noChangeAspect="1"/>
          </p:cNvPicPr>
          <p:nvPr/>
        </p:nvPicPr>
        <p:blipFill>
          <a:blip r:embed="rId8"/>
          <a:stretch>
            <a:fillRect/>
          </a:stretch>
        </p:blipFill>
        <p:spPr>
          <a:xfrm>
            <a:off x="8010144" y="4800600"/>
            <a:ext cx="457200" cy="457200"/>
          </a:xfrm>
          <a:prstGeom prst="rect">
            <a:avLst/>
          </a:prstGeom>
        </p:spPr>
      </p:pic>
      <p:sp>
        <p:nvSpPr>
          <p:cNvPr id="9029" name="TextBox 9028"/>
          <p:cNvSpPr txBox="1"/>
          <p:nvPr/>
        </p:nvSpPr>
        <p:spPr>
          <a:xfrm>
            <a:off x="8604504" y="4736592"/>
            <a:ext cx="2834640" cy="1097280"/>
          </a:xfrm>
          <a:prstGeom prst="rect">
            <a:avLst/>
          </a:prstGeom>
          <a:noFill/>
        </p:spPr>
        <p:txBody>
          <a:bodyPr wrap="square" lIns="0" tIns="0" rIns="0" bIns="0" anchor="t">
            <a:noAutofit/>
          </a:bodyPr>
          <a:lstStyle/>
          <a:p>
            <a:pPr algn="l"/>
            <a:r>
              <a:rPr sz="1800" b="0" i="0">
                <a:solidFill>
                  <a:srgbClr val="3A3A3A"/>
                </a:solidFill>
                <a:latin typeface="Segoe UI"/>
                <a:ea typeface="Segoe UI"/>
                <a:cs typeface="Segoe UI"/>
              </a:rPr>
              <a:t>One doc style everywhere: a flowchart plus a walkthrough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Just </a:t>
            </a:r>
            <a:r>
              <a:rPr dirty="0"/>
              <a:t>Start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WHAT YOU DO NEXT</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15</a:t>
            </a:fld>
            <a:endParaRPr lang="en-US"/>
          </a:p>
        </p:txBody>
      </p:sp>
      <p:sp>
        <p:nvSpPr>
          <p:cNvPr id="9002" name="Role0"/>
          <p:cNvSpPr/>
          <p:nvPr/>
        </p:nvSpPr>
        <p:spPr>
          <a:xfrm>
            <a:off x="841248" y="1691640"/>
            <a:ext cx="2514600" cy="196596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42416" y="1874519"/>
            <a:ext cx="603504" cy="603504"/>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Leaders icon"/>
          <p:cNvPicPr>
            <a:picLocks noChangeAspect="1"/>
          </p:cNvPicPr>
          <p:nvPr/>
        </p:nvPicPr>
        <p:blipFill>
          <a:blip r:embed="rId3"/>
          <a:stretch>
            <a:fillRect/>
          </a:stretch>
        </p:blipFill>
        <p:spPr>
          <a:xfrm>
            <a:off x="1175186" y="2007290"/>
            <a:ext cx="337962" cy="337962"/>
          </a:xfrm>
          <a:prstGeom prst="rect">
            <a:avLst/>
          </a:prstGeom>
        </p:spPr>
      </p:pic>
      <p:sp>
        <p:nvSpPr>
          <p:cNvPr id="9005" name="TextBox 9004"/>
          <p:cNvSpPr txBox="1"/>
          <p:nvPr/>
        </p:nvSpPr>
        <p:spPr>
          <a:xfrm>
            <a:off x="1755648" y="1874519"/>
            <a:ext cx="1508760" cy="603504"/>
          </a:xfrm>
          <a:prstGeom prst="rect">
            <a:avLst/>
          </a:prstGeom>
          <a:noFill/>
        </p:spPr>
        <p:txBody>
          <a:bodyPr wrap="square" lIns="0" tIns="0" rIns="0" bIns="0" anchor="ctr">
            <a:noAutofit/>
          </a:bodyPr>
          <a:lstStyle/>
          <a:p>
            <a:pPr algn="l"/>
            <a:r>
              <a:rPr sz="2000" b="1" i="0" dirty="0">
                <a:solidFill>
                  <a:srgbClr val="2E1065"/>
                </a:solidFill>
                <a:latin typeface="Segoe UI"/>
                <a:ea typeface="Segoe UI"/>
                <a:cs typeface="Segoe UI"/>
              </a:rPr>
              <a:t>Leaders</a:t>
            </a:r>
          </a:p>
        </p:txBody>
      </p:sp>
      <p:sp>
        <p:nvSpPr>
          <p:cNvPr id="9006" name="TextBox 9005"/>
          <p:cNvSpPr txBox="1"/>
          <p:nvPr/>
        </p:nvSpPr>
        <p:spPr>
          <a:xfrm>
            <a:off x="1042416" y="2606040"/>
            <a:ext cx="2148840" cy="1005840"/>
          </a:xfrm>
          <a:prstGeom prst="rect">
            <a:avLst/>
          </a:prstGeom>
          <a:noFill/>
        </p:spPr>
        <p:txBody>
          <a:bodyPr wrap="square" lIns="0" tIns="0" rIns="0" bIns="0" anchor="t">
            <a:noAutofit/>
          </a:bodyPr>
          <a:lstStyle/>
          <a:p>
            <a:pPr algn="l"/>
            <a:r>
              <a:rPr lang="en-US" sz="1600" b="0" i="0" dirty="0">
                <a:solidFill>
                  <a:srgbClr val="3A3A3A"/>
                </a:solidFill>
                <a:latin typeface="Segoe UI"/>
                <a:ea typeface="Segoe UI"/>
                <a:cs typeface="Segoe UI"/>
              </a:rPr>
              <a:t>Support and fund</a:t>
            </a:r>
            <a:r>
              <a:rPr sz="1600" b="0" i="0" dirty="0">
                <a:solidFill>
                  <a:srgbClr val="3A3A3A"/>
                </a:solidFill>
                <a:latin typeface="Segoe UI"/>
                <a:ea typeface="Segoe UI"/>
                <a:cs typeface="Segoe UI"/>
              </a:rPr>
              <a:t> </a:t>
            </a:r>
            <a:r>
              <a:rPr lang="en-US" sz="1600" b="0" i="0" dirty="0">
                <a:solidFill>
                  <a:srgbClr val="3A3A3A"/>
                </a:solidFill>
                <a:latin typeface="Segoe UI"/>
                <a:ea typeface="Segoe UI"/>
                <a:cs typeface="Segoe UI"/>
              </a:rPr>
              <a:t>the process. The results will take time to grow.</a:t>
            </a:r>
            <a:endParaRPr sz="1600" b="0" i="0" dirty="0">
              <a:solidFill>
                <a:srgbClr val="3A3A3A"/>
              </a:solidFill>
              <a:latin typeface="Segoe UI"/>
              <a:ea typeface="Segoe UI"/>
              <a:cs typeface="Segoe UI"/>
            </a:endParaRPr>
          </a:p>
        </p:txBody>
      </p:sp>
      <p:sp>
        <p:nvSpPr>
          <p:cNvPr id="9007" name="Role1"/>
          <p:cNvSpPr/>
          <p:nvPr/>
        </p:nvSpPr>
        <p:spPr>
          <a:xfrm>
            <a:off x="3508552" y="1691640"/>
            <a:ext cx="2514600" cy="196596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3709720" y="1874519"/>
            <a:ext cx="603504" cy="603504"/>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Admins icon"/>
          <p:cNvPicPr>
            <a:picLocks noChangeAspect="1"/>
          </p:cNvPicPr>
          <p:nvPr/>
        </p:nvPicPr>
        <p:blipFill>
          <a:blip r:embed="rId4"/>
          <a:stretch>
            <a:fillRect/>
          </a:stretch>
        </p:blipFill>
        <p:spPr>
          <a:xfrm>
            <a:off x="3842491" y="2007290"/>
            <a:ext cx="337962" cy="337962"/>
          </a:xfrm>
          <a:prstGeom prst="rect">
            <a:avLst/>
          </a:prstGeom>
        </p:spPr>
      </p:pic>
      <p:sp>
        <p:nvSpPr>
          <p:cNvPr id="9010" name="TextBox 9009"/>
          <p:cNvSpPr txBox="1"/>
          <p:nvPr/>
        </p:nvSpPr>
        <p:spPr>
          <a:xfrm>
            <a:off x="4422952" y="1874519"/>
            <a:ext cx="1508760" cy="603504"/>
          </a:xfrm>
          <a:prstGeom prst="rect">
            <a:avLst/>
          </a:prstGeom>
          <a:noFill/>
        </p:spPr>
        <p:txBody>
          <a:bodyPr wrap="square" lIns="0" tIns="0" rIns="0" bIns="0" anchor="ctr">
            <a:noAutofit/>
          </a:bodyPr>
          <a:lstStyle/>
          <a:p>
            <a:pPr algn="l"/>
            <a:r>
              <a:rPr lang="en-US" sz="2000" b="1" i="0" dirty="0">
                <a:solidFill>
                  <a:srgbClr val="2E1065"/>
                </a:solidFill>
                <a:latin typeface="Segoe UI"/>
                <a:ea typeface="Segoe UI"/>
                <a:cs typeface="Segoe UI"/>
              </a:rPr>
              <a:t>Builders</a:t>
            </a:r>
            <a:endParaRPr sz="2000" b="1" i="0" dirty="0">
              <a:solidFill>
                <a:srgbClr val="2E1065"/>
              </a:solidFill>
              <a:latin typeface="Segoe UI"/>
              <a:ea typeface="Segoe UI"/>
              <a:cs typeface="Segoe UI"/>
            </a:endParaRPr>
          </a:p>
        </p:txBody>
      </p:sp>
      <p:sp>
        <p:nvSpPr>
          <p:cNvPr id="9011" name="TextBox 9010"/>
          <p:cNvSpPr txBox="1"/>
          <p:nvPr/>
        </p:nvSpPr>
        <p:spPr>
          <a:xfrm>
            <a:off x="3709720" y="2606040"/>
            <a:ext cx="2148840" cy="1005840"/>
          </a:xfrm>
          <a:prstGeom prst="rect">
            <a:avLst/>
          </a:prstGeom>
          <a:noFill/>
        </p:spPr>
        <p:txBody>
          <a:bodyPr wrap="square" lIns="0" tIns="0" rIns="0" bIns="0" anchor="t">
            <a:noAutofit/>
          </a:bodyPr>
          <a:lstStyle/>
          <a:p>
            <a:pPr algn="l"/>
            <a:r>
              <a:rPr lang="en-US" sz="1600" b="0" i="0" dirty="0">
                <a:solidFill>
                  <a:srgbClr val="3A3A3A"/>
                </a:solidFill>
                <a:latin typeface="Segoe UI"/>
                <a:ea typeface="Segoe UI"/>
                <a:cs typeface="Segoe UI"/>
              </a:rPr>
              <a:t>Be open to working outside of your comfort zone. Fail fast. Don’t give up.</a:t>
            </a:r>
            <a:endParaRPr sz="1600" b="0" i="0" dirty="0">
              <a:solidFill>
                <a:srgbClr val="3A3A3A"/>
              </a:solidFill>
              <a:latin typeface="Segoe UI"/>
              <a:ea typeface="Segoe UI"/>
              <a:cs typeface="Segoe UI"/>
            </a:endParaRPr>
          </a:p>
        </p:txBody>
      </p:sp>
      <p:sp>
        <p:nvSpPr>
          <p:cNvPr id="9012" name="Role2"/>
          <p:cNvSpPr/>
          <p:nvPr/>
        </p:nvSpPr>
        <p:spPr>
          <a:xfrm>
            <a:off x="6175857" y="1691640"/>
            <a:ext cx="2514600" cy="196596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Oval 9012"/>
          <p:cNvSpPr/>
          <p:nvPr/>
        </p:nvSpPr>
        <p:spPr>
          <a:xfrm>
            <a:off x="6377025" y="1874519"/>
            <a:ext cx="603504" cy="603504"/>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4" name="Picture 9013" descr="VA teams icon"/>
          <p:cNvPicPr>
            <a:picLocks noChangeAspect="1"/>
          </p:cNvPicPr>
          <p:nvPr/>
        </p:nvPicPr>
        <p:blipFill>
          <a:blip r:embed="rId5"/>
          <a:stretch>
            <a:fillRect/>
          </a:stretch>
        </p:blipFill>
        <p:spPr>
          <a:xfrm>
            <a:off x="6509796" y="2007290"/>
            <a:ext cx="337962" cy="337962"/>
          </a:xfrm>
          <a:prstGeom prst="rect">
            <a:avLst/>
          </a:prstGeom>
        </p:spPr>
      </p:pic>
      <p:sp>
        <p:nvSpPr>
          <p:cNvPr id="9015" name="TextBox 9014"/>
          <p:cNvSpPr txBox="1"/>
          <p:nvPr/>
        </p:nvSpPr>
        <p:spPr>
          <a:xfrm>
            <a:off x="7090257" y="1874519"/>
            <a:ext cx="1508760" cy="603504"/>
          </a:xfrm>
          <a:prstGeom prst="rect">
            <a:avLst/>
          </a:prstGeom>
          <a:noFill/>
        </p:spPr>
        <p:txBody>
          <a:bodyPr wrap="square" lIns="0" tIns="0" rIns="0" bIns="0" anchor="ctr">
            <a:noAutofit/>
          </a:bodyPr>
          <a:lstStyle/>
          <a:p>
            <a:pPr algn="l"/>
            <a:r>
              <a:rPr lang="en-US" sz="2000" b="1" dirty="0">
                <a:solidFill>
                  <a:srgbClr val="2E1065"/>
                </a:solidFill>
                <a:latin typeface="Segoe UI"/>
                <a:ea typeface="Segoe UI"/>
                <a:cs typeface="Segoe UI"/>
              </a:rPr>
              <a:t>T</a:t>
            </a:r>
            <a:r>
              <a:rPr sz="2000" b="1" i="0" dirty="0">
                <a:solidFill>
                  <a:srgbClr val="2E1065"/>
                </a:solidFill>
                <a:latin typeface="Segoe UI"/>
                <a:ea typeface="Segoe UI"/>
                <a:cs typeface="Segoe UI"/>
              </a:rPr>
              <a:t>eams</a:t>
            </a:r>
          </a:p>
        </p:txBody>
      </p:sp>
      <p:sp>
        <p:nvSpPr>
          <p:cNvPr id="9016" name="TextBox 9015"/>
          <p:cNvSpPr txBox="1"/>
          <p:nvPr/>
        </p:nvSpPr>
        <p:spPr>
          <a:xfrm>
            <a:off x="6377025" y="2606040"/>
            <a:ext cx="2148840" cy="1005840"/>
          </a:xfrm>
          <a:prstGeom prst="rect">
            <a:avLst/>
          </a:prstGeom>
          <a:noFill/>
        </p:spPr>
        <p:txBody>
          <a:bodyPr wrap="square" lIns="0" tIns="0" rIns="0" bIns="0" anchor="t">
            <a:noAutofit/>
          </a:bodyPr>
          <a:lstStyle/>
          <a:p>
            <a:pPr algn="l"/>
            <a:r>
              <a:rPr lang="en-US" sz="1600" b="0" i="0" dirty="0">
                <a:solidFill>
                  <a:srgbClr val="3A3A3A"/>
                </a:solidFill>
                <a:latin typeface="Segoe UI"/>
                <a:ea typeface="Segoe UI"/>
                <a:cs typeface="Segoe UI"/>
              </a:rPr>
              <a:t>Set up a team repo to start collaborating and making this your own. </a:t>
            </a:r>
            <a:r>
              <a:rPr lang="en-US" sz="1600" dirty="0">
                <a:solidFill>
                  <a:srgbClr val="3A3A3A"/>
                </a:solidFill>
                <a:latin typeface="Segoe UI"/>
                <a:ea typeface="Segoe UI"/>
                <a:cs typeface="Segoe UI"/>
              </a:rPr>
              <a:t>Run an epic with AI.</a:t>
            </a:r>
            <a:endParaRPr sz="1600" b="0" i="0" dirty="0">
              <a:solidFill>
                <a:srgbClr val="3A3A3A"/>
              </a:solidFill>
              <a:latin typeface="Segoe UI"/>
              <a:ea typeface="Segoe UI"/>
              <a:cs typeface="Segoe UI"/>
            </a:endParaRPr>
          </a:p>
        </p:txBody>
      </p:sp>
      <p:sp>
        <p:nvSpPr>
          <p:cNvPr id="9017" name="Role3"/>
          <p:cNvSpPr/>
          <p:nvPr/>
        </p:nvSpPr>
        <p:spPr>
          <a:xfrm>
            <a:off x="8843162" y="1691640"/>
            <a:ext cx="2514600" cy="196596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8" name="Oval 9017"/>
          <p:cNvSpPr/>
          <p:nvPr/>
        </p:nvSpPr>
        <p:spPr>
          <a:xfrm>
            <a:off x="9044330" y="1874519"/>
            <a:ext cx="603504" cy="603504"/>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9" name="Picture 9018" descr="IBM icon"/>
          <p:cNvPicPr>
            <a:picLocks noChangeAspect="1"/>
          </p:cNvPicPr>
          <p:nvPr/>
        </p:nvPicPr>
        <p:blipFill>
          <a:blip r:embed="rId6"/>
          <a:stretch>
            <a:fillRect/>
          </a:stretch>
        </p:blipFill>
        <p:spPr>
          <a:xfrm>
            <a:off x="9177101" y="2007290"/>
            <a:ext cx="337962" cy="337962"/>
          </a:xfrm>
          <a:prstGeom prst="rect">
            <a:avLst/>
          </a:prstGeom>
        </p:spPr>
      </p:pic>
      <p:sp>
        <p:nvSpPr>
          <p:cNvPr id="9020" name="TextBox 9019"/>
          <p:cNvSpPr txBox="1"/>
          <p:nvPr/>
        </p:nvSpPr>
        <p:spPr>
          <a:xfrm>
            <a:off x="9757562" y="1874519"/>
            <a:ext cx="1508760" cy="603504"/>
          </a:xfrm>
          <a:prstGeom prst="rect">
            <a:avLst/>
          </a:prstGeom>
          <a:noFill/>
        </p:spPr>
        <p:txBody>
          <a:bodyPr wrap="square" lIns="0" tIns="0" rIns="0" bIns="0" anchor="ctr">
            <a:noAutofit/>
          </a:bodyPr>
          <a:lstStyle/>
          <a:p>
            <a:pPr algn="l"/>
            <a:r>
              <a:rPr lang="en-US" sz="2000" b="1" i="0" dirty="0">
                <a:solidFill>
                  <a:srgbClr val="2E1065"/>
                </a:solidFill>
                <a:latin typeface="Segoe UI"/>
                <a:ea typeface="Segoe UI"/>
                <a:cs typeface="Segoe UI"/>
              </a:rPr>
              <a:t>Community</a:t>
            </a:r>
            <a:endParaRPr sz="2000" b="1" i="0" dirty="0">
              <a:solidFill>
                <a:srgbClr val="2E1065"/>
              </a:solidFill>
              <a:latin typeface="Segoe UI"/>
              <a:ea typeface="Segoe UI"/>
              <a:cs typeface="Segoe UI"/>
            </a:endParaRPr>
          </a:p>
        </p:txBody>
      </p:sp>
      <p:sp>
        <p:nvSpPr>
          <p:cNvPr id="9021" name="TextBox 9020"/>
          <p:cNvSpPr txBox="1"/>
          <p:nvPr/>
        </p:nvSpPr>
        <p:spPr>
          <a:xfrm>
            <a:off x="9044330" y="2606040"/>
            <a:ext cx="2148840" cy="1005840"/>
          </a:xfrm>
          <a:prstGeom prst="rect">
            <a:avLst/>
          </a:prstGeom>
          <a:noFill/>
        </p:spPr>
        <p:txBody>
          <a:bodyPr wrap="square" lIns="0" tIns="0" rIns="0" bIns="0" anchor="t">
            <a:noAutofit/>
          </a:bodyPr>
          <a:lstStyle/>
          <a:p>
            <a:pPr algn="l"/>
            <a:r>
              <a:rPr lang="en-US" sz="1600" b="0" i="0" dirty="0">
                <a:solidFill>
                  <a:srgbClr val="3A3A3A"/>
                </a:solidFill>
                <a:latin typeface="Segoe UI"/>
                <a:ea typeface="Segoe UI"/>
                <a:cs typeface="Segoe UI"/>
              </a:rPr>
              <a:t>Share what you learn.</a:t>
            </a:r>
            <a:endParaRPr sz="1600" b="0" i="0" dirty="0">
              <a:solidFill>
                <a:srgbClr val="3A3A3A"/>
              </a:solidFill>
              <a:latin typeface="Segoe UI"/>
              <a:ea typeface="Segoe UI"/>
              <a:cs typeface="Segoe UI"/>
            </a:endParaRPr>
          </a:p>
        </p:txBody>
      </p:sp>
      <p:sp>
        <p:nvSpPr>
          <p:cNvPr id="9022" name="TextBox 9021"/>
          <p:cNvSpPr txBox="1"/>
          <p:nvPr/>
        </p:nvSpPr>
        <p:spPr>
          <a:xfrm>
            <a:off x="841248" y="3858768"/>
            <a:ext cx="5486400" cy="347472"/>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Your first week</a:t>
            </a:r>
          </a:p>
        </p:txBody>
      </p:sp>
      <p:cxnSp>
        <p:nvCxnSpPr>
          <p:cNvPr id="9023" name="Connector 9022"/>
          <p:cNvCxnSpPr/>
          <p:nvPr/>
        </p:nvCxnSpPr>
        <p:spPr>
          <a:xfrm>
            <a:off x="1592362" y="4553712"/>
            <a:ext cx="9013371" cy="0"/>
          </a:xfrm>
          <a:prstGeom prst="line">
            <a:avLst/>
          </a:prstGeom>
          <a:ln w="31750">
            <a:solidFill>
              <a:srgbClr val="C084FC"/>
            </a:solidFill>
          </a:ln>
        </p:spPr>
        <p:style>
          <a:lnRef idx="2">
            <a:schemeClr val="accent1"/>
          </a:lnRef>
          <a:fillRef idx="0">
            <a:schemeClr val="accent1"/>
          </a:fillRef>
          <a:effectRef idx="1">
            <a:schemeClr val="accent1"/>
          </a:effectRef>
          <a:fontRef idx="minor">
            <a:schemeClr val="tx1"/>
          </a:fontRef>
        </p:style>
      </p:cxnSp>
      <p:sp>
        <p:nvSpPr>
          <p:cNvPr id="9024" name="RecipeNum0"/>
          <p:cNvSpPr/>
          <p:nvPr/>
        </p:nvSpPr>
        <p:spPr>
          <a:xfrm>
            <a:off x="1363762"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1</a:t>
            </a:r>
          </a:p>
        </p:txBody>
      </p:sp>
      <p:sp>
        <p:nvSpPr>
          <p:cNvPr id="9025" name="TextBox 9024"/>
          <p:cNvSpPr txBox="1"/>
          <p:nvPr/>
        </p:nvSpPr>
        <p:spPr>
          <a:xfrm>
            <a:off x="896112"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Create AGENTS.md</a:t>
            </a:r>
          </a:p>
        </p:txBody>
      </p:sp>
      <p:sp>
        <p:nvSpPr>
          <p:cNvPr id="9026" name="RecipeNum1"/>
          <p:cNvSpPr/>
          <p:nvPr/>
        </p:nvSpPr>
        <p:spPr>
          <a:xfrm>
            <a:off x="2865990"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2</a:t>
            </a:r>
          </a:p>
        </p:txBody>
      </p:sp>
      <p:sp>
        <p:nvSpPr>
          <p:cNvPr id="9027" name="TextBox 9026"/>
          <p:cNvSpPr txBox="1"/>
          <p:nvPr/>
        </p:nvSpPr>
        <p:spPr>
          <a:xfrm>
            <a:off x="2398340"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Pick a reference project</a:t>
            </a:r>
          </a:p>
        </p:txBody>
      </p:sp>
      <p:sp>
        <p:nvSpPr>
          <p:cNvPr id="9028" name="RecipeNum2"/>
          <p:cNvSpPr/>
          <p:nvPr/>
        </p:nvSpPr>
        <p:spPr>
          <a:xfrm>
            <a:off x="4368219"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3</a:t>
            </a:r>
          </a:p>
        </p:txBody>
      </p:sp>
      <p:sp>
        <p:nvSpPr>
          <p:cNvPr id="9029" name="TextBox 9028"/>
          <p:cNvSpPr txBox="1"/>
          <p:nvPr/>
        </p:nvSpPr>
        <p:spPr>
          <a:xfrm>
            <a:off x="3900569"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Run PRD → TDD → stories → build on one small thing</a:t>
            </a:r>
          </a:p>
        </p:txBody>
      </p:sp>
      <p:sp>
        <p:nvSpPr>
          <p:cNvPr id="9030" name="RecipeNum3"/>
          <p:cNvSpPr/>
          <p:nvPr/>
        </p:nvSpPr>
        <p:spPr>
          <a:xfrm>
            <a:off x="5870448"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4</a:t>
            </a:r>
          </a:p>
        </p:txBody>
      </p:sp>
      <p:sp>
        <p:nvSpPr>
          <p:cNvPr id="9031" name="TextBox 9030"/>
          <p:cNvSpPr txBox="1"/>
          <p:nvPr/>
        </p:nvSpPr>
        <p:spPr>
          <a:xfrm>
            <a:off x="5402797"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Add an ADR folder</a:t>
            </a:r>
          </a:p>
        </p:txBody>
      </p:sp>
      <p:sp>
        <p:nvSpPr>
          <p:cNvPr id="9032" name="RecipeNum4"/>
          <p:cNvSpPr/>
          <p:nvPr/>
        </p:nvSpPr>
        <p:spPr>
          <a:xfrm>
            <a:off x="7372676"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5</a:t>
            </a:r>
          </a:p>
        </p:txBody>
      </p:sp>
      <p:sp>
        <p:nvSpPr>
          <p:cNvPr id="9033" name="TextBox 9032"/>
          <p:cNvSpPr txBox="1"/>
          <p:nvPr/>
        </p:nvSpPr>
        <p:spPr>
          <a:xfrm>
            <a:off x="6905026"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Write your Definition of Done</a:t>
            </a:r>
          </a:p>
        </p:txBody>
      </p:sp>
      <p:sp>
        <p:nvSpPr>
          <p:cNvPr id="9034" name="RecipeNum5"/>
          <p:cNvSpPr/>
          <p:nvPr/>
        </p:nvSpPr>
        <p:spPr>
          <a:xfrm>
            <a:off x="8874905"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6</a:t>
            </a:r>
          </a:p>
        </p:txBody>
      </p:sp>
      <p:sp>
        <p:nvSpPr>
          <p:cNvPr id="9035" name="TextBox 9034"/>
          <p:cNvSpPr txBox="1"/>
          <p:nvPr/>
        </p:nvSpPr>
        <p:spPr>
          <a:xfrm>
            <a:off x="8407254"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Turn every mistake into a rule</a:t>
            </a:r>
          </a:p>
        </p:txBody>
      </p:sp>
      <p:sp>
        <p:nvSpPr>
          <p:cNvPr id="9036" name="RecipeNum6"/>
          <p:cNvSpPr/>
          <p:nvPr/>
        </p:nvSpPr>
        <p:spPr>
          <a:xfrm>
            <a:off x="10377133" y="4325112"/>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1" i="0">
                <a:solidFill>
                  <a:srgbClr val="FFFFFF"/>
                </a:solidFill>
                <a:latin typeface="Segoe UI"/>
                <a:ea typeface="Segoe UI"/>
                <a:cs typeface="Segoe UI"/>
              </a:rPr>
              <a:t>7</a:t>
            </a:r>
          </a:p>
        </p:txBody>
      </p:sp>
      <p:sp>
        <p:nvSpPr>
          <p:cNvPr id="9037" name="TextBox 9036"/>
          <p:cNvSpPr txBox="1"/>
          <p:nvPr/>
        </p:nvSpPr>
        <p:spPr>
          <a:xfrm>
            <a:off x="9909483" y="4892040"/>
            <a:ext cx="1392500" cy="1005840"/>
          </a:xfrm>
          <a:prstGeom prst="rect">
            <a:avLst/>
          </a:prstGeom>
          <a:noFill/>
        </p:spPr>
        <p:txBody>
          <a:bodyPr wrap="square" lIns="0" tIns="0" rIns="0" bIns="0" anchor="t">
            <a:noAutofit/>
          </a:bodyPr>
          <a:lstStyle/>
          <a:p>
            <a:pPr algn="ctr"/>
            <a:r>
              <a:rPr sz="1400" b="0" i="0">
                <a:solidFill>
                  <a:srgbClr val="3A3A3A"/>
                </a:solidFill>
                <a:latin typeface="Segoe UI"/>
                <a:ea typeface="Segoe UI"/>
                <a:cs typeface="Segoe UI"/>
              </a:rPr>
              <a:t>Wrap repeated API work in a tested script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The artifacts up close, all real files you can open</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TANGIBLE OUTPUTS</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16</a:t>
            </a:fld>
            <a:endParaRPr lang="en-US"/>
          </a:p>
        </p:txBody>
      </p:sp>
      <p:sp>
        <p:nvSpPr>
          <p:cNvPr id="9002" name="Art0"/>
          <p:cNvSpPr/>
          <p:nvPr/>
        </p:nvSpPr>
        <p:spPr>
          <a:xfrm>
            <a:off x="841248" y="1691640"/>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05840" y="18562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PRD icon"/>
          <p:cNvPicPr>
            <a:picLocks noChangeAspect="1"/>
          </p:cNvPicPr>
          <p:nvPr/>
        </p:nvPicPr>
        <p:blipFill>
          <a:blip r:embed="rId3"/>
          <a:stretch>
            <a:fillRect/>
          </a:stretch>
        </p:blipFill>
        <p:spPr>
          <a:xfrm>
            <a:off x="1130564" y="1980956"/>
            <a:ext cx="317479" cy="317479"/>
          </a:xfrm>
          <a:prstGeom prst="rect">
            <a:avLst/>
          </a:prstGeom>
        </p:spPr>
      </p:pic>
      <p:sp>
        <p:nvSpPr>
          <p:cNvPr id="9005" name="TextBox 9004"/>
          <p:cNvSpPr txBox="1"/>
          <p:nvPr/>
        </p:nvSpPr>
        <p:spPr>
          <a:xfrm>
            <a:off x="1709928" y="1856232"/>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PRD</a:t>
            </a:r>
          </a:p>
        </p:txBody>
      </p:sp>
      <p:sp>
        <p:nvSpPr>
          <p:cNvPr id="9006" name="TextBox 9005"/>
          <p:cNvSpPr txBox="1"/>
          <p:nvPr/>
        </p:nvSpPr>
        <p:spPr>
          <a:xfrm>
            <a:off x="1005840" y="2514600"/>
            <a:ext cx="2185416" cy="566928"/>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The why and the what</a:t>
            </a:r>
            <a:r>
              <a:rPr lang="en-US" sz="1600" b="0" i="0" dirty="0">
                <a:solidFill>
                  <a:srgbClr val="3A3A3A"/>
                </a:solidFill>
                <a:latin typeface="Segoe UI"/>
                <a:ea typeface="Segoe UI"/>
                <a:cs typeface="Segoe UI"/>
              </a:rPr>
              <a:t>, project constraints</a:t>
            </a:r>
            <a:endParaRPr sz="1600" b="0" i="0" dirty="0">
              <a:solidFill>
                <a:srgbClr val="3A3A3A"/>
              </a:solidFill>
              <a:latin typeface="Segoe UI"/>
              <a:ea typeface="Segoe UI"/>
              <a:cs typeface="Segoe UI"/>
            </a:endParaRPr>
          </a:p>
        </p:txBody>
      </p:sp>
      <p:sp>
        <p:nvSpPr>
          <p:cNvPr id="9007" name="TextBox 9006"/>
          <p:cNvSpPr txBox="1"/>
          <p:nvPr/>
        </p:nvSpPr>
        <p:spPr>
          <a:xfrm>
            <a:off x="1005840" y="3118104"/>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…-product-requirements.md</a:t>
            </a:r>
          </a:p>
        </p:txBody>
      </p:sp>
      <p:sp>
        <p:nvSpPr>
          <p:cNvPr id="9008" name="Art1"/>
          <p:cNvSpPr/>
          <p:nvPr/>
        </p:nvSpPr>
        <p:spPr>
          <a:xfrm>
            <a:off x="3508552" y="1691640"/>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9" name="Oval 9008"/>
          <p:cNvSpPr/>
          <p:nvPr/>
        </p:nvSpPr>
        <p:spPr>
          <a:xfrm>
            <a:off x="3673144" y="18562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0" name="Picture 9009" descr="TDD icon"/>
          <p:cNvPicPr>
            <a:picLocks noChangeAspect="1"/>
          </p:cNvPicPr>
          <p:nvPr/>
        </p:nvPicPr>
        <p:blipFill>
          <a:blip r:embed="rId4"/>
          <a:stretch>
            <a:fillRect/>
          </a:stretch>
        </p:blipFill>
        <p:spPr>
          <a:xfrm>
            <a:off x="3797868" y="1980956"/>
            <a:ext cx="317479" cy="317479"/>
          </a:xfrm>
          <a:prstGeom prst="rect">
            <a:avLst/>
          </a:prstGeom>
        </p:spPr>
      </p:pic>
      <p:sp>
        <p:nvSpPr>
          <p:cNvPr id="9011" name="TextBox 9010"/>
          <p:cNvSpPr txBox="1"/>
          <p:nvPr/>
        </p:nvSpPr>
        <p:spPr>
          <a:xfrm>
            <a:off x="4377232" y="1856232"/>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TDD</a:t>
            </a:r>
          </a:p>
        </p:txBody>
      </p:sp>
      <p:sp>
        <p:nvSpPr>
          <p:cNvPr id="9012" name="TextBox 9011"/>
          <p:cNvSpPr txBox="1"/>
          <p:nvPr/>
        </p:nvSpPr>
        <p:spPr>
          <a:xfrm>
            <a:off x="3673144" y="2514600"/>
            <a:ext cx="2185416" cy="566928"/>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The how, with a diagram per module</a:t>
            </a:r>
          </a:p>
        </p:txBody>
      </p:sp>
      <p:sp>
        <p:nvSpPr>
          <p:cNvPr id="9013" name="TextBox 9012"/>
          <p:cNvSpPr txBox="1"/>
          <p:nvPr/>
        </p:nvSpPr>
        <p:spPr>
          <a:xfrm>
            <a:off x="3673144" y="3118104"/>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…-technical-design.md</a:t>
            </a:r>
          </a:p>
        </p:txBody>
      </p:sp>
      <p:sp>
        <p:nvSpPr>
          <p:cNvPr id="9014" name="Art2"/>
          <p:cNvSpPr/>
          <p:nvPr/>
        </p:nvSpPr>
        <p:spPr>
          <a:xfrm>
            <a:off x="6175857" y="1691640"/>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5" name="Oval 9014"/>
          <p:cNvSpPr/>
          <p:nvPr/>
        </p:nvSpPr>
        <p:spPr>
          <a:xfrm>
            <a:off x="6340449" y="18562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6" name="Picture 9015" descr="Epic, spikes, stories icon"/>
          <p:cNvPicPr>
            <a:picLocks noChangeAspect="1"/>
          </p:cNvPicPr>
          <p:nvPr/>
        </p:nvPicPr>
        <p:blipFill>
          <a:blip r:embed="rId5"/>
          <a:stretch>
            <a:fillRect/>
          </a:stretch>
        </p:blipFill>
        <p:spPr>
          <a:xfrm>
            <a:off x="6465173" y="1980956"/>
            <a:ext cx="317479" cy="317479"/>
          </a:xfrm>
          <a:prstGeom prst="rect">
            <a:avLst/>
          </a:prstGeom>
        </p:spPr>
      </p:pic>
      <p:sp>
        <p:nvSpPr>
          <p:cNvPr id="9017" name="TextBox 9016"/>
          <p:cNvSpPr txBox="1"/>
          <p:nvPr/>
        </p:nvSpPr>
        <p:spPr>
          <a:xfrm>
            <a:off x="7044537" y="1856232"/>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Epic, spikes, stories</a:t>
            </a:r>
          </a:p>
        </p:txBody>
      </p:sp>
      <p:sp>
        <p:nvSpPr>
          <p:cNvPr id="9018" name="TextBox 9017"/>
          <p:cNvSpPr txBox="1"/>
          <p:nvPr/>
        </p:nvSpPr>
        <p:spPr>
          <a:xfrm>
            <a:off x="6340449" y="2514600"/>
            <a:ext cx="2185416" cy="566928"/>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The work, with acceptance criteria</a:t>
            </a:r>
          </a:p>
        </p:txBody>
      </p:sp>
      <p:sp>
        <p:nvSpPr>
          <p:cNvPr id="9019" name="TextBox 9018"/>
          <p:cNvSpPr txBox="1"/>
          <p:nvPr/>
        </p:nvSpPr>
        <p:spPr>
          <a:xfrm>
            <a:off x="6340449" y="3118104"/>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…-user-stories.md</a:t>
            </a:r>
          </a:p>
        </p:txBody>
      </p:sp>
      <p:sp>
        <p:nvSpPr>
          <p:cNvPr id="9020" name="Art3"/>
          <p:cNvSpPr/>
          <p:nvPr/>
        </p:nvSpPr>
        <p:spPr>
          <a:xfrm>
            <a:off x="8843162" y="1691640"/>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1" name="Oval 9020"/>
          <p:cNvSpPr/>
          <p:nvPr/>
        </p:nvSpPr>
        <p:spPr>
          <a:xfrm>
            <a:off x="9007754" y="18562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2" name="Picture 9021" descr="Build icon"/>
          <p:cNvPicPr>
            <a:picLocks noChangeAspect="1"/>
          </p:cNvPicPr>
          <p:nvPr/>
        </p:nvPicPr>
        <p:blipFill>
          <a:blip r:embed="rId6"/>
          <a:stretch>
            <a:fillRect/>
          </a:stretch>
        </p:blipFill>
        <p:spPr>
          <a:xfrm>
            <a:off x="9132478" y="1980956"/>
            <a:ext cx="317479" cy="317479"/>
          </a:xfrm>
          <a:prstGeom prst="rect">
            <a:avLst/>
          </a:prstGeom>
        </p:spPr>
      </p:pic>
      <p:sp>
        <p:nvSpPr>
          <p:cNvPr id="9023" name="TextBox 9022"/>
          <p:cNvSpPr txBox="1"/>
          <p:nvPr/>
        </p:nvSpPr>
        <p:spPr>
          <a:xfrm>
            <a:off x="9711842" y="1856232"/>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Build</a:t>
            </a:r>
          </a:p>
        </p:txBody>
      </p:sp>
      <p:sp>
        <p:nvSpPr>
          <p:cNvPr id="9024" name="TextBox 9023"/>
          <p:cNvSpPr txBox="1"/>
          <p:nvPr/>
        </p:nvSpPr>
        <p:spPr>
          <a:xfrm>
            <a:off x="9007754" y="2514600"/>
            <a:ext cx="2185416" cy="566928"/>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Code, config, and unit tests</a:t>
            </a:r>
            <a:r>
              <a:rPr lang="en-US" sz="1600" b="0" i="0" dirty="0">
                <a:solidFill>
                  <a:srgbClr val="3A3A3A"/>
                </a:solidFill>
                <a:latin typeface="Segoe UI"/>
                <a:ea typeface="Segoe UI"/>
                <a:cs typeface="Segoe UI"/>
              </a:rPr>
              <a:t>, build docs</a:t>
            </a:r>
            <a:endParaRPr sz="1600" b="0" i="0" dirty="0">
              <a:solidFill>
                <a:srgbClr val="3A3A3A"/>
              </a:solidFill>
              <a:latin typeface="Segoe UI"/>
              <a:ea typeface="Segoe UI"/>
              <a:cs typeface="Segoe UI"/>
            </a:endParaRPr>
          </a:p>
        </p:txBody>
      </p:sp>
      <p:sp>
        <p:nvSpPr>
          <p:cNvPr id="9025" name="TextBox 9024"/>
          <p:cNvSpPr txBox="1"/>
          <p:nvPr/>
        </p:nvSpPr>
        <p:spPr>
          <a:xfrm>
            <a:off x="9007754" y="3118104"/>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&lt;project&gt;/scripts/ and tests/</a:t>
            </a:r>
          </a:p>
        </p:txBody>
      </p:sp>
      <p:sp>
        <p:nvSpPr>
          <p:cNvPr id="9026" name="Art4"/>
          <p:cNvSpPr/>
          <p:nvPr/>
        </p:nvSpPr>
        <p:spPr>
          <a:xfrm>
            <a:off x="841248" y="3867912"/>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7" name="Oval 9026"/>
          <p:cNvSpPr/>
          <p:nvPr/>
        </p:nvSpPr>
        <p:spPr>
          <a:xfrm>
            <a:off x="1005840" y="403250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28" name="Picture 9027" descr="Testing docs icon"/>
          <p:cNvPicPr>
            <a:picLocks noChangeAspect="1"/>
          </p:cNvPicPr>
          <p:nvPr/>
        </p:nvPicPr>
        <p:blipFill>
          <a:blip r:embed="rId7"/>
          <a:stretch>
            <a:fillRect/>
          </a:stretch>
        </p:blipFill>
        <p:spPr>
          <a:xfrm>
            <a:off x="1130564" y="4157228"/>
            <a:ext cx="317479" cy="317479"/>
          </a:xfrm>
          <a:prstGeom prst="rect">
            <a:avLst/>
          </a:prstGeom>
        </p:spPr>
      </p:pic>
      <p:sp>
        <p:nvSpPr>
          <p:cNvPr id="9029" name="TextBox 9028"/>
          <p:cNvSpPr txBox="1"/>
          <p:nvPr/>
        </p:nvSpPr>
        <p:spPr>
          <a:xfrm>
            <a:off x="1709928" y="4032504"/>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Testing docs</a:t>
            </a:r>
          </a:p>
        </p:txBody>
      </p:sp>
      <p:sp>
        <p:nvSpPr>
          <p:cNvPr id="9030" name="TextBox 9029"/>
          <p:cNvSpPr txBox="1"/>
          <p:nvPr/>
        </p:nvSpPr>
        <p:spPr>
          <a:xfrm>
            <a:off x="1005840" y="4690872"/>
            <a:ext cx="2185416" cy="566928"/>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Unit tests plus an end-to-end test plan</a:t>
            </a:r>
          </a:p>
        </p:txBody>
      </p:sp>
      <p:sp>
        <p:nvSpPr>
          <p:cNvPr id="9031" name="TextBox 9030"/>
          <p:cNvSpPr txBox="1"/>
          <p:nvPr/>
        </p:nvSpPr>
        <p:spPr>
          <a:xfrm>
            <a:off x="1005840" y="5294376"/>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functional-testing/</a:t>
            </a:r>
          </a:p>
        </p:txBody>
      </p:sp>
      <p:sp>
        <p:nvSpPr>
          <p:cNvPr id="9032" name="Art5"/>
          <p:cNvSpPr/>
          <p:nvPr/>
        </p:nvSpPr>
        <p:spPr>
          <a:xfrm>
            <a:off x="3508552" y="3867912"/>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33" name="Oval 9032"/>
          <p:cNvSpPr/>
          <p:nvPr/>
        </p:nvSpPr>
        <p:spPr>
          <a:xfrm>
            <a:off x="3673144" y="403250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34" name="Picture 9033" descr="Other docs icon"/>
          <p:cNvPicPr>
            <a:picLocks noChangeAspect="1"/>
          </p:cNvPicPr>
          <p:nvPr/>
        </p:nvPicPr>
        <p:blipFill>
          <a:blip r:embed="rId8"/>
          <a:stretch>
            <a:fillRect/>
          </a:stretch>
        </p:blipFill>
        <p:spPr>
          <a:xfrm>
            <a:off x="3797868" y="4157228"/>
            <a:ext cx="317479" cy="317479"/>
          </a:xfrm>
          <a:prstGeom prst="rect">
            <a:avLst/>
          </a:prstGeom>
        </p:spPr>
      </p:pic>
      <p:sp>
        <p:nvSpPr>
          <p:cNvPr id="9035" name="TextBox 9034"/>
          <p:cNvSpPr txBox="1"/>
          <p:nvPr/>
        </p:nvSpPr>
        <p:spPr>
          <a:xfrm>
            <a:off x="4377232" y="4032504"/>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Other docs</a:t>
            </a:r>
          </a:p>
        </p:txBody>
      </p:sp>
      <p:sp>
        <p:nvSpPr>
          <p:cNvPr id="9036" name="TextBox 9035"/>
          <p:cNvSpPr txBox="1"/>
          <p:nvPr/>
        </p:nvSpPr>
        <p:spPr>
          <a:xfrm>
            <a:off x="3673144" y="4690872"/>
            <a:ext cx="2185416" cy="566928"/>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Admin, developer, and end-user guides</a:t>
            </a:r>
          </a:p>
        </p:txBody>
      </p:sp>
      <p:sp>
        <p:nvSpPr>
          <p:cNvPr id="9037" name="TextBox 9036"/>
          <p:cNvSpPr txBox="1"/>
          <p:nvPr/>
        </p:nvSpPr>
        <p:spPr>
          <a:xfrm>
            <a:off x="3673144" y="5294376"/>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confluence/ · developer/</a:t>
            </a:r>
          </a:p>
        </p:txBody>
      </p:sp>
      <p:sp>
        <p:nvSpPr>
          <p:cNvPr id="9038" name="Art6"/>
          <p:cNvSpPr/>
          <p:nvPr/>
        </p:nvSpPr>
        <p:spPr>
          <a:xfrm>
            <a:off x="6175857" y="3867912"/>
            <a:ext cx="2514600" cy="1993392"/>
          </a:xfrm>
          <a:prstGeom prst="roundRect">
            <a:avLst>
              <a:gd name="adj" fmla="val 5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39" name="Oval 9038"/>
          <p:cNvSpPr/>
          <p:nvPr/>
        </p:nvSpPr>
        <p:spPr>
          <a:xfrm>
            <a:off x="6340449" y="403250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40" name="Picture 9039" descr="Decision log icon"/>
          <p:cNvPicPr>
            <a:picLocks noChangeAspect="1"/>
          </p:cNvPicPr>
          <p:nvPr/>
        </p:nvPicPr>
        <p:blipFill>
          <a:blip r:embed="rId9"/>
          <a:stretch>
            <a:fillRect/>
          </a:stretch>
        </p:blipFill>
        <p:spPr>
          <a:xfrm>
            <a:off x="6465173" y="4157228"/>
            <a:ext cx="317479" cy="317479"/>
          </a:xfrm>
          <a:prstGeom prst="rect">
            <a:avLst/>
          </a:prstGeom>
        </p:spPr>
      </p:pic>
      <p:sp>
        <p:nvSpPr>
          <p:cNvPr id="9041" name="TextBox 9040"/>
          <p:cNvSpPr txBox="1"/>
          <p:nvPr/>
        </p:nvSpPr>
        <p:spPr>
          <a:xfrm>
            <a:off x="7044537" y="4032504"/>
            <a:ext cx="15544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Decision log</a:t>
            </a:r>
          </a:p>
        </p:txBody>
      </p:sp>
      <p:sp>
        <p:nvSpPr>
          <p:cNvPr id="9042" name="TextBox 9041"/>
          <p:cNvSpPr txBox="1"/>
          <p:nvPr/>
        </p:nvSpPr>
        <p:spPr>
          <a:xfrm>
            <a:off x="6340449" y="4690872"/>
            <a:ext cx="2185416" cy="566928"/>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Architecture Decision Records (ADRs)</a:t>
            </a:r>
          </a:p>
        </p:txBody>
      </p:sp>
      <p:sp>
        <p:nvSpPr>
          <p:cNvPr id="9043" name="TextBox 9042"/>
          <p:cNvSpPr txBox="1"/>
          <p:nvPr/>
        </p:nvSpPr>
        <p:spPr>
          <a:xfrm>
            <a:off x="6340449" y="5294376"/>
            <a:ext cx="2240280" cy="512064"/>
          </a:xfrm>
          <a:prstGeom prst="rect">
            <a:avLst/>
          </a:prstGeom>
          <a:noFill/>
        </p:spPr>
        <p:txBody>
          <a:bodyPr wrap="square" lIns="0" tIns="0" rIns="0" bIns="0" anchor="b">
            <a:noAutofit/>
          </a:bodyPr>
          <a:lstStyle/>
          <a:p>
            <a:pPr algn="l"/>
            <a:r>
              <a:rPr sz="1400" b="0" i="0">
                <a:solidFill>
                  <a:srgbClr val="7C3AED"/>
                </a:solidFill>
                <a:latin typeface="Consolas"/>
                <a:ea typeface="Consolas"/>
                <a:cs typeface="Consolas"/>
              </a:rPr>
              <a:t>decisions/0001-….md</a:t>
            </a:r>
          </a:p>
        </p:txBody>
      </p:sp>
      <p:sp>
        <p:nvSpPr>
          <p:cNvPr id="9044" name="ArtTemplates"/>
          <p:cNvSpPr/>
          <p:nvPr/>
        </p:nvSpPr>
        <p:spPr>
          <a:xfrm>
            <a:off x="8843162" y="3867912"/>
            <a:ext cx="2514600" cy="1993392"/>
          </a:xfrm>
          <a:prstGeom prst="roundRect">
            <a:avLst>
              <a:gd name="adj" fmla="val 5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45" name="Oval 9044"/>
          <p:cNvSpPr/>
          <p:nvPr/>
        </p:nvSpPr>
        <p:spPr>
          <a:xfrm>
            <a:off x="9007754" y="4032504"/>
            <a:ext cx="566928" cy="566928"/>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46" name="Picture 9045" descr="Template icon"/>
          <p:cNvPicPr>
            <a:picLocks noChangeAspect="1"/>
          </p:cNvPicPr>
          <p:nvPr/>
        </p:nvPicPr>
        <p:blipFill>
          <a:blip r:embed="rId10"/>
          <a:stretch>
            <a:fillRect/>
          </a:stretch>
        </p:blipFill>
        <p:spPr>
          <a:xfrm>
            <a:off x="9132478" y="4157228"/>
            <a:ext cx="317479" cy="317479"/>
          </a:xfrm>
          <a:prstGeom prst="rect">
            <a:avLst/>
          </a:prstGeom>
        </p:spPr>
      </p:pic>
      <p:sp>
        <p:nvSpPr>
          <p:cNvPr id="9047" name="TextBox 9046"/>
          <p:cNvSpPr txBox="1"/>
          <p:nvPr/>
        </p:nvSpPr>
        <p:spPr>
          <a:xfrm>
            <a:off x="9711842" y="4032504"/>
            <a:ext cx="1554480" cy="566928"/>
          </a:xfrm>
          <a:prstGeom prst="rect">
            <a:avLst/>
          </a:prstGeom>
          <a:noFill/>
        </p:spPr>
        <p:txBody>
          <a:bodyPr wrap="square" lIns="0" tIns="0" rIns="0" bIns="0" anchor="ctr">
            <a:noAutofit/>
          </a:bodyPr>
          <a:lstStyle/>
          <a:p>
            <a:pPr algn="l"/>
            <a:r>
              <a:rPr sz="1800" b="1" i="0">
                <a:solidFill>
                  <a:srgbClr val="FFFFFF"/>
                </a:solidFill>
                <a:latin typeface="Segoe UI"/>
                <a:ea typeface="Segoe UI"/>
                <a:cs typeface="Segoe UI"/>
              </a:rPr>
              <a:t>Templates</a:t>
            </a:r>
          </a:p>
        </p:txBody>
      </p:sp>
      <p:sp>
        <p:nvSpPr>
          <p:cNvPr id="9048" name="TextBox 9047"/>
          <p:cNvSpPr txBox="1"/>
          <p:nvPr/>
        </p:nvSpPr>
        <p:spPr>
          <a:xfrm>
            <a:off x="9007754" y="4690872"/>
            <a:ext cx="2185416" cy="566928"/>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A blank start for every document type</a:t>
            </a:r>
          </a:p>
        </p:txBody>
      </p:sp>
      <p:sp>
        <p:nvSpPr>
          <p:cNvPr id="9049" name="TextBox 9048"/>
          <p:cNvSpPr txBox="1"/>
          <p:nvPr/>
        </p:nvSpPr>
        <p:spPr>
          <a:xfrm>
            <a:off x="9007754" y="5294376"/>
            <a:ext cx="2240280" cy="512064"/>
          </a:xfrm>
          <a:prstGeom prst="rect">
            <a:avLst/>
          </a:prstGeom>
          <a:noFill/>
        </p:spPr>
        <p:txBody>
          <a:bodyPr wrap="square" lIns="0" tIns="0" rIns="0" bIns="0" anchor="b">
            <a:noAutofit/>
          </a:bodyPr>
          <a:lstStyle/>
          <a:p>
            <a:pPr algn="l"/>
            <a:r>
              <a:rPr sz="1400" b="0" i="0">
                <a:solidFill>
                  <a:srgbClr val="C084FC"/>
                </a:solidFill>
                <a:latin typeface="Consolas"/>
                <a:ea typeface="Consolas"/>
                <a:cs typeface="Consolas"/>
              </a:rPr>
              <a:t>documentation/ templates/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Questions?</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r>
              <a:rPr lang="en-US" sz="1400" b="1" dirty="0">
                <a:solidFill>
                  <a:srgbClr val="DB2777"/>
                </a:solidFill>
                <a:latin typeface="Segoe UI"/>
                <a:ea typeface="Segoe UI"/>
                <a:cs typeface="Segoe UI"/>
              </a:rPr>
              <a:t>QUESTIONS · </a:t>
            </a:r>
            <a:r>
              <a:rPr lang="en-US" sz="1400" b="1" i="0" dirty="0">
                <a:solidFill>
                  <a:srgbClr val="DB2777"/>
                </a:solidFill>
                <a:latin typeface="Segoe UI"/>
                <a:ea typeface="Segoe UI"/>
                <a:cs typeface="Segoe UI"/>
              </a:rPr>
              <a:t>IFNYANTU </a:t>
            </a:r>
            <a:r>
              <a:rPr lang="en-US" sz="1400" b="1" i="0" dirty="0">
                <a:solidFill>
                  <a:srgbClr val="DB2777"/>
                </a:solidFill>
                <a:latin typeface="Segoe UI"/>
                <a:ea typeface="Segoe UI"/>
                <a:cs typeface="Segoe UI"/>
                <a:sym typeface="Wingdings" pitchFamily="2" charset="2"/>
              </a:rPr>
              <a:t> ABEAFIXINTU</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17</a:t>
            </a:fld>
            <a:endParaRPr lang="en-US"/>
          </a:p>
        </p:txBody>
      </p:sp>
      <p:sp>
        <p:nvSpPr>
          <p:cNvPr id="9002" name="QRCard"/>
          <p:cNvSpPr/>
          <p:nvPr/>
        </p:nvSpPr>
        <p:spPr>
          <a:xfrm>
            <a:off x="841248" y="1691640"/>
            <a:ext cx="3429000" cy="4206240"/>
          </a:xfrm>
          <a:prstGeom prst="roundRect">
            <a:avLst>
              <a:gd name="adj" fmla="val 5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3" name="RepoQR" descr="QR code linking to github.com/jtrockstar/ai-quickstart"/>
          <p:cNvPicPr>
            <a:picLocks noChangeAspect="1"/>
          </p:cNvPicPr>
          <p:nvPr/>
        </p:nvPicPr>
        <p:blipFill>
          <a:blip r:embed="rId3"/>
          <a:stretch>
            <a:fillRect/>
          </a:stretch>
        </p:blipFill>
        <p:spPr>
          <a:xfrm>
            <a:off x="1280160" y="1874519"/>
            <a:ext cx="2560320" cy="2560320"/>
          </a:xfrm>
          <a:prstGeom prst="rect">
            <a:avLst/>
          </a:prstGeom>
        </p:spPr>
      </p:pic>
      <p:sp>
        <p:nvSpPr>
          <p:cNvPr id="9004" name="TextBox 9003"/>
          <p:cNvSpPr txBox="1"/>
          <p:nvPr/>
        </p:nvSpPr>
        <p:spPr>
          <a:xfrm>
            <a:off x="914400" y="4572000"/>
            <a:ext cx="3291840" cy="365760"/>
          </a:xfrm>
          <a:prstGeom prst="rect">
            <a:avLst/>
          </a:prstGeom>
          <a:noFill/>
        </p:spPr>
        <p:txBody>
          <a:bodyPr wrap="square" lIns="0" tIns="0" rIns="0" bIns="0" anchor="t">
            <a:noAutofit/>
          </a:bodyPr>
          <a:lstStyle/>
          <a:p>
            <a:pPr algn="ctr"/>
            <a:r>
              <a:rPr sz="1400" b="1" i="0">
                <a:solidFill>
                  <a:srgbClr val="7C3AED"/>
                </a:solidFill>
                <a:latin typeface="Segoe UI"/>
                <a:ea typeface="Segoe UI"/>
                <a:cs typeface="Segoe UI"/>
              </a:rPr>
              <a:t>github.com/jtrockstar/ai-quickstart</a:t>
            </a:r>
          </a:p>
        </p:txBody>
      </p:sp>
      <p:sp>
        <p:nvSpPr>
          <p:cNvPr id="9005" name="TextBox 9004"/>
          <p:cNvSpPr txBox="1"/>
          <p:nvPr/>
        </p:nvSpPr>
        <p:spPr>
          <a:xfrm>
            <a:off x="1024128" y="4983480"/>
            <a:ext cx="3063240" cy="731520"/>
          </a:xfrm>
          <a:prstGeom prst="rect">
            <a:avLst/>
          </a:prstGeom>
          <a:noFill/>
        </p:spPr>
        <p:txBody>
          <a:bodyPr wrap="square" lIns="0" tIns="0" rIns="0" bIns="0" anchor="t">
            <a:noAutofit/>
          </a:bodyPr>
          <a:lstStyle/>
          <a:p>
            <a:pPr algn="ctr"/>
            <a:r>
              <a:rPr lang="en-US" sz="1400" b="0" i="0" dirty="0">
                <a:solidFill>
                  <a:srgbClr val="3A3A3A"/>
                </a:solidFill>
                <a:latin typeface="Segoe UI"/>
                <a:ea typeface="Segoe UI"/>
                <a:cs typeface="Segoe UI"/>
              </a:rPr>
              <a:t>a</a:t>
            </a:r>
            <a:r>
              <a:rPr sz="1400" b="0" i="0" dirty="0">
                <a:solidFill>
                  <a:srgbClr val="3A3A3A"/>
                </a:solidFill>
                <a:latin typeface="Segoe UI"/>
                <a:ea typeface="Segoe UI"/>
                <a:cs typeface="Segoe UI"/>
              </a:rPr>
              <a:t> public repo</a:t>
            </a:r>
          </a:p>
        </p:txBody>
      </p:sp>
      <p:sp>
        <p:nvSpPr>
          <p:cNvPr id="9006" name="TextBox 9005"/>
          <p:cNvSpPr txBox="1"/>
          <p:nvPr/>
        </p:nvSpPr>
        <p:spPr>
          <a:xfrm>
            <a:off x="4572000" y="1691640"/>
            <a:ext cx="6766560" cy="411480"/>
          </a:xfrm>
          <a:prstGeom prst="rect">
            <a:avLst/>
          </a:prstGeom>
          <a:noFill/>
        </p:spPr>
        <p:txBody>
          <a:bodyPr wrap="square" lIns="0" tIns="0" rIns="0" bIns="0" anchor="t">
            <a:noAutofit/>
          </a:bodyPr>
          <a:lstStyle/>
          <a:p>
            <a:pPr algn="l"/>
            <a:r>
              <a:rPr lang="en-US" sz="2000" b="1" i="0" dirty="0">
                <a:solidFill>
                  <a:srgbClr val="2E1065"/>
                </a:solidFill>
                <a:latin typeface="Segoe UI"/>
                <a:ea typeface="Segoe UI"/>
                <a:cs typeface="Segoe UI"/>
              </a:rPr>
              <a:t>What you’ll find</a:t>
            </a:r>
            <a:endParaRPr sz="2000" b="1" i="0" dirty="0">
              <a:solidFill>
                <a:srgbClr val="2E1065"/>
              </a:solidFill>
              <a:latin typeface="Segoe UI"/>
              <a:ea typeface="Segoe UI"/>
              <a:cs typeface="Segoe UI"/>
            </a:endParaRPr>
          </a:p>
        </p:txBody>
      </p:sp>
      <p:sp>
        <p:nvSpPr>
          <p:cNvPr id="9007" name="Oval 9006"/>
          <p:cNvSpPr/>
          <p:nvPr/>
        </p:nvSpPr>
        <p:spPr>
          <a:xfrm>
            <a:off x="4572000" y="2240280"/>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8" name="Picture 9007"/>
          <p:cNvPicPr>
            <a:picLocks noChangeAspect="1"/>
          </p:cNvPicPr>
          <p:nvPr/>
        </p:nvPicPr>
        <p:blipFill>
          <a:blip r:embed="rId4"/>
          <a:stretch>
            <a:fillRect/>
          </a:stretch>
        </p:blipFill>
        <p:spPr>
          <a:xfrm>
            <a:off x="4708794" y="2377074"/>
            <a:ext cx="348203" cy="348203"/>
          </a:xfrm>
          <a:prstGeom prst="rect">
            <a:avLst/>
          </a:prstGeom>
        </p:spPr>
      </p:pic>
      <p:sp>
        <p:nvSpPr>
          <p:cNvPr id="9009" name="TextBox 9008"/>
          <p:cNvSpPr txBox="1"/>
          <p:nvPr/>
        </p:nvSpPr>
        <p:spPr>
          <a:xfrm>
            <a:off x="5394960" y="2194560"/>
            <a:ext cx="5943600" cy="731520"/>
          </a:xfrm>
          <a:prstGeom prst="rect">
            <a:avLst/>
          </a:prstGeom>
          <a:noFill/>
        </p:spPr>
        <p:txBody>
          <a:bodyPr wrap="square" lIns="0" tIns="0" rIns="0" bIns="0" anchor="ctr">
            <a:noAutofit/>
          </a:bodyPr>
          <a:lstStyle/>
          <a:p>
            <a:pPr algn="l"/>
            <a:r>
              <a:rPr lang="en-US" sz="1800" b="1" i="0" dirty="0">
                <a:solidFill>
                  <a:srgbClr val="2E1065"/>
                </a:solidFill>
                <a:latin typeface="Segoe UI"/>
                <a:ea typeface="Segoe UI"/>
                <a:cs typeface="Segoe UI"/>
              </a:rPr>
              <a:t>Examples </a:t>
            </a:r>
            <a:r>
              <a:rPr lang="en-US" sz="1800" i="0" dirty="0">
                <a:solidFill>
                  <a:srgbClr val="2E1065"/>
                </a:solidFill>
                <a:latin typeface="Segoe UI"/>
                <a:ea typeface="Segoe UI"/>
                <a:cs typeface="Segoe UI"/>
              </a:rPr>
              <a:t>of all the files mentioned, including the </a:t>
            </a:r>
            <a:r>
              <a:rPr lang="en-US" sz="1800" b="1" i="0" dirty="0">
                <a:solidFill>
                  <a:srgbClr val="2E1065"/>
                </a:solidFill>
                <a:latin typeface="Segoe UI"/>
                <a:ea typeface="Segoe UI"/>
                <a:cs typeface="Segoe UI"/>
              </a:rPr>
              <a:t>Jira </a:t>
            </a:r>
            <a:r>
              <a:rPr sz="1800" b="1" i="0" dirty="0">
                <a:solidFill>
                  <a:srgbClr val="2E1065"/>
                </a:solidFill>
                <a:latin typeface="Segoe UI"/>
                <a:ea typeface="Segoe UI"/>
                <a:cs typeface="Segoe UI"/>
              </a:rPr>
              <a:t>Toolkit</a:t>
            </a:r>
            <a:endParaRPr sz="1800" b="0" i="0" dirty="0">
              <a:solidFill>
                <a:srgbClr val="3A3A3A"/>
              </a:solidFill>
              <a:latin typeface="Segoe UI"/>
              <a:ea typeface="Segoe UI"/>
              <a:cs typeface="Segoe UI"/>
            </a:endParaRPr>
          </a:p>
        </p:txBody>
      </p:sp>
      <p:sp>
        <p:nvSpPr>
          <p:cNvPr id="9010" name="Oval 9009"/>
          <p:cNvSpPr/>
          <p:nvPr/>
        </p:nvSpPr>
        <p:spPr>
          <a:xfrm>
            <a:off x="4572000" y="3108960"/>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1" name="Picture 9010"/>
          <p:cNvPicPr>
            <a:picLocks noChangeAspect="1"/>
          </p:cNvPicPr>
          <p:nvPr/>
        </p:nvPicPr>
        <p:blipFill>
          <a:blip r:embed="rId5"/>
          <a:stretch>
            <a:fillRect/>
          </a:stretch>
        </p:blipFill>
        <p:spPr>
          <a:xfrm>
            <a:off x="4708794" y="3245754"/>
            <a:ext cx="348203" cy="348203"/>
          </a:xfrm>
          <a:prstGeom prst="rect">
            <a:avLst/>
          </a:prstGeom>
        </p:spPr>
      </p:pic>
      <p:sp>
        <p:nvSpPr>
          <p:cNvPr id="9012" name="TextBox 9011"/>
          <p:cNvSpPr txBox="1"/>
          <p:nvPr/>
        </p:nvSpPr>
        <p:spPr>
          <a:xfrm>
            <a:off x="5394960" y="3063240"/>
            <a:ext cx="5943600" cy="731520"/>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Lighter pointer instruction files</a:t>
            </a:r>
            <a:r>
              <a:rPr sz="1800" b="0" i="0">
                <a:solidFill>
                  <a:srgbClr val="3A3A3A"/>
                </a:solidFill>
                <a:latin typeface="Segoe UI"/>
                <a:ea typeface="Segoe UI"/>
                <a:cs typeface="Segoe UI"/>
              </a:rPr>
              <a:t> in each repo</a:t>
            </a:r>
          </a:p>
        </p:txBody>
      </p:sp>
      <p:sp>
        <p:nvSpPr>
          <p:cNvPr id="9013" name="Oval 9012"/>
          <p:cNvSpPr/>
          <p:nvPr/>
        </p:nvSpPr>
        <p:spPr>
          <a:xfrm>
            <a:off x="4572000" y="3977639"/>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4" name="Picture 9013"/>
          <p:cNvPicPr>
            <a:picLocks noChangeAspect="1"/>
          </p:cNvPicPr>
          <p:nvPr/>
        </p:nvPicPr>
        <p:blipFill>
          <a:blip r:embed="rId6"/>
          <a:stretch>
            <a:fillRect/>
          </a:stretch>
        </p:blipFill>
        <p:spPr>
          <a:xfrm>
            <a:off x="4708794" y="4114434"/>
            <a:ext cx="348203" cy="348203"/>
          </a:xfrm>
          <a:prstGeom prst="rect">
            <a:avLst/>
          </a:prstGeom>
        </p:spPr>
      </p:pic>
      <p:sp>
        <p:nvSpPr>
          <p:cNvPr id="9015" name="TextBox 9014"/>
          <p:cNvSpPr txBox="1"/>
          <p:nvPr/>
        </p:nvSpPr>
        <p:spPr>
          <a:xfrm>
            <a:off x="5394960" y="3931920"/>
            <a:ext cx="5943600" cy="731520"/>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Tool-agnostic by design:</a:t>
            </a:r>
            <a:r>
              <a:rPr sz="1800" b="0" i="0">
                <a:solidFill>
                  <a:srgbClr val="3A3A3A"/>
                </a:solidFill>
                <a:latin typeface="Segoe UI"/>
                <a:ea typeface="Segoe UI"/>
                <a:cs typeface="Segoe UI"/>
              </a:rPr>
              <a:t> it ships AGENTS.md, CLAUDE.md, and copilot-instructions.md</a:t>
            </a:r>
          </a:p>
        </p:txBody>
      </p:sp>
      <p:sp>
        <p:nvSpPr>
          <p:cNvPr id="9016" name="Closer"/>
          <p:cNvSpPr/>
          <p:nvPr/>
        </p:nvSpPr>
        <p:spPr>
          <a:xfrm>
            <a:off x="4572000" y="4937760"/>
            <a:ext cx="6784848" cy="960120"/>
          </a:xfrm>
          <a:prstGeom prst="roundRect">
            <a:avLst>
              <a:gd name="adj" fmla="val 10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7" name="Picture 9016" descr="Robot icon"/>
          <p:cNvPicPr>
            <a:picLocks noChangeAspect="1"/>
          </p:cNvPicPr>
          <p:nvPr/>
        </p:nvPicPr>
        <p:blipFill>
          <a:blip r:embed="rId7"/>
          <a:stretch>
            <a:fillRect/>
          </a:stretch>
        </p:blipFill>
        <p:spPr>
          <a:xfrm>
            <a:off x="4773168" y="5074920"/>
            <a:ext cx="685800" cy="685800"/>
          </a:xfrm>
          <a:prstGeom prst="rect">
            <a:avLst/>
          </a:prstGeom>
        </p:spPr>
      </p:pic>
      <p:sp>
        <p:nvSpPr>
          <p:cNvPr id="9018" name="TextBox 9017"/>
          <p:cNvSpPr txBox="1"/>
          <p:nvPr/>
        </p:nvSpPr>
        <p:spPr>
          <a:xfrm>
            <a:off x="5623560" y="4937760"/>
            <a:ext cx="5623560" cy="960120"/>
          </a:xfrm>
          <a:prstGeom prst="rect">
            <a:avLst/>
          </a:prstGeom>
          <a:noFill/>
        </p:spPr>
        <p:txBody>
          <a:bodyPr wrap="square" lIns="0" tIns="0" rIns="0" bIns="0" anchor="ctr">
            <a:noAutofit/>
          </a:bodyPr>
          <a:lstStyle/>
          <a:p>
            <a:pPr algn="l"/>
            <a:r>
              <a:rPr sz="2000" b="1" i="0" dirty="0">
                <a:solidFill>
                  <a:srgbClr val="FFFFFF"/>
                </a:solidFill>
                <a:latin typeface="Segoe UI"/>
                <a:ea typeface="Segoe UI"/>
                <a:cs typeface="Segoe UI"/>
              </a:rPr>
              <a:t>A working repo you can </a:t>
            </a:r>
            <a:r>
              <a:rPr lang="en-US" sz="2000" b="1" i="0" dirty="0">
                <a:solidFill>
                  <a:srgbClr val="FFFFFF"/>
                </a:solidFill>
                <a:latin typeface="Segoe UI"/>
                <a:ea typeface="Segoe UI"/>
                <a:cs typeface="Segoe UI"/>
              </a:rPr>
              <a:t>get started with</a:t>
            </a:r>
            <a:r>
              <a:rPr sz="2000" b="1" i="0" dirty="0">
                <a:solidFill>
                  <a:srgbClr val="FFFFFF"/>
                </a:solidFill>
                <a:latin typeface="Segoe UI"/>
                <a:ea typeface="Segoe UI"/>
                <a:cs typeface="Segoe UI"/>
              </a:rPr>
              <a:t> today</a:t>
            </a:r>
          </a:p>
        </p:txBody>
      </p:sp>
      <p:pic>
        <p:nvPicPr>
          <p:cNvPr id="4" name="QRobot" descr="Robot icon">
            <a:extLst>
              <a:ext uri="{FF2B5EF4-FFF2-40B4-BE49-F238E27FC236}">
                <a16:creationId xmlns:a16="http://schemas.microsoft.com/office/drawing/2014/main" id="{54412F08-7D22-9B81-A044-47A2BA2BBCC3}"/>
              </a:ext>
            </a:extLst>
          </p:cNvPr>
          <p:cNvPicPr>
            <a:picLocks noChangeAspect="1"/>
          </p:cNvPicPr>
          <p:nvPr/>
        </p:nvPicPr>
        <p:blipFill>
          <a:blip r:embed="rId8"/>
          <a:stretch>
            <a:fillRect/>
          </a:stretch>
        </p:blipFill>
        <p:spPr>
          <a:xfrm>
            <a:off x="4425695" y="612649"/>
            <a:ext cx="914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C2AF-1CFC-584C-BF56-10D0BC0F2243}"/>
              </a:ext>
            </a:extLst>
          </p:cNvPr>
          <p:cNvSpPr>
            <a:spLocks noGrp="1"/>
          </p:cNvSpPr>
          <p:nvPr>
            <p:ph type="title"/>
          </p:nvPr>
        </p:nvSpPr>
        <p:spPr/>
        <p:txBody>
          <a:bodyPr/>
          <a:lstStyle/>
          <a:p>
            <a:r>
              <a:t>Appendix</a:t>
            </a:r>
          </a:p>
        </p:txBody>
      </p:sp>
      <p:sp>
        <p:nvSpPr>
          <p:cNvPr id="3" name="Text Placeholder 2">
            <a:extLst>
              <a:ext uri="{FF2B5EF4-FFF2-40B4-BE49-F238E27FC236}">
                <a16:creationId xmlns:a16="http://schemas.microsoft.com/office/drawing/2014/main" id="{81D403DD-B3F3-2E42-8E13-D0CD07B4F076}"/>
              </a:ext>
            </a:extLst>
          </p:cNvPr>
          <p:cNvSpPr>
            <a:spLocks noGrp="1"/>
          </p:cNvSpPr>
          <p:nvPr>
            <p:ph type="body" sz="quarter" idx="10"/>
          </p:nvPr>
        </p:nvSpPr>
        <p:spPr/>
        <p:txBody>
          <a:bodyPr/>
          <a:lstStyle/>
          <a:p>
            <a:pPr algn="l"/>
            <a:r>
              <a:rPr sz="2000" b="0" i="0">
                <a:solidFill>
                  <a:srgbClr val="FFFFFF"/>
                </a:solidFill>
                <a:latin typeface="Segoe UI"/>
                <a:ea typeface="Segoe UI"/>
                <a:cs typeface="Segoe UI"/>
              </a:rPr>
              <a:t>Backup detail, on request</a:t>
            </a:r>
            <a:endParaRPr lang="en-US">
              <a:solidFill>
                <a:schemeClr val="accent3"/>
              </a:solidFill>
            </a:endParaRPr>
          </a:p>
        </p:txBody>
      </p:sp>
    </p:spTree>
    <p:extLst>
      <p:ext uri="{BB962C8B-B14F-4D97-AF65-F5344CB8AC3E}">
        <p14:creationId xmlns:p14="http://schemas.microsoft.com/office/powerpoint/2010/main" val="2229207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The setup: what you need to run it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THE SYSTEM LANDSCAPE</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19</a:t>
            </a:fld>
            <a:endParaRPr lang="en-US"/>
          </a:p>
        </p:txBody>
      </p:sp>
      <p:sp>
        <p:nvSpPr>
          <p:cNvPr id="9002" name="LandAgent"/>
          <p:cNvSpPr/>
          <p:nvPr/>
        </p:nvSpPr>
        <p:spPr>
          <a:xfrm>
            <a:off x="841248" y="1645920"/>
            <a:ext cx="2743200" cy="224028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24128" y="1828800"/>
            <a:ext cx="566928" cy="566928"/>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Code editor icon"/>
          <p:cNvPicPr>
            <a:picLocks noChangeAspect="1"/>
          </p:cNvPicPr>
          <p:nvPr/>
        </p:nvPicPr>
        <p:blipFill>
          <a:blip r:embed="rId3"/>
          <a:stretch>
            <a:fillRect/>
          </a:stretch>
        </p:blipFill>
        <p:spPr>
          <a:xfrm>
            <a:off x="1148852" y="1953524"/>
            <a:ext cx="317479" cy="317479"/>
          </a:xfrm>
          <a:prstGeom prst="rect">
            <a:avLst/>
          </a:prstGeom>
        </p:spPr>
      </p:pic>
      <p:sp>
        <p:nvSpPr>
          <p:cNvPr id="9005" name="TextBox 9004"/>
          <p:cNvSpPr txBox="1"/>
          <p:nvPr/>
        </p:nvSpPr>
        <p:spPr>
          <a:xfrm>
            <a:off x="1719072" y="1828800"/>
            <a:ext cx="1783080" cy="566928"/>
          </a:xfrm>
          <a:prstGeom prst="rect">
            <a:avLst/>
          </a:prstGeom>
          <a:noFill/>
        </p:spPr>
        <p:txBody>
          <a:bodyPr wrap="square" lIns="0" tIns="0" rIns="0" bIns="0" anchor="ctr">
            <a:noAutofit/>
          </a:bodyPr>
          <a:lstStyle/>
          <a:p>
            <a:pPr algn="l"/>
            <a:r>
              <a:rPr sz="1800" b="1" i="0">
                <a:solidFill>
                  <a:srgbClr val="FFFFFF"/>
                </a:solidFill>
                <a:latin typeface="Segoe UI"/>
                <a:ea typeface="Segoe UI"/>
                <a:cs typeface="Segoe UI"/>
              </a:rPr>
              <a:t>You and the agent</a:t>
            </a:r>
          </a:p>
        </p:txBody>
      </p:sp>
      <p:sp>
        <p:nvSpPr>
          <p:cNvPr id="9006" name="TextBox 9005"/>
          <p:cNvSpPr txBox="1"/>
          <p:nvPr/>
        </p:nvSpPr>
        <p:spPr>
          <a:xfrm>
            <a:off x="1024128" y="2560320"/>
            <a:ext cx="2423160" cy="1234440"/>
          </a:xfrm>
          <a:prstGeom prst="rect">
            <a:avLst/>
          </a:prstGeom>
          <a:noFill/>
        </p:spPr>
        <p:txBody>
          <a:bodyPr wrap="square" lIns="0" tIns="0" rIns="0" bIns="0" anchor="t">
            <a:noAutofit/>
          </a:bodyPr>
          <a:lstStyle/>
          <a:p>
            <a:pPr algn="l">
              <a:spcAft>
                <a:spcPts val="400"/>
              </a:spcAft>
            </a:pPr>
            <a:r>
              <a:rPr sz="1600" b="1" i="0">
                <a:solidFill>
                  <a:srgbClr val="C084FC"/>
                </a:solidFill>
                <a:latin typeface="Segoe UI"/>
                <a:ea typeface="Segoe UI"/>
                <a:cs typeface="Segoe UI"/>
              </a:rPr>
              <a:t>VS Code</a:t>
            </a:r>
          </a:p>
          <a:p>
            <a:pPr algn="l">
              <a:spcAft>
                <a:spcPts val="400"/>
              </a:spcAft>
            </a:pPr>
            <a:r>
              <a:rPr sz="1600" b="0" i="0">
                <a:solidFill>
                  <a:srgbClr val="FFFFFF"/>
                </a:solidFill>
                <a:latin typeface="Segoe UI"/>
                <a:ea typeface="Segoe UI"/>
                <a:cs typeface="Segoe UI"/>
              </a:rPr>
              <a:t>with GitHub Copilot in agent mode</a:t>
            </a:r>
          </a:p>
        </p:txBody>
      </p:sp>
      <p:sp>
        <p:nvSpPr>
          <p:cNvPr id="9007" name="LandRepo"/>
          <p:cNvSpPr/>
          <p:nvPr/>
        </p:nvSpPr>
        <p:spPr>
          <a:xfrm>
            <a:off x="4315968" y="1645920"/>
            <a:ext cx="3200400" cy="2240280"/>
          </a:xfrm>
          <a:prstGeom prst="roundRect">
            <a:avLst>
              <a:gd name="adj" fmla="val 6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4498848" y="1828800"/>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Repository icon"/>
          <p:cNvPicPr>
            <a:picLocks noChangeAspect="1"/>
          </p:cNvPicPr>
          <p:nvPr/>
        </p:nvPicPr>
        <p:blipFill>
          <a:blip r:embed="rId4"/>
          <a:stretch>
            <a:fillRect/>
          </a:stretch>
        </p:blipFill>
        <p:spPr>
          <a:xfrm>
            <a:off x="4623572" y="1953524"/>
            <a:ext cx="317479" cy="317479"/>
          </a:xfrm>
          <a:prstGeom prst="rect">
            <a:avLst/>
          </a:prstGeom>
        </p:spPr>
      </p:pic>
      <p:sp>
        <p:nvSpPr>
          <p:cNvPr id="9010" name="TextBox 9009"/>
          <p:cNvSpPr txBox="1"/>
          <p:nvPr/>
        </p:nvSpPr>
        <p:spPr>
          <a:xfrm>
            <a:off x="5193792" y="1828800"/>
            <a:ext cx="2240280" cy="566928"/>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The repo</a:t>
            </a:r>
          </a:p>
        </p:txBody>
      </p:sp>
      <p:sp>
        <p:nvSpPr>
          <p:cNvPr id="9011" name="TextBox 9010"/>
          <p:cNvSpPr txBox="1"/>
          <p:nvPr/>
        </p:nvSpPr>
        <p:spPr>
          <a:xfrm>
            <a:off x="4526280" y="2542032"/>
            <a:ext cx="2880360" cy="1280160"/>
          </a:xfrm>
          <a:prstGeom prst="rect">
            <a:avLst/>
          </a:prstGeom>
          <a:noFill/>
        </p:spPr>
        <p:txBody>
          <a:bodyPr wrap="square" lIns="0" tIns="0" rIns="0" bIns="0" anchor="t">
            <a:noAutofit/>
          </a:bodyPr>
          <a:lstStyle/>
          <a:p>
            <a:pPr marL="256032" indent="-256032" algn="l">
              <a:spcAft>
                <a:spcPts val="200"/>
              </a:spcAft>
              <a:buClr>
                <a:srgbClr val="7C3AED"/>
              </a:buClr>
              <a:buFont typeface="Arial"/>
              <a:buChar char="•"/>
            </a:pPr>
            <a:r>
              <a:rPr sz="1500" b="0" i="0">
                <a:solidFill>
                  <a:srgbClr val="3A3A3A"/>
                </a:solidFill>
                <a:latin typeface="Segoe UI"/>
                <a:ea typeface="Segoe UI"/>
                <a:cs typeface="Segoe UI"/>
              </a:rPr>
              <a:t>AGENTS.md: the rules</a:t>
            </a:r>
          </a:p>
          <a:p>
            <a:pPr marL="256032" indent="-256032" algn="l">
              <a:spcAft>
                <a:spcPts val="200"/>
              </a:spcAft>
              <a:buClr>
                <a:srgbClr val="7C3AED"/>
              </a:buClr>
              <a:buFont typeface="Arial"/>
              <a:buChar char="•"/>
            </a:pPr>
            <a:r>
              <a:rPr sz="1500" b="0" i="0">
                <a:solidFill>
                  <a:srgbClr val="3A3A3A"/>
                </a:solidFill>
                <a:latin typeface="Segoe UI"/>
                <a:ea typeface="Segoe UI"/>
                <a:cs typeface="Segoe UI"/>
              </a:rPr>
              <a:t>PRD, TDD, stories, ADRs</a:t>
            </a:r>
          </a:p>
          <a:p>
            <a:pPr marL="256032" indent="-256032" algn="l">
              <a:spcAft>
                <a:spcPts val="200"/>
              </a:spcAft>
              <a:buClr>
                <a:srgbClr val="7C3AED"/>
              </a:buClr>
              <a:buFont typeface="Arial"/>
              <a:buChar char="•"/>
            </a:pPr>
            <a:r>
              <a:rPr sz="1500" b="0" i="0">
                <a:solidFill>
                  <a:srgbClr val="3A3A3A"/>
                </a:solidFill>
                <a:latin typeface="Segoe UI"/>
                <a:ea typeface="Segoe UI"/>
                <a:cs typeface="Segoe UI"/>
              </a:rPr>
              <a:t>Code and tests</a:t>
            </a:r>
          </a:p>
          <a:p>
            <a:pPr marL="256032" indent="-256032" algn="l">
              <a:spcAft>
                <a:spcPts val="200"/>
              </a:spcAft>
              <a:buClr>
                <a:srgbClr val="7C3AED"/>
              </a:buClr>
              <a:buFont typeface="Arial"/>
              <a:buChar char="•"/>
            </a:pPr>
            <a:r>
              <a:rPr sz="1500" b="0" i="0">
                <a:solidFill>
                  <a:srgbClr val="3A3A3A"/>
                </a:solidFill>
                <a:latin typeface="Segoe UI"/>
                <a:ea typeface="Segoe UI"/>
                <a:cs typeface="Segoe UI"/>
              </a:rPr>
              <a:t>Toolkits</a:t>
            </a:r>
          </a:p>
        </p:txBody>
      </p:sp>
      <p:sp>
        <p:nvSpPr>
          <p:cNvPr id="9012" name="TextBox 9011"/>
          <p:cNvSpPr txBox="1"/>
          <p:nvPr/>
        </p:nvSpPr>
        <p:spPr>
          <a:xfrm>
            <a:off x="8247888" y="1627632"/>
            <a:ext cx="3108960" cy="320040"/>
          </a:xfrm>
          <a:prstGeom prst="rect">
            <a:avLst/>
          </a:prstGeom>
          <a:noFill/>
        </p:spPr>
        <p:txBody>
          <a:bodyPr wrap="square" lIns="0" tIns="0" rIns="0" bIns="0" anchor="t">
            <a:noAutofit/>
          </a:bodyPr>
          <a:lstStyle/>
          <a:p>
            <a:pPr algn="l"/>
            <a:r>
              <a:rPr sz="1400" b="1" i="0">
                <a:solidFill>
                  <a:srgbClr val="2E1065"/>
                </a:solidFill>
                <a:latin typeface="Segoe UI"/>
                <a:ea typeface="Segoe UI"/>
                <a:cs typeface="Segoe UI"/>
              </a:rPr>
              <a:t>Systems it works with</a:t>
            </a:r>
          </a:p>
        </p:txBody>
      </p:sp>
      <p:sp>
        <p:nvSpPr>
          <p:cNvPr id="9013" name="Sys0"/>
          <p:cNvSpPr/>
          <p:nvPr/>
        </p:nvSpPr>
        <p:spPr>
          <a:xfrm>
            <a:off x="8247888" y="1975104"/>
            <a:ext cx="3108960" cy="438912"/>
          </a:xfrm>
          <a:prstGeom prst="roundRect">
            <a:avLst>
              <a:gd name="adj" fmla="val 12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l"/>
            <a:r>
              <a:rPr sz="1600" b="1" i="0">
                <a:solidFill>
                  <a:srgbClr val="2E1065"/>
                </a:solidFill>
                <a:latin typeface="Segoe UI"/>
                <a:ea typeface="Segoe UI"/>
                <a:cs typeface="Segoe UI"/>
              </a:rPr>
              <a:t>Jira</a:t>
            </a:r>
          </a:p>
        </p:txBody>
      </p:sp>
      <p:sp>
        <p:nvSpPr>
          <p:cNvPr id="9014" name="Sys1"/>
          <p:cNvSpPr/>
          <p:nvPr/>
        </p:nvSpPr>
        <p:spPr>
          <a:xfrm>
            <a:off x="8247888" y="2505456"/>
            <a:ext cx="3108960" cy="438912"/>
          </a:xfrm>
          <a:prstGeom prst="roundRect">
            <a:avLst>
              <a:gd name="adj" fmla="val 12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l"/>
            <a:r>
              <a:rPr sz="1600" b="1" i="0">
                <a:solidFill>
                  <a:srgbClr val="2E1065"/>
                </a:solidFill>
                <a:latin typeface="Segoe UI"/>
                <a:ea typeface="Segoe UI"/>
                <a:cs typeface="Segoe UI"/>
              </a:rPr>
              <a:t>GitHub</a:t>
            </a:r>
          </a:p>
        </p:txBody>
      </p:sp>
      <p:sp>
        <p:nvSpPr>
          <p:cNvPr id="9015" name="Sys2"/>
          <p:cNvSpPr/>
          <p:nvPr/>
        </p:nvSpPr>
        <p:spPr>
          <a:xfrm>
            <a:off x="8247888" y="3035808"/>
            <a:ext cx="3108960" cy="438912"/>
          </a:xfrm>
          <a:prstGeom prst="roundRect">
            <a:avLst>
              <a:gd name="adj" fmla="val 12000"/>
            </a:avLst>
          </a:prstGeom>
          <a:solidFill>
            <a:srgbClr val="F4F6F8"/>
          </a:solidFill>
          <a:ln w="9525">
            <a:solidFill>
              <a:srgbClr val="D3DCE6"/>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l"/>
            <a:r>
              <a:rPr sz="1600" b="1" i="0">
                <a:solidFill>
                  <a:srgbClr val="2E1065"/>
                </a:solidFill>
                <a:latin typeface="Segoe UI"/>
                <a:ea typeface="Segoe UI"/>
                <a:cs typeface="Segoe UI"/>
              </a:rPr>
              <a:t>CodeScan</a:t>
            </a:r>
          </a:p>
        </p:txBody>
      </p:sp>
      <p:pic>
        <p:nvPicPr>
          <p:cNvPr id="9016" name="Picture 9015" descr="Lock icon"/>
          <p:cNvPicPr>
            <a:picLocks noChangeAspect="1"/>
          </p:cNvPicPr>
          <p:nvPr/>
        </p:nvPicPr>
        <p:blipFill>
          <a:blip r:embed="rId5"/>
          <a:stretch>
            <a:fillRect/>
          </a:stretch>
        </p:blipFill>
        <p:spPr>
          <a:xfrm>
            <a:off x="8247888" y="3593591"/>
            <a:ext cx="274320" cy="274320"/>
          </a:xfrm>
          <a:prstGeom prst="rect">
            <a:avLst/>
          </a:prstGeom>
        </p:spPr>
      </p:pic>
      <p:sp>
        <p:nvSpPr>
          <p:cNvPr id="9017" name="TextBox 9016"/>
          <p:cNvSpPr txBox="1"/>
          <p:nvPr/>
        </p:nvSpPr>
        <p:spPr>
          <a:xfrm>
            <a:off x="8595360" y="3547872"/>
            <a:ext cx="2788920" cy="365760"/>
          </a:xfrm>
          <a:prstGeom prst="rect">
            <a:avLst/>
          </a:prstGeom>
          <a:noFill/>
        </p:spPr>
        <p:txBody>
          <a:bodyPr wrap="square" lIns="0" tIns="0" rIns="0" bIns="0" anchor="ctr">
            <a:noAutofit/>
          </a:bodyPr>
          <a:lstStyle/>
          <a:p>
            <a:pPr algn="l"/>
            <a:r>
              <a:rPr sz="1400" b="1" i="0">
                <a:solidFill>
                  <a:srgbClr val="DB2777"/>
                </a:solidFill>
                <a:latin typeface="Segoe UI"/>
                <a:ea typeface="Segoe UI"/>
                <a:cs typeface="Segoe UI"/>
              </a:rPr>
              <a:t>Humans gate merges and closes</a:t>
            </a:r>
          </a:p>
        </p:txBody>
      </p:sp>
      <p:cxnSp>
        <p:nvCxnSpPr>
          <p:cNvPr id="9018" name="Connector 9017"/>
          <p:cNvCxnSpPr/>
          <p:nvPr/>
        </p:nvCxnSpPr>
        <p:spPr>
          <a:xfrm>
            <a:off x="3639312" y="2606040"/>
            <a:ext cx="621792"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19" name="Connector 9018"/>
          <p:cNvCxnSpPr/>
          <p:nvPr/>
        </p:nvCxnSpPr>
        <p:spPr>
          <a:xfrm>
            <a:off x="7571231" y="2606040"/>
            <a:ext cx="621793" cy="0"/>
          </a:xfrm>
          <a:prstGeom prst="line">
            <a:avLst/>
          </a:prstGeom>
          <a:ln w="317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0" name="Needs"/>
          <p:cNvSpPr/>
          <p:nvPr/>
        </p:nvSpPr>
        <p:spPr>
          <a:xfrm>
            <a:off x="841248" y="4114800"/>
            <a:ext cx="5120640" cy="18288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1" name="TextBox 9020"/>
          <p:cNvSpPr txBox="1"/>
          <p:nvPr/>
        </p:nvSpPr>
        <p:spPr>
          <a:xfrm>
            <a:off x="1024128" y="4224528"/>
            <a:ext cx="4754880" cy="365760"/>
          </a:xfrm>
          <a:prstGeom prst="rect">
            <a:avLst/>
          </a:prstGeom>
          <a:noFill/>
        </p:spPr>
        <p:txBody>
          <a:bodyPr wrap="square" lIns="0" tIns="0" rIns="0" bIns="0" anchor="t">
            <a:noAutofit/>
          </a:bodyPr>
          <a:lstStyle/>
          <a:p>
            <a:pPr algn="l"/>
            <a:r>
              <a:rPr sz="1600" b="1" i="0">
                <a:solidFill>
                  <a:srgbClr val="2E1065"/>
                </a:solidFill>
                <a:latin typeface="Segoe UI"/>
                <a:ea typeface="Segoe UI"/>
                <a:cs typeface="Segoe UI"/>
              </a:rPr>
              <a:t>Will it work with my AI tool? It needs to:</a:t>
            </a:r>
          </a:p>
        </p:txBody>
      </p:sp>
      <p:sp>
        <p:nvSpPr>
          <p:cNvPr id="9022" name="Oval 9021"/>
          <p:cNvSpPr/>
          <p:nvPr/>
        </p:nvSpPr>
        <p:spPr>
          <a:xfrm>
            <a:off x="1051560" y="470001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1" i="0">
                <a:solidFill>
                  <a:srgbClr val="FFFFFF"/>
                </a:solidFill>
                <a:latin typeface="Segoe UI"/>
                <a:ea typeface="Segoe UI"/>
                <a:cs typeface="Segoe UI"/>
              </a:rPr>
              <a:t>1</a:t>
            </a:r>
          </a:p>
        </p:txBody>
      </p:sp>
      <p:sp>
        <p:nvSpPr>
          <p:cNvPr id="9023" name="TextBox 9022"/>
          <p:cNvSpPr txBox="1"/>
          <p:nvPr/>
        </p:nvSpPr>
        <p:spPr>
          <a:xfrm>
            <a:off x="1463040" y="4663440"/>
            <a:ext cx="4389120" cy="365760"/>
          </a:xfrm>
          <a:prstGeom prst="rect">
            <a:avLst/>
          </a:prstGeom>
          <a:noFill/>
        </p:spPr>
        <p:txBody>
          <a:bodyPr wrap="square" lIns="0" tIns="0" rIns="0" bIns="0" anchor="ctr">
            <a:noAutofit/>
          </a:bodyPr>
          <a:lstStyle/>
          <a:p>
            <a:pPr algn="l"/>
            <a:r>
              <a:rPr sz="1600" b="0" i="0">
                <a:solidFill>
                  <a:srgbClr val="3A3A3A"/>
                </a:solidFill>
                <a:latin typeface="Segoe UI"/>
                <a:ea typeface="Segoe UI"/>
                <a:cs typeface="Segoe UI"/>
              </a:rPr>
              <a:t>Read the repo's instruction files (AGENTS.md)</a:t>
            </a:r>
          </a:p>
        </p:txBody>
      </p:sp>
      <p:sp>
        <p:nvSpPr>
          <p:cNvPr id="9024" name="Oval 9023"/>
          <p:cNvSpPr/>
          <p:nvPr/>
        </p:nvSpPr>
        <p:spPr>
          <a:xfrm>
            <a:off x="1051560" y="511149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1" i="0">
                <a:solidFill>
                  <a:srgbClr val="FFFFFF"/>
                </a:solidFill>
                <a:latin typeface="Segoe UI"/>
                <a:ea typeface="Segoe UI"/>
                <a:cs typeface="Segoe UI"/>
              </a:rPr>
              <a:t>2</a:t>
            </a:r>
          </a:p>
        </p:txBody>
      </p:sp>
      <p:sp>
        <p:nvSpPr>
          <p:cNvPr id="9025" name="TextBox 9024"/>
          <p:cNvSpPr txBox="1"/>
          <p:nvPr/>
        </p:nvSpPr>
        <p:spPr>
          <a:xfrm>
            <a:off x="1463040" y="5074920"/>
            <a:ext cx="4389120" cy="365760"/>
          </a:xfrm>
          <a:prstGeom prst="rect">
            <a:avLst/>
          </a:prstGeom>
          <a:noFill/>
        </p:spPr>
        <p:txBody>
          <a:bodyPr wrap="square" lIns="0" tIns="0" rIns="0" bIns="0" anchor="ctr">
            <a:noAutofit/>
          </a:bodyPr>
          <a:lstStyle/>
          <a:p>
            <a:pPr algn="l"/>
            <a:r>
              <a:rPr sz="1600" b="0" i="0">
                <a:solidFill>
                  <a:srgbClr val="3A3A3A"/>
                </a:solidFill>
                <a:latin typeface="Segoe UI"/>
                <a:ea typeface="Segoe UI"/>
                <a:cs typeface="Segoe UI"/>
              </a:rPr>
              <a:t>Read and edit files in the repo</a:t>
            </a:r>
          </a:p>
        </p:txBody>
      </p:sp>
      <p:sp>
        <p:nvSpPr>
          <p:cNvPr id="9026" name="Oval 9025"/>
          <p:cNvSpPr/>
          <p:nvPr/>
        </p:nvSpPr>
        <p:spPr>
          <a:xfrm>
            <a:off x="1051560" y="55229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1" i="0">
                <a:solidFill>
                  <a:srgbClr val="FFFFFF"/>
                </a:solidFill>
                <a:latin typeface="Segoe UI"/>
                <a:ea typeface="Segoe UI"/>
                <a:cs typeface="Segoe UI"/>
              </a:rPr>
              <a:t>3</a:t>
            </a:r>
          </a:p>
        </p:txBody>
      </p:sp>
      <p:sp>
        <p:nvSpPr>
          <p:cNvPr id="9027" name="TextBox 9026"/>
          <p:cNvSpPr txBox="1"/>
          <p:nvPr/>
        </p:nvSpPr>
        <p:spPr>
          <a:xfrm>
            <a:off x="1463040" y="5486400"/>
            <a:ext cx="4389120" cy="365760"/>
          </a:xfrm>
          <a:prstGeom prst="rect">
            <a:avLst/>
          </a:prstGeom>
          <a:noFill/>
        </p:spPr>
        <p:txBody>
          <a:bodyPr wrap="square" lIns="0" tIns="0" rIns="0" bIns="0" anchor="ctr">
            <a:noAutofit/>
          </a:bodyPr>
          <a:lstStyle/>
          <a:p>
            <a:pPr algn="l"/>
            <a:r>
              <a:rPr sz="1600" b="0" i="0">
                <a:solidFill>
                  <a:srgbClr val="3A3A3A"/>
                </a:solidFill>
                <a:latin typeface="Segoe UI"/>
                <a:ea typeface="Segoe UI"/>
                <a:cs typeface="Segoe UI"/>
              </a:rPr>
              <a:t>Run commands: tests and toolkit scripts</a:t>
            </a:r>
          </a:p>
        </p:txBody>
      </p:sp>
      <p:sp>
        <p:nvSpPr>
          <p:cNvPr id="9028" name="Tried"/>
          <p:cNvSpPr/>
          <p:nvPr/>
        </p:nvSpPr>
        <p:spPr>
          <a:xfrm>
            <a:off x="6172200" y="4114800"/>
            <a:ext cx="5184648" cy="182880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9" name="TextBox 9028"/>
          <p:cNvSpPr txBox="1"/>
          <p:nvPr/>
        </p:nvSpPr>
        <p:spPr>
          <a:xfrm>
            <a:off x="6355080" y="4224528"/>
            <a:ext cx="4846320" cy="365760"/>
          </a:xfrm>
          <a:prstGeom prst="rect">
            <a:avLst/>
          </a:prstGeom>
          <a:noFill/>
        </p:spPr>
        <p:txBody>
          <a:bodyPr wrap="square" lIns="0" tIns="0" rIns="0" bIns="0" anchor="t">
            <a:noAutofit/>
          </a:bodyPr>
          <a:lstStyle/>
          <a:p>
            <a:pPr algn="l"/>
            <a:r>
              <a:rPr sz="1600" b="1" i="0">
                <a:solidFill>
                  <a:srgbClr val="C084FC"/>
                </a:solidFill>
                <a:latin typeface="Segoe UI"/>
                <a:ea typeface="Segoe UI"/>
                <a:cs typeface="Segoe UI"/>
              </a:rPr>
              <a:t>Where it's been used</a:t>
            </a:r>
          </a:p>
        </p:txBody>
      </p:sp>
      <p:pic>
        <p:nvPicPr>
          <p:cNvPr id="9030" name="Picture 9029"/>
          <p:cNvPicPr>
            <a:picLocks noChangeAspect="1"/>
          </p:cNvPicPr>
          <p:nvPr/>
        </p:nvPicPr>
        <p:blipFill>
          <a:blip r:embed="rId6"/>
          <a:stretch>
            <a:fillRect/>
          </a:stretch>
        </p:blipFill>
        <p:spPr>
          <a:xfrm>
            <a:off x="6373368" y="4709159"/>
            <a:ext cx="274320" cy="274320"/>
          </a:xfrm>
          <a:prstGeom prst="rect">
            <a:avLst/>
          </a:prstGeom>
        </p:spPr>
      </p:pic>
      <p:sp>
        <p:nvSpPr>
          <p:cNvPr id="9031" name="TextBox 9030"/>
          <p:cNvSpPr txBox="1"/>
          <p:nvPr/>
        </p:nvSpPr>
        <p:spPr>
          <a:xfrm>
            <a:off x="6766560" y="4663440"/>
            <a:ext cx="4480560" cy="365760"/>
          </a:xfrm>
          <a:prstGeom prst="rect">
            <a:avLst/>
          </a:prstGeom>
          <a:noFill/>
        </p:spPr>
        <p:txBody>
          <a:bodyPr wrap="square" lIns="0" tIns="0" rIns="0" bIns="0" anchor="ctr">
            <a:noAutofit/>
          </a:bodyPr>
          <a:lstStyle/>
          <a:p>
            <a:pPr algn="l"/>
            <a:r>
              <a:rPr lang="en-US" sz="1400" b="1" i="0" dirty="0">
                <a:solidFill>
                  <a:srgbClr val="FFFFFF"/>
                </a:solidFill>
                <a:latin typeface="Segoe UI"/>
                <a:ea typeface="Segoe UI"/>
                <a:cs typeface="Segoe UI"/>
              </a:rPr>
              <a:t>Confirmed</a:t>
            </a:r>
            <a:r>
              <a:rPr sz="1400" b="1" i="0" dirty="0">
                <a:solidFill>
                  <a:srgbClr val="FFFFFF"/>
                </a:solidFill>
                <a:latin typeface="Segoe UI"/>
                <a:ea typeface="Segoe UI"/>
                <a:cs typeface="Segoe UI"/>
              </a:rPr>
              <a:t>:</a:t>
            </a:r>
            <a:r>
              <a:rPr sz="1400" b="0" i="0" dirty="0">
                <a:solidFill>
                  <a:srgbClr val="FFFFFF"/>
                </a:solidFill>
                <a:latin typeface="Segoe UI"/>
                <a:ea typeface="Segoe UI"/>
                <a:cs typeface="Segoe UI"/>
              </a:rPr>
              <a:t> VS Code, Copilot agent mode</a:t>
            </a:r>
          </a:p>
        </p:txBody>
      </p:sp>
      <p:pic>
        <p:nvPicPr>
          <p:cNvPr id="9032" name="Picture 9031"/>
          <p:cNvPicPr>
            <a:picLocks noChangeAspect="1"/>
          </p:cNvPicPr>
          <p:nvPr/>
        </p:nvPicPr>
        <p:blipFill>
          <a:blip r:embed="rId7"/>
          <a:stretch>
            <a:fillRect/>
          </a:stretch>
        </p:blipFill>
        <p:spPr>
          <a:xfrm>
            <a:off x="6373368" y="5120640"/>
            <a:ext cx="274320" cy="274320"/>
          </a:xfrm>
          <a:prstGeom prst="rect">
            <a:avLst/>
          </a:prstGeom>
        </p:spPr>
      </p:pic>
      <p:sp>
        <p:nvSpPr>
          <p:cNvPr id="9033" name="TextBox 9032"/>
          <p:cNvSpPr txBox="1"/>
          <p:nvPr/>
        </p:nvSpPr>
        <p:spPr>
          <a:xfrm>
            <a:off x="6766560" y="5074920"/>
            <a:ext cx="4480560" cy="365760"/>
          </a:xfrm>
          <a:prstGeom prst="rect">
            <a:avLst/>
          </a:prstGeom>
          <a:noFill/>
        </p:spPr>
        <p:txBody>
          <a:bodyPr wrap="square" lIns="0" tIns="0" rIns="0" bIns="0" anchor="ctr">
            <a:noAutofit/>
          </a:bodyPr>
          <a:lstStyle/>
          <a:p>
            <a:pPr algn="l"/>
            <a:r>
              <a:rPr sz="1400" b="1" i="0">
                <a:solidFill>
                  <a:srgbClr val="FFFFFF"/>
                </a:solidFill>
                <a:latin typeface="Segoe UI"/>
                <a:ea typeface="Segoe UI"/>
                <a:cs typeface="Segoe UI"/>
              </a:rPr>
              <a:t>Small tasks:</a:t>
            </a:r>
            <a:r>
              <a:rPr sz="1400" b="0" i="0">
                <a:solidFill>
                  <a:srgbClr val="FFFFFF"/>
                </a:solidFill>
                <a:latin typeface="Segoe UI"/>
                <a:ea typeface="Segoe UI"/>
                <a:cs typeface="Segoe UI"/>
              </a:rPr>
              <a:t> GitHub Copilot Chat</a:t>
            </a:r>
          </a:p>
        </p:txBody>
      </p:sp>
      <p:pic>
        <p:nvPicPr>
          <p:cNvPr id="9034" name="Picture 9033"/>
          <p:cNvPicPr>
            <a:picLocks noChangeAspect="1"/>
          </p:cNvPicPr>
          <p:nvPr/>
        </p:nvPicPr>
        <p:blipFill>
          <a:blip r:embed="rId8"/>
          <a:stretch>
            <a:fillRect/>
          </a:stretch>
        </p:blipFill>
        <p:spPr>
          <a:xfrm>
            <a:off x="6373368" y="5532120"/>
            <a:ext cx="274320" cy="274320"/>
          </a:xfrm>
          <a:prstGeom prst="rect">
            <a:avLst/>
          </a:prstGeom>
        </p:spPr>
      </p:pic>
      <p:sp>
        <p:nvSpPr>
          <p:cNvPr id="9035" name="TextBox 9034"/>
          <p:cNvSpPr txBox="1"/>
          <p:nvPr/>
        </p:nvSpPr>
        <p:spPr>
          <a:xfrm>
            <a:off x="6766560" y="5486400"/>
            <a:ext cx="4480560" cy="365760"/>
          </a:xfrm>
          <a:prstGeom prst="rect">
            <a:avLst/>
          </a:prstGeom>
          <a:noFill/>
        </p:spPr>
        <p:txBody>
          <a:bodyPr wrap="square" lIns="0" tIns="0" rIns="0" bIns="0" anchor="ctr">
            <a:noAutofit/>
          </a:bodyPr>
          <a:lstStyle/>
          <a:p>
            <a:pPr algn="l"/>
            <a:r>
              <a:rPr sz="1400" b="1" i="0">
                <a:solidFill>
                  <a:srgbClr val="FFFFFF"/>
                </a:solidFill>
                <a:latin typeface="Segoe UI"/>
                <a:ea typeface="Segoe UI"/>
                <a:cs typeface="Segoe UI"/>
              </a:rPr>
              <a:t>Not tried yet:</a:t>
            </a:r>
            <a:r>
              <a:rPr sz="1400" b="0" i="0">
                <a:solidFill>
                  <a:srgbClr val="FFFFFF"/>
                </a:solidFill>
                <a:latin typeface="Segoe UI"/>
                <a:ea typeface="Segoe UI"/>
                <a:cs typeface="Segoe UI"/>
              </a:rPr>
              <a:t> other agents that meet all three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lang="en-US" dirty="0"/>
              <a:t>Reminders and </a:t>
            </a:r>
            <a:r>
              <a:rPr dirty="0"/>
              <a:t>anti-patterns</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INOCULATION</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20</a:t>
            </a:fld>
            <a:endParaRPr lang="en-US"/>
          </a:p>
        </p:txBody>
      </p:sp>
      <p:sp>
        <p:nvSpPr>
          <p:cNvPr id="9002" name="Inoc0"/>
          <p:cNvSpPr/>
          <p:nvPr/>
        </p:nvSpPr>
        <p:spPr>
          <a:xfrm>
            <a:off x="841248" y="1691640"/>
            <a:ext cx="5184648" cy="4206240"/>
          </a:xfrm>
          <a:prstGeom prst="roundRect">
            <a:avLst>
              <a:gd name="adj" fmla="val 5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115568" y="1892807"/>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Easy to miss icon"/>
          <p:cNvPicPr>
            <a:picLocks noChangeAspect="1"/>
          </p:cNvPicPr>
          <p:nvPr/>
        </p:nvPicPr>
        <p:blipFill>
          <a:blip r:embed="rId3"/>
          <a:stretch>
            <a:fillRect/>
          </a:stretch>
        </p:blipFill>
        <p:spPr>
          <a:xfrm>
            <a:off x="1260408" y="2037648"/>
            <a:ext cx="368686" cy="368686"/>
          </a:xfrm>
          <a:prstGeom prst="rect">
            <a:avLst/>
          </a:prstGeom>
        </p:spPr>
      </p:pic>
      <p:sp>
        <p:nvSpPr>
          <p:cNvPr id="9005" name="TextBox 9004"/>
          <p:cNvSpPr txBox="1"/>
          <p:nvPr/>
        </p:nvSpPr>
        <p:spPr>
          <a:xfrm>
            <a:off x="1938528" y="1892807"/>
            <a:ext cx="3840480" cy="658368"/>
          </a:xfrm>
          <a:prstGeom prst="rect">
            <a:avLst/>
          </a:prstGeom>
          <a:noFill/>
        </p:spPr>
        <p:txBody>
          <a:bodyPr wrap="square" lIns="0" tIns="0" rIns="0" bIns="0" anchor="ctr">
            <a:noAutofit/>
          </a:bodyPr>
          <a:lstStyle/>
          <a:p>
            <a:pPr algn="l"/>
            <a:r>
              <a:rPr lang="en-US" sz="2200" b="1" i="0" dirty="0">
                <a:solidFill>
                  <a:srgbClr val="2E1065"/>
                </a:solidFill>
                <a:latin typeface="Segoe UI"/>
                <a:ea typeface="Segoe UI"/>
                <a:cs typeface="Segoe UI"/>
              </a:rPr>
              <a:t>Reminders</a:t>
            </a:r>
            <a:endParaRPr sz="2200" b="1" i="0" dirty="0">
              <a:solidFill>
                <a:srgbClr val="2E1065"/>
              </a:solidFill>
              <a:latin typeface="Segoe UI"/>
              <a:ea typeface="Segoe UI"/>
              <a:cs typeface="Segoe UI"/>
            </a:endParaRPr>
          </a:p>
        </p:txBody>
      </p:sp>
      <p:sp>
        <p:nvSpPr>
          <p:cNvPr id="9006" name="TextBox 9005"/>
          <p:cNvSpPr txBox="1"/>
          <p:nvPr/>
        </p:nvSpPr>
        <p:spPr>
          <a:xfrm>
            <a:off x="1161288" y="2788920"/>
            <a:ext cx="4617720" cy="3017520"/>
          </a:xfrm>
          <a:prstGeom prst="rect">
            <a:avLst/>
          </a:prstGeom>
          <a:noFill/>
        </p:spPr>
        <p:txBody>
          <a:bodyPr wrap="square" lIns="0" tIns="0" rIns="0" bIns="0" anchor="t">
            <a:noAutofit/>
          </a:bodyPr>
          <a:lstStyle/>
          <a:p>
            <a:pPr marL="256032" indent="-256032" algn="l">
              <a:spcAft>
                <a:spcPts val="1600"/>
              </a:spcAft>
              <a:buClr>
                <a:srgbClr val="7C3AED"/>
              </a:buClr>
              <a:buFont typeface="Arial"/>
              <a:buChar char="•"/>
            </a:pPr>
            <a:r>
              <a:rPr sz="2000" b="0" i="0">
                <a:solidFill>
                  <a:srgbClr val="3A3A3A"/>
                </a:solidFill>
                <a:latin typeface="Segoe UI"/>
                <a:ea typeface="Segoe UI"/>
                <a:cs typeface="Segoe UI"/>
              </a:rPr>
              <a:t>It doesn't remember you</a:t>
            </a:r>
          </a:p>
          <a:p>
            <a:pPr marL="256032" indent="-256032" algn="l">
              <a:spcAft>
                <a:spcPts val="1600"/>
              </a:spcAft>
              <a:buClr>
                <a:srgbClr val="7C3AED"/>
              </a:buClr>
              <a:buFont typeface="Arial"/>
              <a:buChar char="•"/>
            </a:pPr>
            <a:r>
              <a:rPr sz="2000" b="0" i="0">
                <a:solidFill>
                  <a:srgbClr val="3A3A3A"/>
                </a:solidFill>
                <a:latin typeface="Segoe UI"/>
                <a:ea typeface="Segoe UI"/>
                <a:cs typeface="Segoe UI"/>
              </a:rPr>
              <a:t>Tool output can lie</a:t>
            </a:r>
          </a:p>
          <a:p>
            <a:pPr marL="256032" indent="-256032" algn="l">
              <a:spcAft>
                <a:spcPts val="1600"/>
              </a:spcAft>
              <a:buClr>
                <a:srgbClr val="7C3AED"/>
              </a:buClr>
              <a:buFont typeface="Arial"/>
              <a:buChar char="•"/>
            </a:pPr>
            <a:r>
              <a:rPr sz="2000" b="0" i="0">
                <a:solidFill>
                  <a:srgbClr val="3A3A3A"/>
                </a:solidFill>
                <a:latin typeface="Segoe UI"/>
                <a:ea typeface="Segoe UI"/>
                <a:cs typeface="Segoe UI"/>
              </a:rPr>
              <a:t>Agreeing with you is a real failure mode</a:t>
            </a:r>
          </a:p>
          <a:p>
            <a:pPr marL="256032" indent="-256032" algn="l">
              <a:spcAft>
                <a:spcPts val="1600"/>
              </a:spcAft>
              <a:buClr>
                <a:srgbClr val="7C3AED"/>
              </a:buClr>
              <a:buFont typeface="Arial"/>
              <a:buChar char="•"/>
            </a:pPr>
            <a:r>
              <a:rPr sz="2000" b="0" i="0">
                <a:solidFill>
                  <a:srgbClr val="3A3A3A"/>
                </a:solidFill>
                <a:latin typeface="Segoe UI"/>
                <a:ea typeface="Segoe UI"/>
                <a:cs typeface="Segoe UI"/>
              </a:rPr>
              <a:t>Scope creep sneaks in</a:t>
            </a:r>
          </a:p>
          <a:p>
            <a:pPr marL="256032" indent="-256032" algn="l">
              <a:spcAft>
                <a:spcPts val="1600"/>
              </a:spcAft>
              <a:buClr>
                <a:srgbClr val="7C3AED"/>
              </a:buClr>
              <a:buFont typeface="Arial"/>
              <a:buChar char="•"/>
            </a:pPr>
            <a:r>
              <a:rPr sz="2000" b="0" i="0">
                <a:solidFill>
                  <a:srgbClr val="3A3A3A"/>
                </a:solidFill>
                <a:latin typeface="Segoe UI"/>
                <a:ea typeface="Segoe UI"/>
                <a:cs typeface="Segoe UI"/>
              </a:rPr>
              <a:t>Your role changes; it doesn't shrink</a:t>
            </a:r>
          </a:p>
        </p:txBody>
      </p:sp>
      <p:sp>
        <p:nvSpPr>
          <p:cNvPr id="9007" name="Inoc1"/>
          <p:cNvSpPr/>
          <p:nvPr/>
        </p:nvSpPr>
        <p:spPr>
          <a:xfrm>
            <a:off x="6172200" y="1691640"/>
            <a:ext cx="5184648" cy="4206240"/>
          </a:xfrm>
          <a:prstGeom prst="roundRect">
            <a:avLst>
              <a:gd name="adj" fmla="val 5000"/>
            </a:avLst>
          </a:prstGeom>
          <a:solidFill>
            <a:srgbClr val="FDECE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6446520" y="1892807"/>
            <a:ext cx="658368" cy="658368"/>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Anti-patterns icon"/>
          <p:cNvPicPr>
            <a:picLocks noChangeAspect="1"/>
          </p:cNvPicPr>
          <p:nvPr/>
        </p:nvPicPr>
        <p:blipFill>
          <a:blip r:embed="rId4"/>
          <a:stretch>
            <a:fillRect/>
          </a:stretch>
        </p:blipFill>
        <p:spPr>
          <a:xfrm>
            <a:off x="6591360" y="2037648"/>
            <a:ext cx="368686" cy="368686"/>
          </a:xfrm>
          <a:prstGeom prst="rect">
            <a:avLst/>
          </a:prstGeom>
        </p:spPr>
      </p:pic>
      <p:sp>
        <p:nvSpPr>
          <p:cNvPr id="9010" name="TextBox 9009"/>
          <p:cNvSpPr txBox="1"/>
          <p:nvPr/>
        </p:nvSpPr>
        <p:spPr>
          <a:xfrm>
            <a:off x="7269480" y="1892807"/>
            <a:ext cx="3840480" cy="658368"/>
          </a:xfrm>
          <a:prstGeom prst="rect">
            <a:avLst/>
          </a:prstGeom>
          <a:noFill/>
        </p:spPr>
        <p:txBody>
          <a:bodyPr wrap="square" lIns="0" tIns="0" rIns="0" bIns="0" anchor="ctr">
            <a:noAutofit/>
          </a:bodyPr>
          <a:lstStyle/>
          <a:p>
            <a:pPr algn="l"/>
            <a:r>
              <a:rPr sz="2200" b="1" i="0">
                <a:solidFill>
                  <a:srgbClr val="2E1065"/>
                </a:solidFill>
                <a:latin typeface="Segoe UI"/>
                <a:ea typeface="Segoe UI"/>
                <a:cs typeface="Segoe UI"/>
              </a:rPr>
              <a:t>Anti-patterns</a:t>
            </a:r>
          </a:p>
        </p:txBody>
      </p:sp>
      <p:sp>
        <p:nvSpPr>
          <p:cNvPr id="9011" name="TextBox 9010"/>
          <p:cNvSpPr txBox="1"/>
          <p:nvPr/>
        </p:nvSpPr>
        <p:spPr>
          <a:xfrm>
            <a:off x="6492240" y="2788920"/>
            <a:ext cx="4617720" cy="3017520"/>
          </a:xfrm>
          <a:prstGeom prst="rect">
            <a:avLst/>
          </a:prstGeom>
          <a:noFill/>
        </p:spPr>
        <p:txBody>
          <a:bodyPr wrap="square" lIns="0" tIns="0" rIns="0" bIns="0" anchor="t">
            <a:noAutofit/>
          </a:bodyPr>
          <a:lstStyle/>
          <a:p>
            <a:pPr marL="256032" indent="-256032" algn="l">
              <a:spcAft>
                <a:spcPts val="1600"/>
              </a:spcAft>
              <a:buClr>
                <a:srgbClr val="DB2777"/>
              </a:buClr>
              <a:buFont typeface="Arial"/>
              <a:buChar char="•"/>
            </a:pPr>
            <a:r>
              <a:rPr sz="2000" b="0" i="0">
                <a:solidFill>
                  <a:srgbClr val="3A3A3A"/>
                </a:solidFill>
                <a:latin typeface="Segoe UI"/>
                <a:ea typeface="Segoe UI"/>
                <a:cs typeface="Segoe UI"/>
              </a:rPr>
              <a:t>"Write me an app" in one prompt</a:t>
            </a:r>
          </a:p>
          <a:p>
            <a:pPr marL="256032" indent="-256032" algn="l">
              <a:spcAft>
                <a:spcPts val="1600"/>
              </a:spcAft>
              <a:buClr>
                <a:srgbClr val="DB2777"/>
              </a:buClr>
              <a:buFont typeface="Arial"/>
              <a:buChar char="•"/>
            </a:pPr>
            <a:r>
              <a:rPr sz="2000" b="0" i="0">
                <a:solidFill>
                  <a:srgbClr val="3A3A3A"/>
                </a:solidFill>
                <a:latin typeface="Segoe UI"/>
                <a:ea typeface="Segoe UI"/>
                <a:cs typeface="Segoe UI"/>
              </a:rPr>
              <a:t>Accepting code you can't explain</a:t>
            </a:r>
          </a:p>
          <a:p>
            <a:pPr marL="256032" indent="-256032" algn="l">
              <a:spcAft>
                <a:spcPts val="1600"/>
              </a:spcAft>
              <a:buClr>
                <a:srgbClr val="DB2777"/>
              </a:buClr>
              <a:buFont typeface="Arial"/>
              <a:buChar char="•"/>
            </a:pPr>
            <a:r>
              <a:rPr sz="2000" b="0" i="0">
                <a:solidFill>
                  <a:srgbClr val="3A3A3A"/>
                </a:solidFill>
                <a:latin typeface="Segoe UI"/>
                <a:ea typeface="Segoe UI"/>
                <a:cs typeface="Segoe UI"/>
              </a:rPr>
              <a:t>Letting it deploy unsupervised</a:t>
            </a:r>
          </a:p>
          <a:p>
            <a:pPr marL="256032" indent="-256032" algn="l">
              <a:spcAft>
                <a:spcPts val="1600"/>
              </a:spcAft>
              <a:buClr>
                <a:srgbClr val="DB2777"/>
              </a:buClr>
              <a:buFont typeface="Arial"/>
              <a:buChar char="•"/>
            </a:pPr>
            <a:r>
              <a:rPr sz="2000" b="0" i="0">
                <a:solidFill>
                  <a:srgbClr val="3A3A3A"/>
                </a:solidFill>
                <a:latin typeface="Segoe UI"/>
                <a:ea typeface="Segoe UI"/>
                <a:cs typeface="Segoe UI"/>
              </a:rPr>
              <a:t>Re-explaining your project every chat</a:t>
            </a:r>
          </a:p>
          <a:p>
            <a:pPr marL="256032" indent="-256032" algn="l">
              <a:spcAft>
                <a:spcPts val="1600"/>
              </a:spcAft>
              <a:buClr>
                <a:srgbClr val="DB2777"/>
              </a:buClr>
              <a:buFont typeface="Arial"/>
              <a:buChar char="•"/>
            </a:pPr>
            <a:r>
              <a:rPr sz="2000" b="0" i="0">
                <a:solidFill>
                  <a:srgbClr val="3A3A3A"/>
                </a:solidFill>
                <a:latin typeface="Segoe UI"/>
                <a:ea typeface="Segoe UI"/>
                <a:cs typeface="Segoe UI"/>
              </a:rPr>
              <a:t>Fixing the same mistake twice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rPr dirty="0"/>
              <a:t>Back to that 263: </a:t>
            </a:r>
            <a:r>
              <a:rPr lang="en-US" dirty="0"/>
              <a:t>some detailed stats</a:t>
            </a:r>
            <a:endParaRPr dirty="0"/>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r>
              <a:rPr lang="en-US" sz="1400" b="1" dirty="0">
                <a:solidFill>
                  <a:srgbClr val="DB2777"/>
                </a:solidFill>
                <a:latin typeface="Segoe UI"/>
                <a:ea typeface="Segoe UI"/>
                <a:cs typeface="Segoe UI"/>
              </a:rPr>
              <a:t>APPENDIX A1 · </a:t>
            </a:r>
            <a:r>
              <a:rPr sz="1400" b="1" i="0" dirty="0">
                <a:solidFill>
                  <a:srgbClr val="DB2777"/>
                </a:solidFill>
                <a:latin typeface="Segoe UI"/>
                <a:ea typeface="Segoe UI"/>
                <a:cs typeface="Segoe UI"/>
              </a:rPr>
              <a:t>THE RECEIPTS · PART 1</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21</a:t>
            </a:fld>
            <a:endParaRPr lang="en-US"/>
          </a:p>
        </p:txBody>
      </p:sp>
      <p:sp>
        <p:nvSpPr>
          <p:cNvPr id="9002" name="TextBox 9001"/>
          <p:cNvSpPr txBox="1"/>
          <p:nvPr/>
        </p:nvSpPr>
        <p:spPr>
          <a:xfrm>
            <a:off x="841248" y="1645920"/>
            <a:ext cx="4572000" cy="347472"/>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Throughput rose together</a:t>
            </a:r>
          </a:p>
        </p:txBody>
      </p:sp>
      <p:graphicFrame>
        <p:nvGraphicFramePr>
          <p:cNvPr id="9003" name="ChartPoints"/>
          <p:cNvGraphicFramePr>
            <a:graphicFrameLocks noGrp="1"/>
          </p:cNvGraphicFramePr>
          <p:nvPr/>
        </p:nvGraphicFramePr>
        <p:xfrm>
          <a:off x="777240" y="2011680"/>
          <a:ext cx="2194560" cy="3063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004" name="ChartIssues"/>
          <p:cNvGraphicFramePr>
            <a:graphicFrameLocks noGrp="1"/>
          </p:cNvGraphicFramePr>
          <p:nvPr/>
        </p:nvGraphicFramePr>
        <p:xfrm>
          <a:off x="3017520" y="2011680"/>
          <a:ext cx="219456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9005" name="TextBox 9004"/>
          <p:cNvSpPr txBox="1"/>
          <p:nvPr/>
        </p:nvSpPr>
        <p:spPr>
          <a:xfrm>
            <a:off x="841248" y="5166360"/>
            <a:ext cx="4480560" cy="731520"/>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FY26 PIs. More items and more points</a:t>
            </a:r>
            <a:r>
              <a:rPr lang="en-US" sz="1600" b="0" i="0" dirty="0">
                <a:solidFill>
                  <a:srgbClr val="3A3A3A"/>
                </a:solidFill>
                <a:latin typeface="Segoe UI"/>
                <a:ea typeface="Segoe UI"/>
                <a:cs typeface="Segoe UI"/>
              </a:rPr>
              <a:t>. </a:t>
            </a:r>
            <a:br>
              <a:rPr lang="en-US" sz="1600" b="0" i="0" dirty="0">
                <a:solidFill>
                  <a:srgbClr val="3A3A3A"/>
                </a:solidFill>
                <a:latin typeface="Segoe UI"/>
                <a:ea typeface="Segoe UI"/>
                <a:cs typeface="Segoe UI"/>
              </a:rPr>
            </a:br>
            <a:r>
              <a:rPr lang="en-US" sz="1600" b="0" i="0" dirty="0">
                <a:solidFill>
                  <a:srgbClr val="3A3A3A"/>
                </a:solidFill>
                <a:latin typeface="Segoe UI"/>
                <a:ea typeface="Segoe UI"/>
                <a:cs typeface="Segoe UI"/>
              </a:rPr>
              <a:t>Not just </a:t>
            </a:r>
            <a:r>
              <a:rPr lang="en-US" sz="1600" dirty="0">
                <a:solidFill>
                  <a:srgbClr val="3A3A3A"/>
                </a:solidFill>
                <a:latin typeface="Segoe UI"/>
                <a:ea typeface="Segoe UI"/>
                <a:cs typeface="Segoe UI"/>
              </a:rPr>
              <a:t>bigger point estimates.</a:t>
            </a:r>
            <a:endParaRPr sz="1600" b="0" i="0" dirty="0">
              <a:solidFill>
                <a:srgbClr val="3A3A3A"/>
              </a:solidFill>
              <a:latin typeface="Segoe UI"/>
              <a:ea typeface="Segoe UI"/>
              <a:cs typeface="Segoe UI"/>
            </a:endParaRPr>
          </a:p>
        </p:txBody>
      </p:sp>
      <p:sp>
        <p:nvSpPr>
          <p:cNvPr id="9006" name="TextBox 9005"/>
          <p:cNvSpPr txBox="1"/>
          <p:nvPr/>
        </p:nvSpPr>
        <p:spPr>
          <a:xfrm>
            <a:off x="5623560" y="1645920"/>
            <a:ext cx="5760720" cy="347472"/>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The artifact wall: one PI (FY26 PI-3), counted from git</a:t>
            </a:r>
          </a:p>
        </p:txBody>
      </p:sp>
      <p:sp>
        <p:nvSpPr>
          <p:cNvPr id="9007" name="Wall0"/>
          <p:cNvSpPr/>
          <p:nvPr/>
        </p:nvSpPr>
        <p:spPr>
          <a:xfrm>
            <a:off x="5623560" y="2057400"/>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TextBox 9007"/>
          <p:cNvSpPr txBox="1"/>
          <p:nvPr/>
        </p:nvSpPr>
        <p:spPr>
          <a:xfrm>
            <a:off x="5733288" y="2167128"/>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717</a:t>
            </a:r>
          </a:p>
        </p:txBody>
      </p:sp>
      <p:sp>
        <p:nvSpPr>
          <p:cNvPr id="9009" name="TextBox 9008"/>
          <p:cNvSpPr txBox="1"/>
          <p:nvPr/>
        </p:nvSpPr>
        <p:spPr>
          <a:xfrm>
            <a:off x="5733288" y="2715768"/>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test cases</a:t>
            </a:r>
          </a:p>
        </p:txBody>
      </p:sp>
      <p:sp>
        <p:nvSpPr>
          <p:cNvPr id="9010" name="Wall1"/>
          <p:cNvSpPr/>
          <p:nvPr/>
        </p:nvSpPr>
        <p:spPr>
          <a:xfrm>
            <a:off x="7091172" y="2057400"/>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1" name="TextBox 9010"/>
          <p:cNvSpPr txBox="1"/>
          <p:nvPr/>
        </p:nvSpPr>
        <p:spPr>
          <a:xfrm>
            <a:off x="7200900" y="2167128"/>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67</a:t>
            </a:r>
          </a:p>
        </p:txBody>
      </p:sp>
      <p:sp>
        <p:nvSpPr>
          <p:cNvPr id="9012" name="TextBox 9011"/>
          <p:cNvSpPr txBox="1"/>
          <p:nvPr/>
        </p:nvSpPr>
        <p:spPr>
          <a:xfrm>
            <a:off x="7200900" y="2715768"/>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test files</a:t>
            </a:r>
          </a:p>
        </p:txBody>
      </p:sp>
      <p:sp>
        <p:nvSpPr>
          <p:cNvPr id="9013" name="Wall2"/>
          <p:cNvSpPr/>
          <p:nvPr/>
        </p:nvSpPr>
        <p:spPr>
          <a:xfrm>
            <a:off x="8558784" y="2057400"/>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4" name="TextBox 9013"/>
          <p:cNvSpPr txBox="1"/>
          <p:nvPr/>
        </p:nvSpPr>
        <p:spPr>
          <a:xfrm>
            <a:off x="8668511" y="2167128"/>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31</a:t>
            </a:r>
          </a:p>
        </p:txBody>
      </p:sp>
      <p:sp>
        <p:nvSpPr>
          <p:cNvPr id="9015" name="TextBox 9014"/>
          <p:cNvSpPr txBox="1"/>
          <p:nvPr/>
        </p:nvSpPr>
        <p:spPr>
          <a:xfrm>
            <a:off x="8668511" y="2715768"/>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ADRs</a:t>
            </a:r>
          </a:p>
        </p:txBody>
      </p:sp>
      <p:sp>
        <p:nvSpPr>
          <p:cNvPr id="9016" name="Wall3"/>
          <p:cNvSpPr/>
          <p:nvPr/>
        </p:nvSpPr>
        <p:spPr>
          <a:xfrm>
            <a:off x="10026396" y="2057400"/>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7" name="TextBox 9016"/>
          <p:cNvSpPr txBox="1"/>
          <p:nvPr/>
        </p:nvSpPr>
        <p:spPr>
          <a:xfrm>
            <a:off x="10136124" y="2167128"/>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75</a:t>
            </a:r>
          </a:p>
        </p:txBody>
      </p:sp>
      <p:sp>
        <p:nvSpPr>
          <p:cNvPr id="9018" name="TextBox 9017"/>
          <p:cNvSpPr txBox="1"/>
          <p:nvPr/>
        </p:nvSpPr>
        <p:spPr>
          <a:xfrm>
            <a:off x="10136124" y="2715768"/>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doc pages</a:t>
            </a:r>
          </a:p>
        </p:txBody>
      </p:sp>
      <p:sp>
        <p:nvSpPr>
          <p:cNvPr id="9019" name="Wall4"/>
          <p:cNvSpPr/>
          <p:nvPr/>
        </p:nvSpPr>
        <p:spPr>
          <a:xfrm>
            <a:off x="5623560" y="3355848"/>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0" name="TextBox 9019"/>
          <p:cNvSpPr txBox="1"/>
          <p:nvPr/>
        </p:nvSpPr>
        <p:spPr>
          <a:xfrm>
            <a:off x="5733288" y="3465576"/>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48</a:t>
            </a:r>
          </a:p>
        </p:txBody>
      </p:sp>
      <p:sp>
        <p:nvSpPr>
          <p:cNvPr id="9021" name="TextBox 9020"/>
          <p:cNvSpPr txBox="1"/>
          <p:nvPr/>
        </p:nvSpPr>
        <p:spPr>
          <a:xfrm>
            <a:off x="5733288" y="4014215"/>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Mermaid diagrams</a:t>
            </a:r>
          </a:p>
        </p:txBody>
      </p:sp>
      <p:sp>
        <p:nvSpPr>
          <p:cNvPr id="9022" name="Wall5"/>
          <p:cNvSpPr/>
          <p:nvPr/>
        </p:nvSpPr>
        <p:spPr>
          <a:xfrm>
            <a:off x="7091172" y="3355848"/>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3" name="TextBox 9022"/>
          <p:cNvSpPr txBox="1"/>
          <p:nvPr/>
        </p:nvSpPr>
        <p:spPr>
          <a:xfrm>
            <a:off x="7200900" y="3465576"/>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111</a:t>
            </a:r>
          </a:p>
        </p:txBody>
      </p:sp>
      <p:sp>
        <p:nvSpPr>
          <p:cNvPr id="9024" name="TextBox 9023"/>
          <p:cNvSpPr txBox="1"/>
          <p:nvPr/>
        </p:nvSpPr>
        <p:spPr>
          <a:xfrm>
            <a:off x="7200900" y="4014215"/>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rules</a:t>
            </a:r>
          </a:p>
        </p:txBody>
      </p:sp>
      <p:sp>
        <p:nvSpPr>
          <p:cNvPr id="9025" name="Wall6"/>
          <p:cNvSpPr/>
          <p:nvPr/>
        </p:nvSpPr>
        <p:spPr>
          <a:xfrm>
            <a:off x="8558784" y="3355848"/>
            <a:ext cx="1330452" cy="1170432"/>
          </a:xfrm>
          <a:prstGeom prst="roundRect">
            <a:avLst>
              <a:gd name="adj" fmla="val 8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6" name="TextBox 9025"/>
          <p:cNvSpPr txBox="1"/>
          <p:nvPr/>
        </p:nvSpPr>
        <p:spPr>
          <a:xfrm>
            <a:off x="8668511" y="3465576"/>
            <a:ext cx="1110996" cy="548640"/>
          </a:xfrm>
          <a:prstGeom prst="rect">
            <a:avLst/>
          </a:prstGeom>
          <a:noFill/>
        </p:spPr>
        <p:txBody>
          <a:bodyPr wrap="square" lIns="0" tIns="0" rIns="0" bIns="0" anchor="t">
            <a:noAutofit/>
          </a:bodyPr>
          <a:lstStyle/>
          <a:p>
            <a:pPr algn="l"/>
            <a:r>
              <a:rPr sz="3000" b="1" i="0">
                <a:solidFill>
                  <a:srgbClr val="2E1065"/>
                </a:solidFill>
                <a:latin typeface="Segoe UI"/>
                <a:ea typeface="Segoe UI"/>
                <a:cs typeface="Segoe UI"/>
              </a:rPr>
              <a:t>156</a:t>
            </a:r>
          </a:p>
        </p:txBody>
      </p:sp>
      <p:sp>
        <p:nvSpPr>
          <p:cNvPr id="9027" name="TextBox 9026"/>
          <p:cNvSpPr txBox="1"/>
          <p:nvPr/>
        </p:nvSpPr>
        <p:spPr>
          <a:xfrm>
            <a:off x="8668511" y="4014215"/>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rule tests</a:t>
            </a:r>
          </a:p>
        </p:txBody>
      </p:sp>
      <p:sp>
        <p:nvSpPr>
          <p:cNvPr id="9028" name="Wall7"/>
          <p:cNvSpPr/>
          <p:nvPr/>
        </p:nvSpPr>
        <p:spPr>
          <a:xfrm>
            <a:off x="10026396" y="3355848"/>
            <a:ext cx="1330452" cy="1170432"/>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9" name="TextBox 9028"/>
          <p:cNvSpPr txBox="1"/>
          <p:nvPr/>
        </p:nvSpPr>
        <p:spPr>
          <a:xfrm>
            <a:off x="10136124" y="3465576"/>
            <a:ext cx="1110996" cy="548640"/>
          </a:xfrm>
          <a:prstGeom prst="rect">
            <a:avLst/>
          </a:prstGeom>
          <a:noFill/>
        </p:spPr>
        <p:txBody>
          <a:bodyPr wrap="square" lIns="0" tIns="0" rIns="0" bIns="0" anchor="t">
            <a:noAutofit/>
          </a:bodyPr>
          <a:lstStyle/>
          <a:p>
            <a:pPr algn="l"/>
            <a:r>
              <a:rPr sz="3000" b="1" i="0">
                <a:solidFill>
                  <a:srgbClr val="5F6670"/>
                </a:solidFill>
                <a:latin typeface="Segoe UI"/>
                <a:ea typeface="Segoe UI"/>
                <a:cs typeface="Segoe UI"/>
              </a:rPr>
              <a:t>219</a:t>
            </a:r>
          </a:p>
        </p:txBody>
      </p:sp>
      <p:sp>
        <p:nvSpPr>
          <p:cNvPr id="9030" name="TextBox 9029"/>
          <p:cNvSpPr txBox="1"/>
          <p:nvPr/>
        </p:nvSpPr>
        <p:spPr>
          <a:xfrm>
            <a:off x="10136124" y="4014215"/>
            <a:ext cx="1110996" cy="45720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commits</a:t>
            </a:r>
          </a:p>
        </p:txBody>
      </p:sp>
      <p:sp>
        <p:nvSpPr>
          <p:cNvPr id="9031" name="PerItem"/>
          <p:cNvSpPr/>
          <p:nvPr/>
        </p:nvSpPr>
        <p:spPr>
          <a:xfrm>
            <a:off x="5623560" y="4709160"/>
            <a:ext cx="5733288" cy="1207008"/>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32" name="TextBox 9031"/>
          <p:cNvSpPr txBox="1"/>
          <p:nvPr/>
        </p:nvSpPr>
        <p:spPr>
          <a:xfrm>
            <a:off x="5806440" y="4773168"/>
            <a:ext cx="5486400" cy="320040"/>
          </a:xfrm>
          <a:prstGeom prst="rect">
            <a:avLst/>
          </a:prstGeom>
          <a:noFill/>
        </p:spPr>
        <p:txBody>
          <a:bodyPr wrap="square" lIns="0" tIns="0" rIns="0" bIns="0" anchor="t">
            <a:noAutofit/>
          </a:bodyPr>
          <a:lstStyle/>
          <a:p>
            <a:pPr algn="l"/>
            <a:r>
              <a:rPr sz="1400" b="1" i="0">
                <a:solidFill>
                  <a:srgbClr val="C084FC"/>
                </a:solidFill>
                <a:latin typeface="Segoe UI"/>
                <a:ea typeface="Segoe UI"/>
                <a:cs typeface="Segoe UI"/>
              </a:rPr>
              <a:t>On average, every item shipped:</a:t>
            </a:r>
          </a:p>
        </p:txBody>
      </p:sp>
      <p:sp>
        <p:nvSpPr>
          <p:cNvPr id="9033" name="TextBox 9032"/>
          <p:cNvSpPr txBox="1"/>
          <p:nvPr/>
        </p:nvSpPr>
        <p:spPr>
          <a:xfrm>
            <a:off x="5806440" y="5074920"/>
            <a:ext cx="1325880" cy="457200"/>
          </a:xfrm>
          <a:prstGeom prst="rect">
            <a:avLst/>
          </a:prstGeom>
          <a:noFill/>
        </p:spPr>
        <p:txBody>
          <a:bodyPr wrap="square" lIns="0" tIns="0" rIns="0" bIns="0" anchor="t">
            <a:noAutofit/>
          </a:bodyPr>
          <a:lstStyle/>
          <a:p>
            <a:pPr algn="l"/>
            <a:r>
              <a:rPr sz="2400" b="1" i="0">
                <a:solidFill>
                  <a:srgbClr val="FFFFFF"/>
                </a:solidFill>
                <a:latin typeface="Segoe UI"/>
                <a:ea typeface="Segoe UI"/>
                <a:cs typeface="Segoe UI"/>
              </a:rPr>
              <a:t>~9</a:t>
            </a:r>
          </a:p>
        </p:txBody>
      </p:sp>
      <p:sp>
        <p:nvSpPr>
          <p:cNvPr id="9034" name="TextBox 9033"/>
          <p:cNvSpPr txBox="1"/>
          <p:nvPr/>
        </p:nvSpPr>
        <p:spPr>
          <a:xfrm>
            <a:off x="5806440" y="5504688"/>
            <a:ext cx="1325880" cy="32004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test cases</a:t>
            </a:r>
          </a:p>
        </p:txBody>
      </p:sp>
      <p:sp>
        <p:nvSpPr>
          <p:cNvPr id="9035" name="TextBox 9034"/>
          <p:cNvSpPr txBox="1"/>
          <p:nvPr/>
        </p:nvSpPr>
        <p:spPr>
          <a:xfrm>
            <a:off x="7196328" y="5074920"/>
            <a:ext cx="1325880" cy="457200"/>
          </a:xfrm>
          <a:prstGeom prst="rect">
            <a:avLst/>
          </a:prstGeom>
          <a:noFill/>
        </p:spPr>
        <p:txBody>
          <a:bodyPr wrap="square" lIns="0" tIns="0" rIns="0" bIns="0" anchor="t">
            <a:noAutofit/>
          </a:bodyPr>
          <a:lstStyle/>
          <a:p>
            <a:pPr algn="l"/>
            <a:r>
              <a:rPr sz="2400" b="1" i="0">
                <a:solidFill>
                  <a:srgbClr val="FFFFFF"/>
                </a:solidFill>
                <a:latin typeface="Segoe UI"/>
                <a:ea typeface="Segoe UI"/>
                <a:cs typeface="Segoe UI"/>
              </a:rPr>
              <a:t>~0.8</a:t>
            </a:r>
          </a:p>
        </p:txBody>
      </p:sp>
      <p:sp>
        <p:nvSpPr>
          <p:cNvPr id="9036" name="TextBox 9035"/>
          <p:cNvSpPr txBox="1"/>
          <p:nvPr/>
        </p:nvSpPr>
        <p:spPr>
          <a:xfrm>
            <a:off x="7196328" y="5504688"/>
            <a:ext cx="1325880" cy="32004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doc pages</a:t>
            </a:r>
          </a:p>
        </p:txBody>
      </p:sp>
      <p:sp>
        <p:nvSpPr>
          <p:cNvPr id="9037" name="TextBox 9036"/>
          <p:cNvSpPr txBox="1"/>
          <p:nvPr/>
        </p:nvSpPr>
        <p:spPr>
          <a:xfrm>
            <a:off x="8586216" y="5074920"/>
            <a:ext cx="1325880" cy="457200"/>
          </a:xfrm>
          <a:prstGeom prst="rect">
            <a:avLst/>
          </a:prstGeom>
          <a:noFill/>
        </p:spPr>
        <p:txBody>
          <a:bodyPr wrap="square" lIns="0" tIns="0" rIns="0" bIns="0" anchor="t">
            <a:noAutofit/>
          </a:bodyPr>
          <a:lstStyle/>
          <a:p>
            <a:pPr algn="l"/>
            <a:r>
              <a:rPr sz="2400" b="1" i="0">
                <a:solidFill>
                  <a:srgbClr val="FFFFFF"/>
                </a:solidFill>
                <a:latin typeface="Segoe UI"/>
                <a:ea typeface="Segoe UI"/>
                <a:cs typeface="Segoe UI"/>
              </a:rPr>
              <a:t>~0.4</a:t>
            </a:r>
          </a:p>
        </p:txBody>
      </p:sp>
      <p:sp>
        <p:nvSpPr>
          <p:cNvPr id="9038" name="TextBox 9037"/>
          <p:cNvSpPr txBox="1"/>
          <p:nvPr/>
        </p:nvSpPr>
        <p:spPr>
          <a:xfrm>
            <a:off x="8586216" y="5504688"/>
            <a:ext cx="1325880" cy="32004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diagrams</a:t>
            </a:r>
          </a:p>
        </p:txBody>
      </p:sp>
      <p:sp>
        <p:nvSpPr>
          <p:cNvPr id="9039" name="TextBox 9038"/>
          <p:cNvSpPr txBox="1"/>
          <p:nvPr/>
        </p:nvSpPr>
        <p:spPr>
          <a:xfrm>
            <a:off x="9976104" y="5074920"/>
            <a:ext cx="1325880" cy="457200"/>
          </a:xfrm>
          <a:prstGeom prst="rect">
            <a:avLst/>
          </a:prstGeom>
          <a:noFill/>
        </p:spPr>
        <p:txBody>
          <a:bodyPr wrap="square" lIns="0" tIns="0" rIns="0" bIns="0" anchor="t">
            <a:noAutofit/>
          </a:bodyPr>
          <a:lstStyle/>
          <a:p>
            <a:pPr algn="l"/>
            <a:r>
              <a:rPr sz="2400" b="1" i="0">
                <a:solidFill>
                  <a:srgbClr val="FFFFFF"/>
                </a:solidFill>
                <a:latin typeface="Segoe UI"/>
                <a:ea typeface="Segoe UI"/>
                <a:cs typeface="Segoe UI"/>
              </a:rPr>
              <a:t>~0.3</a:t>
            </a:r>
          </a:p>
        </p:txBody>
      </p:sp>
      <p:sp>
        <p:nvSpPr>
          <p:cNvPr id="9040" name="TextBox 9039"/>
          <p:cNvSpPr txBox="1"/>
          <p:nvPr/>
        </p:nvSpPr>
        <p:spPr>
          <a:xfrm>
            <a:off x="9976104" y="5504688"/>
            <a:ext cx="1325880" cy="320040"/>
          </a:xfrm>
          <a:prstGeom prst="rect">
            <a:avLst/>
          </a:prstGeom>
          <a:noFill/>
        </p:spPr>
        <p:txBody>
          <a:bodyPr wrap="square" lIns="0" tIns="0" rIns="0" bIns="0" anchor="t">
            <a:noAutofit/>
          </a:bodyPr>
          <a:lstStyle/>
          <a:p>
            <a:pPr algn="l"/>
            <a:r>
              <a:rPr sz="1400" b="0" i="0">
                <a:solidFill>
                  <a:srgbClr val="FFFFFF"/>
                </a:solidFill>
                <a:latin typeface="Segoe UI"/>
                <a:ea typeface="Segoe UI"/>
                <a:cs typeface="Segoe UI"/>
              </a:rPr>
              <a:t>ADRs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And it works: green right now</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r>
              <a:rPr lang="en-US" sz="1400" b="1" dirty="0">
                <a:solidFill>
                  <a:srgbClr val="DB2777"/>
                </a:solidFill>
                <a:latin typeface="Segoe UI"/>
                <a:ea typeface="Segoe UI"/>
                <a:cs typeface="Segoe UI"/>
              </a:rPr>
              <a:t>APPENDIX A2 · THE RECEIPTS · PART 2</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22</a:t>
            </a:fld>
            <a:endParaRPr lang="en-US"/>
          </a:p>
        </p:txBody>
      </p:sp>
      <p:sp>
        <p:nvSpPr>
          <p:cNvPr id="9004" name="Stat0"/>
          <p:cNvSpPr/>
          <p:nvPr/>
        </p:nvSpPr>
        <p:spPr>
          <a:xfrm>
            <a:off x="4343400" y="1783080"/>
            <a:ext cx="2212848" cy="25603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5" name="Picture 9004"/>
          <p:cNvPicPr>
            <a:picLocks noChangeAspect="1"/>
          </p:cNvPicPr>
          <p:nvPr/>
        </p:nvPicPr>
        <p:blipFill>
          <a:blip r:embed="rId3"/>
          <a:stretch>
            <a:fillRect/>
          </a:stretch>
        </p:blipFill>
        <p:spPr>
          <a:xfrm>
            <a:off x="4544568" y="1965960"/>
            <a:ext cx="457200" cy="457200"/>
          </a:xfrm>
          <a:prstGeom prst="rect">
            <a:avLst/>
          </a:prstGeom>
        </p:spPr>
      </p:pic>
      <p:sp>
        <p:nvSpPr>
          <p:cNvPr id="9006" name="TextBox 9005"/>
          <p:cNvSpPr txBox="1"/>
          <p:nvPr/>
        </p:nvSpPr>
        <p:spPr>
          <a:xfrm>
            <a:off x="4544568" y="2560320"/>
            <a:ext cx="1874519" cy="868680"/>
          </a:xfrm>
          <a:prstGeom prst="rect">
            <a:avLst/>
          </a:prstGeom>
          <a:noFill/>
        </p:spPr>
        <p:txBody>
          <a:bodyPr wrap="square" lIns="0" tIns="0" rIns="0" bIns="0" anchor="t">
            <a:noAutofit/>
          </a:bodyPr>
          <a:lstStyle/>
          <a:p>
            <a:pPr algn="l"/>
            <a:r>
              <a:rPr sz="4800" b="1" i="0">
                <a:solidFill>
                  <a:srgbClr val="7C3AED"/>
                </a:solidFill>
                <a:latin typeface="Segoe UI"/>
                <a:ea typeface="Segoe UI"/>
                <a:cs typeface="Segoe UI"/>
              </a:rPr>
              <a:t>1,167</a:t>
            </a:r>
          </a:p>
        </p:txBody>
      </p:sp>
      <p:sp>
        <p:nvSpPr>
          <p:cNvPr id="9007" name="TextBox 9006"/>
          <p:cNvSpPr txBox="1"/>
          <p:nvPr/>
        </p:nvSpPr>
        <p:spPr>
          <a:xfrm>
            <a:off x="4544568" y="3474720"/>
            <a:ext cx="1874519" cy="73152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tests passing</a:t>
            </a:r>
          </a:p>
        </p:txBody>
      </p:sp>
      <p:sp>
        <p:nvSpPr>
          <p:cNvPr id="9008" name="Stat1"/>
          <p:cNvSpPr/>
          <p:nvPr/>
        </p:nvSpPr>
        <p:spPr>
          <a:xfrm>
            <a:off x="6720840" y="1783080"/>
            <a:ext cx="2212848" cy="25603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p:cNvPicPr>
            <a:picLocks noChangeAspect="1"/>
          </p:cNvPicPr>
          <p:nvPr/>
        </p:nvPicPr>
        <p:blipFill>
          <a:blip r:embed="rId4"/>
          <a:stretch>
            <a:fillRect/>
          </a:stretch>
        </p:blipFill>
        <p:spPr>
          <a:xfrm>
            <a:off x="6922007" y="1965960"/>
            <a:ext cx="457200" cy="457200"/>
          </a:xfrm>
          <a:prstGeom prst="rect">
            <a:avLst/>
          </a:prstGeom>
        </p:spPr>
      </p:pic>
      <p:sp>
        <p:nvSpPr>
          <p:cNvPr id="9010" name="TextBox 9009"/>
          <p:cNvSpPr txBox="1"/>
          <p:nvPr/>
        </p:nvSpPr>
        <p:spPr>
          <a:xfrm>
            <a:off x="6922007" y="2560320"/>
            <a:ext cx="1874519" cy="868680"/>
          </a:xfrm>
          <a:prstGeom prst="rect">
            <a:avLst/>
          </a:prstGeom>
          <a:noFill/>
        </p:spPr>
        <p:txBody>
          <a:bodyPr wrap="square" lIns="0" tIns="0" rIns="0" bIns="0" anchor="t">
            <a:noAutofit/>
          </a:bodyPr>
          <a:lstStyle/>
          <a:p>
            <a:pPr algn="l"/>
            <a:r>
              <a:rPr sz="4800" b="1" i="0">
                <a:solidFill>
                  <a:srgbClr val="2E1065"/>
                </a:solidFill>
                <a:latin typeface="Segoe UI"/>
                <a:ea typeface="Segoe UI"/>
                <a:cs typeface="Segoe UI"/>
              </a:rPr>
              <a:t>0</a:t>
            </a:r>
          </a:p>
        </p:txBody>
      </p:sp>
      <p:sp>
        <p:nvSpPr>
          <p:cNvPr id="9011" name="TextBox 9010"/>
          <p:cNvSpPr txBox="1"/>
          <p:nvPr/>
        </p:nvSpPr>
        <p:spPr>
          <a:xfrm>
            <a:off x="6922007" y="3474720"/>
            <a:ext cx="1874519" cy="73152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failing</a:t>
            </a:r>
          </a:p>
        </p:txBody>
      </p:sp>
      <p:sp>
        <p:nvSpPr>
          <p:cNvPr id="9012" name="Stat2"/>
          <p:cNvSpPr/>
          <p:nvPr/>
        </p:nvSpPr>
        <p:spPr>
          <a:xfrm>
            <a:off x="9098280" y="1783080"/>
            <a:ext cx="2212848" cy="25603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3" name="Picture 9012"/>
          <p:cNvPicPr>
            <a:picLocks noChangeAspect="1"/>
          </p:cNvPicPr>
          <p:nvPr/>
        </p:nvPicPr>
        <p:blipFill>
          <a:blip r:embed="rId5"/>
          <a:stretch>
            <a:fillRect/>
          </a:stretch>
        </p:blipFill>
        <p:spPr>
          <a:xfrm>
            <a:off x="9299448" y="1965960"/>
            <a:ext cx="457200" cy="457200"/>
          </a:xfrm>
          <a:prstGeom prst="rect">
            <a:avLst/>
          </a:prstGeom>
        </p:spPr>
      </p:pic>
      <p:sp>
        <p:nvSpPr>
          <p:cNvPr id="9014" name="TextBox 9013"/>
          <p:cNvSpPr txBox="1"/>
          <p:nvPr/>
        </p:nvSpPr>
        <p:spPr>
          <a:xfrm>
            <a:off x="9299448" y="2560320"/>
            <a:ext cx="1874519" cy="868680"/>
          </a:xfrm>
          <a:prstGeom prst="rect">
            <a:avLst/>
          </a:prstGeom>
          <a:noFill/>
        </p:spPr>
        <p:txBody>
          <a:bodyPr wrap="square" lIns="0" tIns="0" rIns="0" bIns="0" anchor="t">
            <a:noAutofit/>
          </a:bodyPr>
          <a:lstStyle/>
          <a:p>
            <a:pPr algn="l"/>
            <a:r>
              <a:rPr sz="4800" b="1" i="0">
                <a:solidFill>
                  <a:srgbClr val="2E1065"/>
                </a:solidFill>
                <a:latin typeface="Segoe UI"/>
                <a:ea typeface="Segoe UI"/>
                <a:cs typeface="Segoe UI"/>
              </a:rPr>
              <a:t>8</a:t>
            </a:r>
          </a:p>
        </p:txBody>
      </p:sp>
      <p:sp>
        <p:nvSpPr>
          <p:cNvPr id="9015" name="TextBox 9014"/>
          <p:cNvSpPr txBox="1"/>
          <p:nvPr/>
        </p:nvSpPr>
        <p:spPr>
          <a:xfrm>
            <a:off x="9299448" y="3474720"/>
            <a:ext cx="1874519" cy="73152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projects, 8,758 statements</a:t>
            </a:r>
          </a:p>
        </p:txBody>
      </p:sp>
      <p:sp>
        <p:nvSpPr>
          <p:cNvPr id="9016" name="Caveats"/>
          <p:cNvSpPr/>
          <p:nvPr/>
        </p:nvSpPr>
        <p:spPr>
          <a:xfrm>
            <a:off x="841248" y="4663440"/>
            <a:ext cx="10515600" cy="12801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7" name="TextBox 9016"/>
          <p:cNvSpPr txBox="1"/>
          <p:nvPr/>
        </p:nvSpPr>
        <p:spPr>
          <a:xfrm>
            <a:off x="1051560" y="4736592"/>
            <a:ext cx="2743200" cy="320040"/>
          </a:xfrm>
          <a:prstGeom prst="rect">
            <a:avLst/>
          </a:prstGeom>
          <a:noFill/>
        </p:spPr>
        <p:txBody>
          <a:bodyPr wrap="square" lIns="0" tIns="0" rIns="0" bIns="0" anchor="t">
            <a:noAutofit/>
          </a:bodyPr>
          <a:lstStyle/>
          <a:p>
            <a:pPr algn="l"/>
            <a:r>
              <a:rPr lang="en-US" sz="1600" b="1" i="0" dirty="0">
                <a:solidFill>
                  <a:srgbClr val="2E1065"/>
                </a:solidFill>
                <a:latin typeface="Segoe UI"/>
                <a:ea typeface="Segoe UI"/>
                <a:cs typeface="Segoe UI"/>
              </a:rPr>
              <a:t>C</a:t>
            </a:r>
            <a:r>
              <a:rPr sz="1600" b="1" i="0" dirty="0">
                <a:solidFill>
                  <a:srgbClr val="2E1065"/>
                </a:solidFill>
                <a:latin typeface="Segoe UI"/>
                <a:ea typeface="Segoe UI"/>
                <a:cs typeface="Segoe UI"/>
              </a:rPr>
              <a:t>aveats</a:t>
            </a:r>
          </a:p>
        </p:txBody>
      </p:sp>
      <p:sp>
        <p:nvSpPr>
          <p:cNvPr id="9018" name="TextBox 9017"/>
          <p:cNvSpPr txBox="1"/>
          <p:nvPr/>
        </p:nvSpPr>
        <p:spPr>
          <a:xfrm>
            <a:off x="1051560" y="5074920"/>
            <a:ext cx="3200400" cy="868680"/>
          </a:xfrm>
          <a:prstGeom prst="rect">
            <a:avLst/>
          </a:prstGeom>
          <a:noFill/>
        </p:spPr>
        <p:txBody>
          <a:bodyPr wrap="square" lIns="0" tIns="0" rIns="0" bIns="0" anchor="t">
            <a:noAutofit/>
          </a:bodyPr>
          <a:lstStyle/>
          <a:p>
            <a:pPr algn="l"/>
            <a:r>
              <a:rPr sz="1400" b="0" i="0" dirty="0">
                <a:solidFill>
                  <a:srgbClr val="3A3A3A"/>
                </a:solidFill>
                <a:latin typeface="Segoe UI"/>
                <a:ea typeface="Segoe UI"/>
                <a:cs typeface="Segoe UI"/>
              </a:rPr>
              <a:t>About half my time is operational work (an overall average), so 263 came from roughly half my capacity.</a:t>
            </a:r>
          </a:p>
        </p:txBody>
      </p:sp>
      <p:sp>
        <p:nvSpPr>
          <p:cNvPr id="9019" name="TextBox 9018"/>
          <p:cNvSpPr txBox="1"/>
          <p:nvPr/>
        </p:nvSpPr>
        <p:spPr>
          <a:xfrm>
            <a:off x="4480560" y="5074920"/>
            <a:ext cx="3200400" cy="86868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Story points are relative estimates. Read them as magnitude and direction, not precision.</a:t>
            </a:r>
          </a:p>
        </p:txBody>
      </p:sp>
      <p:sp>
        <p:nvSpPr>
          <p:cNvPr id="9020" name="TextBox 9019"/>
          <p:cNvSpPr txBox="1"/>
          <p:nvPr/>
        </p:nvSpPr>
        <p:spPr>
          <a:xfrm>
            <a:off x="7909560" y="5074920"/>
            <a:ext cx="3200400" cy="868680"/>
          </a:xfrm>
          <a:prstGeom prst="rect">
            <a:avLst/>
          </a:prstGeom>
          <a:noFill/>
        </p:spPr>
        <p:txBody>
          <a:bodyPr wrap="square" lIns="0" tIns="0" rIns="0" bIns="0" anchor="t">
            <a:noAutofit/>
          </a:bodyPr>
          <a:lstStyle/>
          <a:p>
            <a:pPr algn="l"/>
            <a:r>
              <a:rPr sz="1400" b="0" i="0">
                <a:solidFill>
                  <a:srgbClr val="3A3A3A"/>
                </a:solidFill>
                <a:latin typeface="Segoe UI"/>
                <a:ea typeface="Segoe UI"/>
                <a:cs typeface="Segoe UI"/>
              </a:rPr>
              <a:t>The system took time to build and is never finished. Start small; it compounds.</a:t>
            </a:r>
          </a:p>
        </p:txBody>
      </p:sp>
      <p:graphicFrame>
        <p:nvGraphicFramePr>
          <p:cNvPr id="5" name="CoverageChart">
            <a:extLst>
              <a:ext uri="{FF2B5EF4-FFF2-40B4-BE49-F238E27FC236}">
                <a16:creationId xmlns:a16="http://schemas.microsoft.com/office/drawing/2014/main" id="{D79F578E-5765-DDBD-6BD2-1F7A03CA6A9B}"/>
              </a:ext>
            </a:extLst>
          </p:cNvPr>
          <p:cNvGraphicFramePr>
            <a:graphicFrameLocks noGrp="1"/>
          </p:cNvGraphicFramePr>
          <p:nvPr/>
        </p:nvGraphicFramePr>
        <p:xfrm>
          <a:off x="685800" y="1600200"/>
          <a:ext cx="3291840" cy="2926080"/>
        </p:xfrm>
        <a:graphic>
          <a:graphicData uri="http://schemas.openxmlformats.org/drawingml/2006/chart">
            <c:chart xmlns:c="http://schemas.openxmlformats.org/drawingml/2006/chart" xmlns:r="http://schemas.openxmlformats.org/officeDocument/2006/relationships" r:id="rId6"/>
          </a:graphicData>
        </a:graphic>
      </p:graphicFrame>
      <p:sp>
        <p:nvSpPr>
          <p:cNvPr id="6" name="CoverageCenter">
            <a:extLst>
              <a:ext uri="{FF2B5EF4-FFF2-40B4-BE49-F238E27FC236}">
                <a16:creationId xmlns:a16="http://schemas.microsoft.com/office/drawing/2014/main" id="{5965C6F2-B54D-1400-9EB7-158316E9F418}"/>
              </a:ext>
            </a:extLst>
          </p:cNvPr>
          <p:cNvSpPr txBox="1"/>
          <p:nvPr/>
        </p:nvSpPr>
        <p:spPr>
          <a:xfrm>
            <a:off x="1691640" y="2706624"/>
            <a:ext cx="1280160" cy="603504"/>
          </a:xfrm>
          <a:prstGeom prst="rect">
            <a:avLst/>
          </a:prstGeom>
          <a:noFill/>
        </p:spPr>
        <p:txBody>
          <a:bodyPr wrap="square" lIns="0" tIns="0" rIns="0" bIns="0" anchor="ctr">
            <a:noAutofit/>
          </a:bodyPr>
          <a:lstStyle/>
          <a:p>
            <a:pPr algn="ctr"/>
            <a:r>
              <a:rPr sz="2800" b="1" i="0">
                <a:solidFill>
                  <a:srgbClr val="7C3AED"/>
                </a:solidFill>
                <a:latin typeface="Segoe UI"/>
                <a:ea typeface="Segoe UI"/>
                <a:cs typeface="Segoe UI"/>
              </a:rPr>
              <a:t>79%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The full numbers, and how they're counted</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3</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23</a:t>
            </a:fld>
            <a:endParaRPr lang="en-US"/>
          </a:p>
        </p:txBody>
      </p:sp>
      <p:graphicFrame>
        <p:nvGraphicFramePr>
          <p:cNvPr id="9002" name="Table 9001"/>
          <p:cNvGraphicFramePr>
            <a:graphicFrameLocks noGrp="1"/>
          </p:cNvGraphicFramePr>
          <p:nvPr/>
        </p:nvGraphicFramePr>
        <p:xfrm>
          <a:off x="841248" y="1691640"/>
          <a:ext cx="6400799" cy="295656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487680">
                <a:tc>
                  <a:txBody>
                    <a:bodyPr/>
                    <a:lstStyle/>
                    <a:p>
                      <a:pPr algn="l"/>
                      <a:r>
                        <a:rPr sz="1400" b="1" i="0">
                          <a:solidFill>
                            <a:srgbClr val="FFFFFF"/>
                          </a:solidFill>
                          <a:latin typeface="Segoe UI"/>
                          <a:ea typeface="Segoe UI"/>
                          <a:cs typeface="Segoe UI"/>
                        </a:rPr>
                        <a:t>Program Increment</a:t>
                      </a:r>
                    </a:p>
                  </a:txBody>
                  <a:tcPr>
                    <a:solidFill>
                      <a:srgbClr val="2E1065"/>
                    </a:solidFill>
                  </a:tcPr>
                </a:tc>
                <a:tc>
                  <a:txBody>
                    <a:bodyPr/>
                    <a:lstStyle/>
                    <a:p>
                      <a:pPr algn="l"/>
                      <a:r>
                        <a:rPr sz="1400" b="1" i="0">
                          <a:solidFill>
                            <a:srgbClr val="FFFFFF"/>
                          </a:solidFill>
                          <a:latin typeface="Segoe UI"/>
                          <a:ea typeface="Segoe UI"/>
                          <a:cs typeface="Segoe UI"/>
                        </a:rPr>
                        <a:t>Points</a:t>
                      </a:r>
                    </a:p>
                  </a:txBody>
                  <a:tcPr>
                    <a:solidFill>
                      <a:srgbClr val="2E1065"/>
                    </a:solidFill>
                  </a:tcPr>
                </a:tc>
                <a:tc>
                  <a:txBody>
                    <a:bodyPr/>
                    <a:lstStyle/>
                    <a:p>
                      <a:pPr algn="l"/>
                      <a:r>
                        <a:rPr sz="1400" b="1" i="0">
                          <a:solidFill>
                            <a:srgbClr val="FFFFFF"/>
                          </a:solidFill>
                          <a:latin typeface="Segoe UI"/>
                          <a:ea typeface="Segoe UI"/>
                          <a:cs typeface="Segoe UI"/>
                        </a:rPr>
                        <a:t>Issues</a:t>
                      </a:r>
                    </a:p>
                  </a:txBody>
                  <a:tcPr>
                    <a:solidFill>
                      <a:srgbClr val="2E1065"/>
                    </a:solidFill>
                  </a:tcPr>
                </a:tc>
                <a:tc>
                  <a:txBody>
                    <a:bodyPr/>
                    <a:lstStyle/>
                    <a:p>
                      <a:pPr algn="l"/>
                      <a:r>
                        <a:rPr sz="1400" b="1" i="0">
                          <a:solidFill>
                            <a:srgbClr val="FFFFFF"/>
                          </a:solidFill>
                          <a:latin typeface="Segoe UI"/>
                          <a:ea typeface="Segoe UI"/>
                          <a:cs typeface="Segoe UI"/>
                        </a:rPr>
                        <a:t>What happened</a:t>
                      </a:r>
                    </a:p>
                  </a:txBody>
                  <a:tcPr>
                    <a:solidFill>
                      <a:srgbClr val="2E1065"/>
                    </a:solidFill>
                  </a:tcPr>
                </a:tc>
                <a:extLst>
                  <a:ext uri="{0D108BD9-81ED-4DB2-BD59-A6C34878D82A}">
                    <a16:rowId xmlns:a16="http://schemas.microsoft.com/office/drawing/2014/main" val="10000"/>
                  </a:ext>
                </a:extLst>
              </a:tr>
              <a:tr h="487680">
                <a:tc>
                  <a:txBody>
                    <a:bodyPr/>
                    <a:lstStyle/>
                    <a:p>
                      <a:pPr algn="l"/>
                      <a:r>
                        <a:rPr sz="1400" b="0" i="0">
                          <a:solidFill>
                            <a:srgbClr val="3A3A3A"/>
                          </a:solidFill>
                          <a:latin typeface="Segoe UI"/>
                          <a:ea typeface="Segoe UI"/>
                          <a:cs typeface="Segoe UI"/>
                        </a:rPr>
                        <a:t>FY25 PI-3</a:t>
                      </a:r>
                    </a:p>
                  </a:txBody>
                  <a:tcPr>
                    <a:solidFill>
                      <a:srgbClr val="F5F3FF"/>
                    </a:solidFill>
                  </a:tcPr>
                </a:tc>
                <a:tc>
                  <a:txBody>
                    <a:bodyPr/>
                    <a:lstStyle/>
                    <a:p>
                      <a:pPr algn="l"/>
                      <a:r>
                        <a:rPr sz="1400" b="1" i="0">
                          <a:solidFill>
                            <a:srgbClr val="3A3A3A"/>
                          </a:solidFill>
                          <a:latin typeface="Segoe UI"/>
                          <a:ea typeface="Segoe UI"/>
                          <a:cs typeface="Segoe UI"/>
                        </a:rPr>
                        <a:t>24</a:t>
                      </a:r>
                    </a:p>
                  </a:txBody>
                  <a:tcPr>
                    <a:solidFill>
                      <a:srgbClr val="F5F3FF"/>
                    </a:solidFill>
                  </a:tcPr>
                </a:tc>
                <a:tc>
                  <a:txBody>
                    <a:bodyPr/>
                    <a:lstStyle/>
                    <a:p>
                      <a:pPr algn="l"/>
                      <a:r>
                        <a:rPr sz="1400" b="0" i="0">
                          <a:solidFill>
                            <a:srgbClr val="3A3A3A"/>
                          </a:solidFill>
                          <a:latin typeface="Segoe UI"/>
                          <a:ea typeface="Segoe UI"/>
                          <a:cs typeface="Segoe UI"/>
                        </a:rPr>
                        <a:t>–</a:t>
                      </a:r>
                    </a:p>
                  </a:txBody>
                  <a:tcPr>
                    <a:solidFill>
                      <a:srgbClr val="F5F3FF"/>
                    </a:solidFill>
                  </a:tcPr>
                </a:tc>
                <a:tc>
                  <a:txBody>
                    <a:bodyPr/>
                    <a:lstStyle/>
                    <a:p>
                      <a:pPr algn="l"/>
                      <a:r>
                        <a:rPr sz="1400" b="0" i="0">
                          <a:solidFill>
                            <a:srgbClr val="3A3A3A"/>
                          </a:solidFill>
                          <a:latin typeface="Segoe UI"/>
                          <a:ea typeface="Segoe UI"/>
                          <a:cs typeface="Segoe UI"/>
                        </a:rPr>
                        <a:t>Baseline</a:t>
                      </a:r>
                    </a:p>
                  </a:txBody>
                  <a:tcPr>
                    <a:solidFill>
                      <a:srgbClr val="F5F3FF"/>
                    </a:solidFill>
                  </a:tcPr>
                </a:tc>
                <a:extLst>
                  <a:ext uri="{0D108BD9-81ED-4DB2-BD59-A6C34878D82A}">
                    <a16:rowId xmlns:a16="http://schemas.microsoft.com/office/drawing/2014/main" val="10001"/>
                  </a:ext>
                </a:extLst>
              </a:tr>
              <a:tr h="487680">
                <a:tc>
                  <a:txBody>
                    <a:bodyPr/>
                    <a:lstStyle/>
                    <a:p>
                      <a:pPr algn="l"/>
                      <a:r>
                        <a:rPr sz="1400" b="0" i="0">
                          <a:solidFill>
                            <a:srgbClr val="3A3A3A"/>
                          </a:solidFill>
                          <a:latin typeface="Segoe UI"/>
                          <a:ea typeface="Segoe UI"/>
                          <a:cs typeface="Segoe UI"/>
                        </a:rPr>
                        <a:t>FY26 PI-1</a:t>
                      </a:r>
                    </a:p>
                  </a:txBody>
                  <a:tcPr>
                    <a:solidFill>
                      <a:srgbClr val="FFFFFF"/>
                    </a:solidFill>
                  </a:tcPr>
                </a:tc>
                <a:tc>
                  <a:txBody>
                    <a:bodyPr/>
                    <a:lstStyle/>
                    <a:p>
                      <a:pPr algn="l"/>
                      <a:r>
                        <a:rPr sz="1400" b="1" i="0">
                          <a:solidFill>
                            <a:srgbClr val="3A3A3A"/>
                          </a:solidFill>
                          <a:latin typeface="Segoe UI"/>
                          <a:ea typeface="Segoe UI"/>
                          <a:cs typeface="Segoe UI"/>
                        </a:rPr>
                        <a:t>28</a:t>
                      </a:r>
                    </a:p>
                  </a:txBody>
                  <a:tcPr>
                    <a:solidFill>
                      <a:srgbClr val="FFFFFF"/>
                    </a:solidFill>
                  </a:tcPr>
                </a:tc>
                <a:tc>
                  <a:txBody>
                    <a:bodyPr/>
                    <a:lstStyle/>
                    <a:p>
                      <a:pPr algn="l"/>
                      <a:r>
                        <a:rPr sz="1400" b="0" i="0">
                          <a:solidFill>
                            <a:srgbClr val="3A3A3A"/>
                          </a:solidFill>
                          <a:latin typeface="Segoe UI"/>
                          <a:ea typeface="Segoe UI"/>
                          <a:cs typeface="Segoe UI"/>
                        </a:rPr>
                        <a:t>8</a:t>
                      </a:r>
                    </a:p>
                  </a:txBody>
                  <a:tcPr>
                    <a:solidFill>
                      <a:srgbClr val="FFFFFF"/>
                    </a:solidFill>
                  </a:tcPr>
                </a:tc>
                <a:tc>
                  <a:txBody>
                    <a:bodyPr/>
                    <a:lstStyle/>
                    <a:p>
                      <a:pPr algn="l"/>
                      <a:r>
                        <a:rPr sz="1400" b="0" i="0">
                          <a:solidFill>
                            <a:srgbClr val="3A3A3A"/>
                          </a:solidFill>
                          <a:latin typeface="Segoe UI"/>
                          <a:ea typeface="Segoe UI"/>
                          <a:cs typeface="Segoe UI"/>
                        </a:rPr>
                        <a:t>Baseline</a:t>
                      </a:r>
                    </a:p>
                  </a:txBody>
                  <a:tcPr>
                    <a:solidFill>
                      <a:srgbClr val="FFFFFF"/>
                    </a:solidFill>
                  </a:tcPr>
                </a:tc>
                <a:extLst>
                  <a:ext uri="{0D108BD9-81ED-4DB2-BD59-A6C34878D82A}">
                    <a16:rowId xmlns:a16="http://schemas.microsoft.com/office/drawing/2014/main" val="10002"/>
                  </a:ext>
                </a:extLst>
              </a:tr>
              <a:tr h="487680">
                <a:tc>
                  <a:txBody>
                    <a:bodyPr/>
                    <a:lstStyle/>
                    <a:p>
                      <a:pPr algn="l"/>
                      <a:r>
                        <a:rPr sz="1400" b="0" i="0">
                          <a:solidFill>
                            <a:srgbClr val="3A3A3A"/>
                          </a:solidFill>
                          <a:latin typeface="Segoe UI"/>
                          <a:ea typeface="Segoe UI"/>
                          <a:cs typeface="Segoe UI"/>
                        </a:rPr>
                        <a:t>FY26 PI-2</a:t>
                      </a:r>
                    </a:p>
                  </a:txBody>
                  <a:tcPr>
                    <a:solidFill>
                      <a:srgbClr val="F5F3FF"/>
                    </a:solidFill>
                  </a:tcPr>
                </a:tc>
                <a:tc>
                  <a:txBody>
                    <a:bodyPr/>
                    <a:lstStyle/>
                    <a:p>
                      <a:pPr algn="l"/>
                      <a:r>
                        <a:rPr sz="1400" b="1" i="0">
                          <a:solidFill>
                            <a:srgbClr val="3A3A3A"/>
                          </a:solidFill>
                          <a:latin typeface="Segoe UI"/>
                          <a:ea typeface="Segoe UI"/>
                          <a:cs typeface="Segoe UI"/>
                        </a:rPr>
                        <a:t>72</a:t>
                      </a:r>
                    </a:p>
                  </a:txBody>
                  <a:tcPr>
                    <a:solidFill>
                      <a:srgbClr val="F5F3FF"/>
                    </a:solidFill>
                  </a:tcPr>
                </a:tc>
                <a:tc>
                  <a:txBody>
                    <a:bodyPr/>
                    <a:lstStyle/>
                    <a:p>
                      <a:pPr algn="l"/>
                      <a:r>
                        <a:rPr sz="1400" b="0" i="0">
                          <a:solidFill>
                            <a:srgbClr val="3A3A3A"/>
                          </a:solidFill>
                          <a:latin typeface="Segoe UI"/>
                          <a:ea typeface="Segoe UI"/>
                          <a:cs typeface="Segoe UI"/>
                        </a:rPr>
                        <a:t>28</a:t>
                      </a:r>
                    </a:p>
                  </a:txBody>
                  <a:tcPr>
                    <a:solidFill>
                      <a:srgbClr val="F5F3FF"/>
                    </a:solidFill>
                  </a:tcPr>
                </a:tc>
                <a:tc>
                  <a:txBody>
                    <a:bodyPr/>
                    <a:lstStyle/>
                    <a:p>
                      <a:pPr algn="l"/>
                      <a:r>
                        <a:rPr sz="1400" b="0" i="0">
                          <a:solidFill>
                            <a:srgbClr val="3A3A3A"/>
                          </a:solidFill>
                          <a:latin typeface="Segoe UI"/>
                          <a:ea typeface="Segoe UI"/>
                          <a:cs typeface="Segoe UI"/>
                        </a:rPr>
                        <a:t>The experiment: 1 AI-assisted epic</a:t>
                      </a:r>
                    </a:p>
                  </a:txBody>
                  <a:tcPr>
                    <a:solidFill>
                      <a:srgbClr val="F5F3FF"/>
                    </a:solidFill>
                  </a:tcPr>
                </a:tc>
                <a:extLst>
                  <a:ext uri="{0D108BD9-81ED-4DB2-BD59-A6C34878D82A}">
                    <a16:rowId xmlns:a16="http://schemas.microsoft.com/office/drawing/2014/main" val="10003"/>
                  </a:ext>
                </a:extLst>
              </a:tr>
              <a:tr h="487680">
                <a:tc>
                  <a:txBody>
                    <a:bodyPr/>
                    <a:lstStyle/>
                    <a:p>
                      <a:pPr algn="l"/>
                      <a:r>
                        <a:rPr sz="1400" b="0" i="0">
                          <a:solidFill>
                            <a:srgbClr val="3A3A3A"/>
                          </a:solidFill>
                          <a:latin typeface="Segoe UI"/>
                          <a:ea typeface="Segoe UI"/>
                          <a:cs typeface="Segoe UI"/>
                        </a:rPr>
                        <a:t>FY26 PI-3</a:t>
                      </a:r>
                    </a:p>
                  </a:txBody>
                  <a:tcPr>
                    <a:solidFill>
                      <a:srgbClr val="FFFFFF"/>
                    </a:solidFill>
                  </a:tcPr>
                </a:tc>
                <a:tc>
                  <a:txBody>
                    <a:bodyPr/>
                    <a:lstStyle/>
                    <a:p>
                      <a:pPr algn="l"/>
                      <a:r>
                        <a:rPr sz="1400" b="1" i="0">
                          <a:solidFill>
                            <a:srgbClr val="3A3A3A"/>
                          </a:solidFill>
                          <a:latin typeface="Segoe UI"/>
                          <a:ea typeface="Segoe UI"/>
                          <a:cs typeface="Segoe UI"/>
                        </a:rPr>
                        <a:t>263</a:t>
                      </a:r>
                    </a:p>
                  </a:txBody>
                  <a:tcPr>
                    <a:solidFill>
                      <a:srgbClr val="FFFFFF"/>
                    </a:solidFill>
                  </a:tcPr>
                </a:tc>
                <a:tc>
                  <a:txBody>
                    <a:bodyPr/>
                    <a:lstStyle/>
                    <a:p>
                      <a:pPr algn="l"/>
                      <a:r>
                        <a:rPr sz="1400" b="0" i="0">
                          <a:solidFill>
                            <a:srgbClr val="3A3A3A"/>
                          </a:solidFill>
                          <a:latin typeface="Segoe UI"/>
                          <a:ea typeface="Segoe UI"/>
                          <a:cs typeface="Segoe UI"/>
                        </a:rPr>
                        <a:t>60</a:t>
                      </a:r>
                    </a:p>
                  </a:txBody>
                  <a:tcPr>
                    <a:solidFill>
                      <a:srgbClr val="FFFFFF"/>
                    </a:solidFill>
                  </a:tcPr>
                </a:tc>
                <a:tc>
                  <a:txBody>
                    <a:bodyPr/>
                    <a:lstStyle/>
                    <a:p>
                      <a:pPr algn="l"/>
                      <a:r>
                        <a:rPr sz="1400" b="0" i="0">
                          <a:solidFill>
                            <a:srgbClr val="3A3A3A"/>
                          </a:solidFill>
                          <a:latin typeface="Segoe UI"/>
                          <a:ea typeface="Segoe UI"/>
                          <a:cs typeface="Segoe UI"/>
                        </a:rPr>
                        <a:t>4 AI-assisted epics</a:t>
                      </a:r>
                    </a:p>
                  </a:txBody>
                  <a:tcPr>
                    <a:solidFill>
                      <a:srgbClr val="FFFFFF"/>
                    </a:solidFill>
                  </a:tcPr>
                </a:tc>
                <a:extLst>
                  <a:ext uri="{0D108BD9-81ED-4DB2-BD59-A6C34878D82A}">
                    <a16:rowId xmlns:a16="http://schemas.microsoft.com/office/drawing/2014/main" val="10004"/>
                  </a:ext>
                </a:extLst>
              </a:tr>
              <a:tr h="487680">
                <a:tc>
                  <a:txBody>
                    <a:bodyPr/>
                    <a:lstStyle/>
                    <a:p>
                      <a:pPr algn="l"/>
                      <a:r>
                        <a:rPr sz="1400" b="0" i="0">
                          <a:solidFill>
                            <a:srgbClr val="3A3A3A"/>
                          </a:solidFill>
                          <a:latin typeface="Segoe UI"/>
                          <a:ea typeface="Segoe UI"/>
                          <a:cs typeface="Segoe UI"/>
                        </a:rPr>
                        <a:t>FY27 PI-1 (to date)</a:t>
                      </a:r>
                    </a:p>
                  </a:txBody>
                  <a:tcPr>
                    <a:solidFill>
                      <a:srgbClr val="F5F3FF"/>
                    </a:solidFill>
                  </a:tcPr>
                </a:tc>
                <a:tc>
                  <a:txBody>
                    <a:bodyPr/>
                    <a:lstStyle/>
                    <a:p>
                      <a:pPr algn="l"/>
                      <a:r>
                        <a:rPr sz="1400" b="1" i="0">
                          <a:solidFill>
                            <a:srgbClr val="3A3A3A"/>
                          </a:solidFill>
                          <a:latin typeface="Segoe UI"/>
                          <a:ea typeface="Segoe UI"/>
                          <a:cs typeface="Segoe UI"/>
                        </a:rPr>
                        <a:t>71</a:t>
                      </a:r>
                    </a:p>
                  </a:txBody>
                  <a:tcPr>
                    <a:solidFill>
                      <a:srgbClr val="F5F3FF"/>
                    </a:solidFill>
                  </a:tcPr>
                </a:tc>
                <a:tc>
                  <a:txBody>
                    <a:bodyPr/>
                    <a:lstStyle/>
                    <a:p>
                      <a:pPr algn="l"/>
                      <a:r>
                        <a:rPr sz="1400" b="0" i="0">
                          <a:solidFill>
                            <a:srgbClr val="3A3A3A"/>
                          </a:solidFill>
                          <a:latin typeface="Segoe UI"/>
                          <a:ea typeface="Segoe UI"/>
                          <a:cs typeface="Segoe UI"/>
                        </a:rPr>
                        <a:t>–</a:t>
                      </a:r>
                    </a:p>
                  </a:txBody>
                  <a:tcPr>
                    <a:solidFill>
                      <a:srgbClr val="F5F3FF"/>
                    </a:solidFill>
                  </a:tcPr>
                </a:tc>
                <a:tc>
                  <a:txBody>
                    <a:bodyPr/>
                    <a:lstStyle/>
                    <a:p>
                      <a:pPr algn="l"/>
                      <a:r>
                        <a:rPr sz="1400" b="0" i="0">
                          <a:solidFill>
                            <a:srgbClr val="3A3A3A"/>
                          </a:solidFill>
                          <a:latin typeface="Segoe UI"/>
                          <a:ea typeface="Segoe UI"/>
                          <a:cs typeface="Segoe UI"/>
                        </a:rPr>
                        <a:t>Partial; includes the 6th epic's last 10 points</a:t>
                      </a:r>
                    </a:p>
                  </a:txBody>
                  <a:tcPr>
                    <a:solidFill>
                      <a:srgbClr val="F5F3FF"/>
                    </a:solidFill>
                  </a:tcPr>
                </a:tc>
                <a:extLst>
                  <a:ext uri="{0D108BD9-81ED-4DB2-BD59-A6C34878D82A}">
                    <a16:rowId xmlns:a16="http://schemas.microsoft.com/office/drawing/2014/main" val="10005"/>
                  </a:ext>
                </a:extLst>
              </a:tr>
            </a:tbl>
          </a:graphicData>
        </a:graphic>
      </p:graphicFrame>
      <p:sp>
        <p:nvSpPr>
          <p:cNvPr id="9003" name="TextBox 9002"/>
          <p:cNvSpPr txBox="1"/>
          <p:nvPr/>
        </p:nvSpPr>
        <p:spPr>
          <a:xfrm>
            <a:off x="841248" y="4773168"/>
            <a:ext cx="6400800" cy="320040"/>
          </a:xfrm>
          <a:prstGeom prst="rect">
            <a:avLst/>
          </a:prstGeom>
          <a:noFill/>
        </p:spPr>
        <p:txBody>
          <a:bodyPr wrap="square" lIns="0" tIns="0" rIns="0" bIns="0" anchor="t">
            <a:noAutofit/>
          </a:bodyPr>
          <a:lstStyle/>
          <a:p>
            <a:pPr algn="l"/>
            <a:r>
              <a:rPr sz="1400" b="0" i="1">
                <a:solidFill>
                  <a:srgbClr val="5F6670"/>
                </a:solidFill>
                <a:latin typeface="Segoe UI"/>
                <a:ea typeface="Segoe UI"/>
                <a:cs typeface="Segoe UI"/>
              </a:rPr>
              <a:t>– Issue counts were summarized for the three FY26 PIs only.</a:t>
            </a:r>
          </a:p>
        </p:txBody>
      </p:sp>
      <p:sp>
        <p:nvSpPr>
          <p:cNvPr id="9004" name="TextBox 9003"/>
          <p:cNvSpPr txBox="1"/>
          <p:nvPr/>
        </p:nvSpPr>
        <p:spPr>
          <a:xfrm>
            <a:off x="841248" y="5138928"/>
            <a:ext cx="6400800" cy="777240"/>
          </a:xfrm>
          <a:prstGeom prst="rect">
            <a:avLst/>
          </a:prstGeom>
          <a:noFill/>
        </p:spPr>
        <p:txBody>
          <a:bodyPr wrap="square" lIns="0" tIns="0" rIns="0" bIns="0" anchor="t">
            <a:noAutofit/>
          </a:bodyPr>
          <a:lstStyle/>
          <a:p>
            <a:pPr algn="l"/>
            <a:r>
              <a:rPr sz="1400" b="1" i="0">
                <a:solidFill>
                  <a:srgbClr val="2E1065"/>
                </a:solidFill>
                <a:latin typeface="Segoe UI"/>
                <a:ea typeface="Segoe UI"/>
                <a:cs typeface="Segoe UI"/>
              </a:rPr>
              <a:t>Coverage by project: </a:t>
            </a:r>
            <a:r>
              <a:rPr sz="1400" b="0" i="0">
                <a:solidFill>
                  <a:srgbClr val="3A3A3A"/>
                </a:solidFill>
                <a:latin typeface="Segoe UI"/>
                <a:ea typeface="Segoe UI"/>
                <a:cs typeface="Segoe UI"/>
              </a:rPr>
              <a:t>shipped components are highest (rules-testing 86%, CodeScan scanner 97%); a few internal helper toolkits are 44–58%. Overall 79% across 8 projects.</a:t>
            </a:r>
          </a:p>
        </p:txBody>
      </p:sp>
      <p:sp>
        <p:nvSpPr>
          <p:cNvPr id="9005" name="Method"/>
          <p:cNvSpPr/>
          <p:nvPr/>
        </p:nvSpPr>
        <p:spPr>
          <a:xfrm>
            <a:off x="7543800" y="1691640"/>
            <a:ext cx="3813048" cy="420624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6" name="TextBox 9005"/>
          <p:cNvSpPr txBox="1"/>
          <p:nvPr/>
        </p:nvSpPr>
        <p:spPr>
          <a:xfrm>
            <a:off x="7726679" y="1801368"/>
            <a:ext cx="3474720" cy="320040"/>
          </a:xfrm>
          <a:prstGeom prst="rect">
            <a:avLst/>
          </a:prstGeom>
          <a:noFill/>
        </p:spPr>
        <p:txBody>
          <a:bodyPr wrap="square" lIns="0" tIns="0" rIns="0" bIns="0" anchor="t">
            <a:noAutofit/>
          </a:bodyPr>
          <a:lstStyle/>
          <a:p>
            <a:pPr algn="l"/>
            <a:r>
              <a:rPr sz="1600" b="1" i="0">
                <a:solidFill>
                  <a:srgbClr val="2E1065"/>
                </a:solidFill>
                <a:latin typeface="Segoe UI"/>
                <a:ea typeface="Segoe UI"/>
                <a:cs typeface="Segoe UI"/>
              </a:rPr>
              <a:t>How these are counted</a:t>
            </a:r>
          </a:p>
        </p:txBody>
      </p:sp>
      <p:sp>
        <p:nvSpPr>
          <p:cNvPr id="9007" name="TextBox 9006"/>
          <p:cNvSpPr txBox="1"/>
          <p:nvPr/>
        </p:nvSpPr>
        <p:spPr>
          <a:xfrm>
            <a:off x="7726679" y="2176272"/>
            <a:ext cx="3520440" cy="3657600"/>
          </a:xfrm>
          <a:prstGeom prst="rect">
            <a:avLst/>
          </a:prstGeom>
          <a:noFill/>
        </p:spPr>
        <p:txBody>
          <a:bodyPr wrap="square" lIns="0" tIns="0" rIns="0" bIns="0" anchor="t">
            <a:noAutofit/>
          </a:bodyPr>
          <a:lstStyle/>
          <a:p>
            <a:pPr marL="256032" indent="-256032" algn="l">
              <a:spcAft>
                <a:spcPts val="500"/>
              </a:spcAft>
              <a:buClr>
                <a:srgbClr val="7C3AED"/>
              </a:buClr>
              <a:buFont typeface="Arial"/>
              <a:buChar char="•"/>
            </a:pPr>
            <a:r>
              <a:rPr sz="1400" b="0" i="0">
                <a:solidFill>
                  <a:srgbClr val="3A3A3A"/>
                </a:solidFill>
                <a:latin typeface="Segoe UI"/>
                <a:ea typeface="Segoe UI"/>
                <a:cs typeface="Segoe UI"/>
              </a:rPr>
              <a:t>Person: me only. Every comparison is me-then vs. me-now.</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Closed = has a resolution, dated 2025-01-01 or later.</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Unpointed items: 3 points for a story, task, or spike; 2 for a bug.</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Baseline ~21 points per PI: average of FY25 PI-2, FY25 PI-3, FY26 PI-1.</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Target 52 points per PI assumes ~50% of time on project work.</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Median story size went 2 → 3 → 5: stayed in a reviewable range.</a:t>
            </a:r>
          </a:p>
          <a:p>
            <a:pPr marL="256032" indent="-256032" algn="l">
              <a:spcAft>
                <a:spcPts val="500"/>
              </a:spcAft>
              <a:buClr>
                <a:srgbClr val="7C3AED"/>
              </a:buClr>
              <a:buFont typeface="Arial"/>
              <a:buChar char="•"/>
            </a:pPr>
            <a:r>
              <a:rPr sz="1400" b="0" i="0">
                <a:solidFill>
                  <a:srgbClr val="3A3A3A"/>
                </a:solidFill>
                <a:latin typeface="Segoe UI"/>
                <a:ea typeface="Segoe UI"/>
                <a:cs typeface="Segoe UI"/>
              </a:rPr>
              <a:t>6th epic: 16 of 26 points closed 9/28 (in the 263); the held rollout's 10 closed 10/1. All in PI-3 would read 273.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Why I don't headline cycle time</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4</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24</a:t>
            </a:fld>
            <a:endParaRPr lang="en-US"/>
          </a:p>
        </p:txBody>
      </p:sp>
      <p:sp>
        <p:nvSpPr>
          <p:cNvPr id="9002" name="TextBox 9001"/>
          <p:cNvSpPr txBox="1"/>
          <p:nvPr/>
        </p:nvSpPr>
        <p:spPr>
          <a:xfrm>
            <a:off x="841248" y="1691640"/>
            <a:ext cx="10515600" cy="914400"/>
          </a:xfrm>
          <a:prstGeom prst="rect">
            <a:avLst/>
          </a:prstGeom>
          <a:noFill/>
        </p:spPr>
        <p:txBody>
          <a:bodyPr wrap="square" lIns="0" tIns="0" rIns="0" bIns="0" anchor="t">
            <a:noAutofit/>
          </a:bodyPr>
          <a:lstStyle/>
          <a:p>
            <a:pPr algn="l"/>
            <a:r>
              <a:rPr sz="2000" b="1" i="0">
                <a:solidFill>
                  <a:srgbClr val="2E1065"/>
                </a:solidFill>
                <a:latin typeface="Segoe UI"/>
                <a:ea typeface="Segoe UI"/>
                <a:cs typeface="Segoe UI"/>
              </a:rPr>
              <a:t>In this workflow, when an item moves to In Progress or gets closed is often a scheduling or batch-bookkeeping decision, not a measure of how fast the work went.</a:t>
            </a:r>
          </a:p>
        </p:txBody>
      </p:sp>
      <p:sp>
        <p:nvSpPr>
          <p:cNvPr id="9003" name="CT0"/>
          <p:cNvSpPr/>
          <p:nvPr/>
        </p:nvSpPr>
        <p:spPr>
          <a:xfrm>
            <a:off x="841248" y="2834640"/>
            <a:ext cx="3346704" cy="23317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4" name="Oval 9003"/>
          <p:cNvSpPr/>
          <p:nvPr/>
        </p:nvSpPr>
        <p:spPr>
          <a:xfrm>
            <a:off x="1069848" y="3017520"/>
            <a:ext cx="603504" cy="6035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5" name="Picture 9004" descr="Batch closes icon"/>
          <p:cNvPicPr>
            <a:picLocks noChangeAspect="1"/>
          </p:cNvPicPr>
          <p:nvPr/>
        </p:nvPicPr>
        <p:blipFill>
          <a:blip r:embed="rId3"/>
          <a:stretch>
            <a:fillRect/>
          </a:stretch>
        </p:blipFill>
        <p:spPr>
          <a:xfrm>
            <a:off x="1202618" y="3150290"/>
            <a:ext cx="337962" cy="337962"/>
          </a:xfrm>
          <a:prstGeom prst="rect">
            <a:avLst/>
          </a:prstGeom>
        </p:spPr>
      </p:pic>
      <p:sp>
        <p:nvSpPr>
          <p:cNvPr id="9006" name="TextBox 9005"/>
          <p:cNvSpPr txBox="1"/>
          <p:nvPr/>
        </p:nvSpPr>
        <p:spPr>
          <a:xfrm>
            <a:off x="1801368" y="3017520"/>
            <a:ext cx="2286000" cy="603504"/>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Batch closes</a:t>
            </a:r>
          </a:p>
        </p:txBody>
      </p:sp>
      <p:sp>
        <p:nvSpPr>
          <p:cNvPr id="9007" name="TextBox 9006"/>
          <p:cNvSpPr txBox="1"/>
          <p:nvPr/>
        </p:nvSpPr>
        <p:spPr>
          <a:xfrm>
            <a:off x="1069848" y="3749039"/>
            <a:ext cx="2926080" cy="132588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Closing items together creates artificial clusters of identical "durations."</a:t>
            </a:r>
          </a:p>
        </p:txBody>
      </p:sp>
      <p:sp>
        <p:nvSpPr>
          <p:cNvPr id="9008" name="CT1"/>
          <p:cNvSpPr/>
          <p:nvPr/>
        </p:nvSpPr>
        <p:spPr>
          <a:xfrm>
            <a:off x="4425696" y="2834640"/>
            <a:ext cx="3346704" cy="2331720"/>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9" name="Oval 9008"/>
          <p:cNvSpPr/>
          <p:nvPr/>
        </p:nvSpPr>
        <p:spPr>
          <a:xfrm>
            <a:off x="4654296" y="3017520"/>
            <a:ext cx="603504" cy="6035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0" name="Picture 9009" descr="Vendor-gated fixes icon"/>
          <p:cNvPicPr>
            <a:picLocks noChangeAspect="1"/>
          </p:cNvPicPr>
          <p:nvPr/>
        </p:nvPicPr>
        <p:blipFill>
          <a:blip r:embed="rId4"/>
          <a:stretch>
            <a:fillRect/>
          </a:stretch>
        </p:blipFill>
        <p:spPr>
          <a:xfrm>
            <a:off x="4787066" y="3150290"/>
            <a:ext cx="337962" cy="337962"/>
          </a:xfrm>
          <a:prstGeom prst="rect">
            <a:avLst/>
          </a:prstGeom>
        </p:spPr>
      </p:pic>
      <p:sp>
        <p:nvSpPr>
          <p:cNvPr id="9011" name="TextBox 9010"/>
          <p:cNvSpPr txBox="1"/>
          <p:nvPr/>
        </p:nvSpPr>
        <p:spPr>
          <a:xfrm>
            <a:off x="5385816" y="3017520"/>
            <a:ext cx="2286000" cy="603504"/>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Vendor-gated fixes</a:t>
            </a:r>
          </a:p>
        </p:txBody>
      </p:sp>
      <p:sp>
        <p:nvSpPr>
          <p:cNvPr id="9012" name="TextBox 9011"/>
          <p:cNvSpPr txBox="1"/>
          <p:nvPr/>
        </p:nvSpPr>
        <p:spPr>
          <a:xfrm>
            <a:off x="4654296" y="3749039"/>
            <a:ext cx="2926080" cy="1325880"/>
          </a:xfrm>
          <a:prstGeom prst="rect">
            <a:avLst/>
          </a:prstGeom>
          <a:noFill/>
        </p:spPr>
        <p:txBody>
          <a:bodyPr wrap="square" lIns="0" tIns="0" rIns="0" bIns="0" anchor="t">
            <a:noAutofit/>
          </a:bodyPr>
          <a:lstStyle/>
          <a:p>
            <a:pPr algn="l"/>
            <a:r>
              <a:rPr sz="1600" b="0" i="0" dirty="0">
                <a:solidFill>
                  <a:srgbClr val="3A3A3A"/>
                </a:solidFill>
                <a:latin typeface="Segoe UI"/>
                <a:ea typeface="Segoe UI"/>
                <a:cs typeface="Segoe UI"/>
              </a:rPr>
              <a:t>Some rule fixes waited 300+ days on the vendor's release calendar, not ours.</a:t>
            </a:r>
          </a:p>
        </p:txBody>
      </p:sp>
      <p:sp>
        <p:nvSpPr>
          <p:cNvPr id="9013" name="CT2"/>
          <p:cNvSpPr/>
          <p:nvPr/>
        </p:nvSpPr>
        <p:spPr>
          <a:xfrm>
            <a:off x="8010144" y="2834640"/>
            <a:ext cx="3346704" cy="2331720"/>
          </a:xfrm>
          <a:prstGeom prst="roundRect">
            <a:avLst>
              <a:gd name="adj" fmla="val 6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4" name="Oval 9013"/>
          <p:cNvSpPr/>
          <p:nvPr/>
        </p:nvSpPr>
        <p:spPr>
          <a:xfrm>
            <a:off x="8238744" y="3017520"/>
            <a:ext cx="603504" cy="603504"/>
          </a:xfrm>
          <a:prstGeom prst="ellipse">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5" name="Picture 9014" descr="What I report instead icon"/>
          <p:cNvPicPr>
            <a:picLocks noChangeAspect="1"/>
          </p:cNvPicPr>
          <p:nvPr/>
        </p:nvPicPr>
        <p:blipFill>
          <a:blip r:embed="rId5"/>
          <a:stretch>
            <a:fillRect/>
          </a:stretch>
        </p:blipFill>
        <p:spPr>
          <a:xfrm>
            <a:off x="8371514" y="3150290"/>
            <a:ext cx="337962" cy="337962"/>
          </a:xfrm>
          <a:prstGeom prst="rect">
            <a:avLst/>
          </a:prstGeom>
        </p:spPr>
      </p:pic>
      <p:sp>
        <p:nvSpPr>
          <p:cNvPr id="9016" name="TextBox 9015"/>
          <p:cNvSpPr txBox="1"/>
          <p:nvPr/>
        </p:nvSpPr>
        <p:spPr>
          <a:xfrm>
            <a:off x="8970264" y="3017520"/>
            <a:ext cx="2286000" cy="603504"/>
          </a:xfrm>
          <a:prstGeom prst="rect">
            <a:avLst/>
          </a:prstGeom>
          <a:noFill/>
        </p:spPr>
        <p:txBody>
          <a:bodyPr wrap="square" lIns="0" tIns="0" rIns="0" bIns="0" anchor="ctr">
            <a:noAutofit/>
          </a:bodyPr>
          <a:lstStyle/>
          <a:p>
            <a:pPr algn="l"/>
            <a:r>
              <a:rPr sz="1800" b="1" i="0">
                <a:solidFill>
                  <a:srgbClr val="FFFFFF"/>
                </a:solidFill>
                <a:latin typeface="Segoe UI"/>
                <a:ea typeface="Segoe UI"/>
                <a:cs typeface="Segoe UI"/>
              </a:rPr>
              <a:t>What I report instead</a:t>
            </a:r>
          </a:p>
        </p:txBody>
      </p:sp>
      <p:sp>
        <p:nvSpPr>
          <p:cNvPr id="9017" name="TextBox 9016"/>
          <p:cNvSpPr txBox="1"/>
          <p:nvPr/>
        </p:nvSpPr>
        <p:spPr>
          <a:xfrm>
            <a:off x="8238744" y="3749039"/>
            <a:ext cx="2926080" cy="1325880"/>
          </a:xfrm>
          <a:prstGeom prst="rect">
            <a:avLst/>
          </a:prstGeom>
          <a:noFill/>
        </p:spPr>
        <p:txBody>
          <a:bodyPr wrap="square" lIns="0" tIns="0" rIns="0" bIns="0" anchor="t">
            <a:noAutofit/>
          </a:bodyPr>
          <a:lstStyle/>
          <a:p>
            <a:pPr algn="l"/>
            <a:r>
              <a:rPr sz="1600" b="0" i="0">
                <a:solidFill>
                  <a:srgbClr val="FFFFFF"/>
                </a:solidFill>
                <a:latin typeface="Segoe UI"/>
                <a:ea typeface="Segoe UI"/>
                <a:cs typeface="Segoe UI"/>
              </a:rPr>
              <a:t>Throughput, git artifacts, and live test coverage: measures I can defend.</a:t>
            </a:r>
          </a:p>
        </p:txBody>
      </p:sp>
      <p:sp>
        <p:nvSpPr>
          <p:cNvPr id="9018" name="TextBox 9017"/>
          <p:cNvSpPr txBox="1"/>
          <p:nvPr/>
        </p:nvSpPr>
        <p:spPr>
          <a:xfrm>
            <a:off x="841248" y="5394960"/>
            <a:ext cx="10515600" cy="457200"/>
          </a:xfrm>
          <a:prstGeom prst="rect">
            <a:avLst/>
          </a:prstGeom>
          <a:noFill/>
        </p:spPr>
        <p:txBody>
          <a:bodyPr wrap="square" lIns="0" tIns="0" rIns="0" bIns="0" anchor="t">
            <a:noAutofit/>
          </a:bodyPr>
          <a:lstStyle/>
          <a:p>
            <a:pPr algn="l"/>
            <a:r>
              <a:rPr sz="1600" b="0" i="1">
                <a:solidFill>
                  <a:srgbClr val="5F6670"/>
                </a:solidFill>
                <a:latin typeface="Segoe UI"/>
                <a:ea typeface="Segoe UI"/>
                <a:cs typeface="Segoe UI"/>
              </a:rPr>
              <a:t>Cycle and lead time are available with this caveat attached. Two honest measures beat one contaminated number.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TDD §5.0: one daily run, as a flowchart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5</a:t>
            </a:r>
            <a:r>
              <a:rPr sz="1400" b="1" i="0" dirty="0">
                <a:solidFill>
                  <a:srgbClr val="DB2777"/>
                </a:solidFill>
                <a:latin typeface="Segoe UI"/>
                <a:ea typeface="Segoe UI"/>
                <a:cs typeface="Segoe UI"/>
              </a:rPr>
              <a:t> · A REAL ARTIFACT</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25</a:t>
            </a:fld>
            <a:endParaRPr lang="en-US"/>
          </a:p>
        </p:txBody>
      </p:sp>
      <p:sp>
        <p:nvSpPr>
          <p:cNvPr id="9002" name="Rounded Rectangle 9001"/>
          <p:cNvSpPr/>
          <p:nvPr/>
        </p:nvSpPr>
        <p:spPr>
          <a:xfrm>
            <a:off x="685800" y="1645920"/>
            <a:ext cx="2651760" cy="384048"/>
          </a:xfrm>
          <a:prstGeom prst="roundRect">
            <a:avLst>
              <a:gd name="adj" fmla="val 50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r>
              <a:rPr sz="1400" b="1" i="0">
                <a:solidFill>
                  <a:srgbClr val="FFFFFF"/>
                </a:solidFill>
                <a:latin typeface="Segoe UI"/>
                <a:ea typeface="Segoe UI"/>
                <a:cs typeface="Segoe UI"/>
              </a:rPr>
              <a:t>A. Daily schedule fires</a:t>
            </a:r>
          </a:p>
        </p:txBody>
      </p:sp>
      <p:sp>
        <p:nvSpPr>
          <p:cNvPr id="9003" name="Rectangle 9002"/>
          <p:cNvSpPr/>
          <p:nvPr/>
        </p:nvSpPr>
        <p:spPr>
          <a:xfrm>
            <a:off x="685800" y="2240280"/>
            <a:ext cx="2651760" cy="38404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B. List services</a:t>
            </a:r>
          </a:p>
        </p:txBody>
      </p:sp>
      <p:sp>
        <p:nvSpPr>
          <p:cNvPr id="9004" name="Rectangle 9003"/>
          <p:cNvSpPr/>
          <p:nvPr/>
        </p:nvSpPr>
        <p:spPr>
          <a:xfrm>
            <a:off x="685800" y="2834640"/>
            <a:ext cx="2651760" cy="38404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C. Read counts for each service</a:t>
            </a:r>
          </a:p>
        </p:txBody>
      </p:sp>
      <p:sp>
        <p:nvSpPr>
          <p:cNvPr id="9005" name="Diamond 9004"/>
          <p:cNvSpPr/>
          <p:nvPr/>
        </p:nvSpPr>
        <p:spPr>
          <a:xfrm>
            <a:off x="777240" y="3401568"/>
            <a:ext cx="2468880" cy="914400"/>
          </a:xfrm>
          <a:prstGeom prst="diamond">
            <a:avLst/>
          </a:prstGeom>
          <a:solidFill>
            <a:srgbClr val="FFFFFF"/>
          </a:solidFill>
          <a:ln w="19050">
            <a:solidFill>
              <a:srgbClr val="DB2777"/>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r>
              <a:rPr sz="1400" b="1" i="0">
                <a:solidFill>
                  <a:srgbClr val="2E1065"/>
                </a:solidFill>
                <a:latin typeface="Segoe UI"/>
                <a:ea typeface="Segoe UI"/>
                <a:cs typeface="Segoe UI"/>
              </a:rPr>
              <a:t>D. Today's partition exists?</a:t>
            </a:r>
          </a:p>
        </p:txBody>
      </p:sp>
      <p:cxnSp>
        <p:nvCxnSpPr>
          <p:cNvPr id="9006" name="Connector 9005"/>
          <p:cNvCxnSpPr/>
          <p:nvPr/>
        </p:nvCxnSpPr>
        <p:spPr>
          <a:xfrm>
            <a:off x="2011680" y="2029968"/>
            <a:ext cx="0" cy="210312"/>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07" name="Connector 9006"/>
          <p:cNvCxnSpPr/>
          <p:nvPr/>
        </p:nvCxnSpPr>
        <p:spPr>
          <a:xfrm>
            <a:off x="2011680" y="2624328"/>
            <a:ext cx="0" cy="210312"/>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08" name="Connector 9007"/>
          <p:cNvCxnSpPr/>
          <p:nvPr/>
        </p:nvCxnSpPr>
        <p:spPr>
          <a:xfrm>
            <a:off x="2011680" y="3218688"/>
            <a:ext cx="0" cy="18288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09" name="Rectangle 9008"/>
          <p:cNvSpPr/>
          <p:nvPr/>
        </p:nvSpPr>
        <p:spPr>
          <a:xfrm>
            <a:off x="841248" y="4800600"/>
            <a:ext cx="1965960" cy="56692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E. Write today's partition</a:t>
            </a:r>
          </a:p>
        </p:txBody>
      </p:sp>
      <p:sp>
        <p:nvSpPr>
          <p:cNvPr id="9010" name="Rectangle 9009"/>
          <p:cNvSpPr/>
          <p:nvPr/>
        </p:nvSpPr>
        <p:spPr>
          <a:xfrm>
            <a:off x="3017520" y="4800600"/>
            <a:ext cx="1965960" cy="56692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F. Keep the existing partition</a:t>
            </a:r>
          </a:p>
        </p:txBody>
      </p:sp>
      <p:cxnSp>
        <p:nvCxnSpPr>
          <p:cNvPr id="9011" name="Connector 9010"/>
          <p:cNvCxnSpPr/>
          <p:nvPr/>
        </p:nvCxnSpPr>
        <p:spPr>
          <a:xfrm>
            <a:off x="1188720" y="4069080"/>
            <a:ext cx="640080" cy="73152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2" name="TextBox 9011"/>
          <p:cNvSpPr txBox="1"/>
          <p:nvPr/>
        </p:nvSpPr>
        <p:spPr>
          <a:xfrm>
            <a:off x="914400" y="4160520"/>
            <a:ext cx="54864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No</a:t>
            </a:r>
          </a:p>
        </p:txBody>
      </p:sp>
      <p:cxnSp>
        <p:nvCxnSpPr>
          <p:cNvPr id="9013" name="Connector 9012"/>
          <p:cNvCxnSpPr/>
          <p:nvPr/>
        </p:nvCxnSpPr>
        <p:spPr>
          <a:xfrm>
            <a:off x="2834640" y="4069080"/>
            <a:ext cx="1170432" cy="73152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4" name="TextBox 9013"/>
          <p:cNvSpPr txBox="1"/>
          <p:nvPr/>
        </p:nvSpPr>
        <p:spPr>
          <a:xfrm>
            <a:off x="3520440" y="4160520"/>
            <a:ext cx="54864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Yes</a:t>
            </a:r>
          </a:p>
        </p:txBody>
      </p:sp>
      <p:sp>
        <p:nvSpPr>
          <p:cNvPr id="9015" name="Rectangle 9014"/>
          <p:cNvSpPr/>
          <p:nvPr/>
        </p:nvSpPr>
        <p:spPr>
          <a:xfrm>
            <a:off x="5212079" y="1645920"/>
            <a:ext cx="2926080" cy="56692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G. Rebuild rollup from all partitions</a:t>
            </a:r>
          </a:p>
        </p:txBody>
      </p:sp>
      <p:cxnSp>
        <p:nvCxnSpPr>
          <p:cNvPr id="9016" name="Connector 9015"/>
          <p:cNvCxnSpPr/>
          <p:nvPr/>
        </p:nvCxnSpPr>
        <p:spPr>
          <a:xfrm>
            <a:off x="1828800" y="5367528"/>
            <a:ext cx="0" cy="347472"/>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17" name="Connector 9016"/>
          <p:cNvCxnSpPr/>
          <p:nvPr/>
        </p:nvCxnSpPr>
        <p:spPr>
          <a:xfrm>
            <a:off x="4005072" y="5367528"/>
            <a:ext cx="0" cy="347472"/>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18" name="Connector 9017"/>
          <p:cNvCxnSpPr/>
          <p:nvPr/>
        </p:nvCxnSpPr>
        <p:spPr>
          <a:xfrm>
            <a:off x="1828800" y="5715000"/>
            <a:ext cx="3108960" cy="0"/>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19" name="Connector 9018"/>
          <p:cNvCxnSpPr/>
          <p:nvPr/>
        </p:nvCxnSpPr>
        <p:spPr>
          <a:xfrm flipV="1">
            <a:off x="4937760" y="1929384"/>
            <a:ext cx="0" cy="3785616"/>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20" name="Connector 9019"/>
          <p:cNvCxnSpPr/>
          <p:nvPr/>
        </p:nvCxnSpPr>
        <p:spPr>
          <a:xfrm>
            <a:off x="4937760" y="1929384"/>
            <a:ext cx="274319" cy="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1" name="Diamond 9020"/>
          <p:cNvSpPr/>
          <p:nvPr/>
        </p:nvSpPr>
        <p:spPr>
          <a:xfrm>
            <a:off x="5440679" y="2514600"/>
            <a:ext cx="2468880" cy="914400"/>
          </a:xfrm>
          <a:prstGeom prst="diamond">
            <a:avLst/>
          </a:prstGeom>
          <a:solidFill>
            <a:srgbClr val="FFFFFF"/>
          </a:solidFill>
          <a:ln w="19050">
            <a:solidFill>
              <a:srgbClr val="DB2777"/>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r>
              <a:rPr sz="1400" b="1" i="0">
                <a:solidFill>
                  <a:srgbClr val="2E1065"/>
                </a:solidFill>
                <a:latin typeface="Segoe UI"/>
                <a:ea typeface="Segoe UI"/>
                <a:cs typeface="Segoe UI"/>
              </a:rPr>
              <a:t>H. Anything changed?</a:t>
            </a:r>
          </a:p>
        </p:txBody>
      </p:sp>
      <p:cxnSp>
        <p:nvCxnSpPr>
          <p:cNvPr id="9022" name="Connector 9021"/>
          <p:cNvCxnSpPr/>
          <p:nvPr/>
        </p:nvCxnSpPr>
        <p:spPr>
          <a:xfrm>
            <a:off x="6675120" y="2212848"/>
            <a:ext cx="0" cy="301752"/>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3" name="Rectangle 9022"/>
          <p:cNvSpPr/>
          <p:nvPr/>
        </p:nvSpPr>
        <p:spPr>
          <a:xfrm>
            <a:off x="5212079" y="3886200"/>
            <a:ext cx="2926080" cy="566928"/>
          </a:xfrm>
          <a:prstGeom prst="rect">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0" i="0">
                <a:solidFill>
                  <a:srgbClr val="2E1065"/>
                </a:solidFill>
                <a:latin typeface="Segoe UI"/>
                <a:ea typeface="Segoe UI"/>
                <a:cs typeface="Segoe UI"/>
              </a:rPr>
              <a:t>I. Commit data and deploy dashboard</a:t>
            </a:r>
          </a:p>
        </p:txBody>
      </p:sp>
      <p:cxnSp>
        <p:nvCxnSpPr>
          <p:cNvPr id="9024" name="Connector 9023"/>
          <p:cNvCxnSpPr/>
          <p:nvPr/>
        </p:nvCxnSpPr>
        <p:spPr>
          <a:xfrm>
            <a:off x="6675120" y="3429000"/>
            <a:ext cx="0" cy="45720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5" name="TextBox 9024"/>
          <p:cNvSpPr txBox="1"/>
          <p:nvPr/>
        </p:nvSpPr>
        <p:spPr>
          <a:xfrm>
            <a:off x="6766559" y="3520440"/>
            <a:ext cx="54864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Yes</a:t>
            </a:r>
          </a:p>
        </p:txBody>
      </p:sp>
      <p:sp>
        <p:nvSpPr>
          <p:cNvPr id="9026" name="Rounded Rectangle 9025"/>
          <p:cNvSpPr/>
          <p:nvPr/>
        </p:nvSpPr>
        <p:spPr>
          <a:xfrm>
            <a:off x="5577840" y="4846320"/>
            <a:ext cx="2194560" cy="411480"/>
          </a:xfrm>
          <a:prstGeom prst="roundRect">
            <a:avLst>
              <a:gd name="adj" fmla="val 50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ctr"/>
            <a:r>
              <a:rPr sz="1400" b="1" i="0">
                <a:solidFill>
                  <a:srgbClr val="FFFFFF"/>
                </a:solidFill>
                <a:latin typeface="Segoe UI"/>
                <a:ea typeface="Segoe UI"/>
                <a:cs typeface="Segoe UI"/>
              </a:rPr>
              <a:t>J. Run ends</a:t>
            </a:r>
          </a:p>
        </p:txBody>
      </p:sp>
      <p:cxnSp>
        <p:nvCxnSpPr>
          <p:cNvPr id="9027" name="Connector 9026"/>
          <p:cNvCxnSpPr/>
          <p:nvPr/>
        </p:nvCxnSpPr>
        <p:spPr>
          <a:xfrm>
            <a:off x="6675120" y="4453128"/>
            <a:ext cx="0" cy="393192"/>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28" name="Connector 9027"/>
          <p:cNvCxnSpPr/>
          <p:nvPr/>
        </p:nvCxnSpPr>
        <p:spPr>
          <a:xfrm>
            <a:off x="7909560" y="2971800"/>
            <a:ext cx="594360" cy="0"/>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29" name="Connector 9028"/>
          <p:cNvCxnSpPr/>
          <p:nvPr/>
        </p:nvCxnSpPr>
        <p:spPr>
          <a:xfrm>
            <a:off x="8503920" y="2971800"/>
            <a:ext cx="0" cy="2075688"/>
          </a:xfrm>
          <a:prstGeom prst="line">
            <a:avLst/>
          </a:prstGeom>
          <a:ln w="1905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30" name="Connector 9029"/>
          <p:cNvCxnSpPr/>
          <p:nvPr/>
        </p:nvCxnSpPr>
        <p:spPr>
          <a:xfrm flipH="1">
            <a:off x="7772400" y="5047488"/>
            <a:ext cx="731520" cy="0"/>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1" name="TextBox 9030"/>
          <p:cNvSpPr txBox="1"/>
          <p:nvPr/>
        </p:nvSpPr>
        <p:spPr>
          <a:xfrm>
            <a:off x="8577072" y="3017520"/>
            <a:ext cx="548640" cy="274320"/>
          </a:xfrm>
          <a:prstGeom prst="rect">
            <a:avLst/>
          </a:prstGeom>
          <a:noFill/>
        </p:spPr>
        <p:txBody>
          <a:bodyPr wrap="square" lIns="0" tIns="0" rIns="0" bIns="0" anchor="t">
            <a:noAutofit/>
          </a:bodyPr>
          <a:lstStyle/>
          <a:p>
            <a:pPr algn="l"/>
            <a:r>
              <a:rPr sz="1400" b="1" i="0">
                <a:solidFill>
                  <a:srgbClr val="DB2777"/>
                </a:solidFill>
                <a:latin typeface="Segoe UI"/>
                <a:ea typeface="Segoe UI"/>
                <a:cs typeface="Segoe UI"/>
              </a:rPr>
              <a:t>No</a:t>
            </a:r>
          </a:p>
        </p:txBody>
      </p:sp>
      <p:sp>
        <p:nvSpPr>
          <p:cNvPr id="9032" name="DocRule"/>
          <p:cNvSpPr/>
          <p:nvPr/>
        </p:nvSpPr>
        <p:spPr>
          <a:xfrm>
            <a:off x="9006840" y="1645920"/>
            <a:ext cx="2350008" cy="42519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64592" bIns="54864" rtlCol="0" anchor="t">
            <a:noAutofit/>
          </a:bodyPr>
          <a:lstStyle/>
          <a:p>
            <a:pPr algn="l">
              <a:spcAft>
                <a:spcPts val="800"/>
              </a:spcAft>
            </a:pPr>
            <a:r>
              <a:rPr sz="1600" b="1" i="0">
                <a:solidFill>
                  <a:srgbClr val="2E1065"/>
                </a:solidFill>
                <a:latin typeface="Segoe UI"/>
                <a:ea typeface="Segoe UI"/>
                <a:cs typeface="Segoe UI"/>
              </a:rPr>
              <a:t>The two-part doc rule</a:t>
            </a:r>
          </a:p>
          <a:p>
            <a:pPr algn="l">
              <a:spcAft>
                <a:spcPts val="800"/>
              </a:spcAft>
            </a:pPr>
            <a:r>
              <a:rPr sz="1400" b="0" i="0">
                <a:solidFill>
                  <a:srgbClr val="3A3A3A"/>
                </a:solidFill>
                <a:latin typeface="Segoe UI"/>
                <a:ea typeface="Segoe UI"/>
                <a:cs typeface="Segoe UI"/>
              </a:rPr>
              <a:t>Every process is documented twice: this flowchart, then a walkthrough table that narrates it.</a:t>
            </a:r>
          </a:p>
          <a:p>
            <a:pPr algn="l">
              <a:spcAft>
                <a:spcPts val="800"/>
              </a:spcAft>
            </a:pPr>
            <a:r>
              <a:rPr sz="1400" b="0" i="0">
                <a:solidFill>
                  <a:srgbClr val="3A3A3A"/>
                </a:solidFill>
                <a:latin typeface="Segoe UI"/>
                <a:ea typeface="Segoe UI"/>
                <a:cs typeface="Segoe UI"/>
              </a:rPr>
              <a:t>Each node has a stable ID (A, B, C…) so boxes and table rows match.</a:t>
            </a:r>
          </a:p>
          <a:p>
            <a:pPr algn="l">
              <a:spcAft>
                <a:spcPts val="800"/>
              </a:spcAft>
            </a:pPr>
            <a:r>
              <a:rPr sz="1400" b="0" i="0">
                <a:solidFill>
                  <a:srgbClr val="3A3A3A"/>
                </a:solidFill>
                <a:latin typeface="Segoe UI"/>
                <a:ea typeface="Segoe UI"/>
                <a:cs typeface="Segoe UI"/>
              </a:rPr>
              <a:t>A reader who can't see the diagram still gets the full picture.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TDD §5.0: the walkthrough table that narrates it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6</a:t>
            </a:r>
            <a:r>
              <a:rPr sz="1400" b="1" i="0" dirty="0">
                <a:solidFill>
                  <a:srgbClr val="DB2777"/>
                </a:solidFill>
                <a:latin typeface="Segoe UI"/>
                <a:ea typeface="Segoe UI"/>
                <a:cs typeface="Segoe UI"/>
              </a:rPr>
              <a:t> · A REAL ARTIFACT</a:t>
            </a: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26</a:t>
            </a:fld>
            <a:endParaRPr lang="en-US"/>
          </a:p>
        </p:txBody>
      </p:sp>
      <p:graphicFrame>
        <p:nvGraphicFramePr>
          <p:cNvPr id="9002" name="Table 9001"/>
          <p:cNvGraphicFramePr>
            <a:graphicFrameLocks noGrp="1"/>
          </p:cNvGraphicFramePr>
          <p:nvPr/>
        </p:nvGraphicFramePr>
        <p:xfrm>
          <a:off x="841248" y="1645920"/>
          <a:ext cx="10515599" cy="3849624"/>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148840">
                  <a:extLst>
                    <a:ext uri="{9D8B030D-6E8A-4147-A177-3AD203B41FA5}">
                      <a16:colId xmlns:a16="http://schemas.microsoft.com/office/drawing/2014/main" val="20005"/>
                    </a:ext>
                  </a:extLst>
                </a:gridCol>
              </a:tblGrid>
              <a:tr h="480060">
                <a:tc>
                  <a:txBody>
                    <a:bodyPr/>
                    <a:lstStyle/>
                    <a:p>
                      <a:pPr algn="l"/>
                      <a:r>
                        <a:rPr sz="1400" b="1" i="0">
                          <a:solidFill>
                            <a:srgbClr val="FFFFFF"/>
                          </a:solidFill>
                          <a:latin typeface="Segoe UI"/>
                          <a:ea typeface="Segoe UI"/>
                          <a:cs typeface="Segoe UI"/>
                        </a:rPr>
                        <a:t>Step</a:t>
                      </a:r>
                    </a:p>
                  </a:txBody>
                  <a:tcPr marL="73152" marR="73152" marT="27432" marB="27432">
                    <a:solidFill>
                      <a:srgbClr val="2E1065"/>
                    </a:solidFill>
                  </a:tcPr>
                </a:tc>
                <a:tc>
                  <a:txBody>
                    <a:bodyPr/>
                    <a:lstStyle/>
                    <a:p>
                      <a:pPr algn="l"/>
                      <a:r>
                        <a:rPr sz="1400" b="1" i="0">
                          <a:solidFill>
                            <a:srgbClr val="FFFFFF"/>
                          </a:solidFill>
                          <a:latin typeface="Segoe UI"/>
                          <a:ea typeface="Segoe UI"/>
                          <a:cs typeface="Segoe UI"/>
                        </a:rPr>
                        <a:t>At this node</a:t>
                      </a:r>
                    </a:p>
                  </a:txBody>
                  <a:tcPr marL="73152" marR="73152" marT="27432" marB="27432">
                    <a:solidFill>
                      <a:srgbClr val="2E1065"/>
                    </a:solidFill>
                  </a:tcPr>
                </a:tc>
                <a:tc>
                  <a:txBody>
                    <a:bodyPr/>
                    <a:lstStyle/>
                    <a:p>
                      <a:pPr algn="l"/>
                      <a:r>
                        <a:rPr sz="1400" b="1" i="0">
                          <a:solidFill>
                            <a:srgbClr val="FFFFFF"/>
                          </a:solidFill>
                          <a:latin typeface="Segoe UI"/>
                          <a:ea typeface="Segoe UI"/>
                          <a:cs typeface="Segoe UI"/>
                        </a:rPr>
                        <a:t>Type</a:t>
                      </a:r>
                    </a:p>
                  </a:txBody>
                  <a:tcPr marL="73152" marR="73152" marT="27432" marB="27432">
                    <a:solidFill>
                      <a:srgbClr val="2E1065"/>
                    </a:solidFill>
                  </a:tcPr>
                </a:tc>
                <a:tc>
                  <a:txBody>
                    <a:bodyPr/>
                    <a:lstStyle/>
                    <a:p>
                      <a:pPr algn="l"/>
                      <a:r>
                        <a:rPr sz="1400" b="1" i="0">
                          <a:solidFill>
                            <a:srgbClr val="FFFFFF"/>
                          </a:solidFill>
                          <a:latin typeface="Segoe UI"/>
                          <a:ea typeface="Segoe UI"/>
                          <a:cs typeface="Segoe UI"/>
                        </a:rPr>
                        <a:t>What happens</a:t>
                      </a:r>
                    </a:p>
                  </a:txBody>
                  <a:tcPr marL="73152" marR="73152" marT="27432" marB="27432">
                    <a:solidFill>
                      <a:srgbClr val="2E1065"/>
                    </a:solidFill>
                  </a:tcPr>
                </a:tc>
                <a:tc>
                  <a:txBody>
                    <a:bodyPr/>
                    <a:lstStyle/>
                    <a:p>
                      <a:pPr algn="l"/>
                      <a:r>
                        <a:rPr sz="1400" b="1" i="0">
                          <a:solidFill>
                            <a:srgbClr val="FFFFFF"/>
                          </a:solidFill>
                          <a:latin typeface="Segoe UI"/>
                          <a:ea typeface="Segoe UI"/>
                          <a:cs typeface="Segoe UI"/>
                        </a:rPr>
                        <a:t>Then…</a:t>
                      </a:r>
                    </a:p>
                  </a:txBody>
                  <a:tcPr marL="73152" marR="73152" marT="27432" marB="27432">
                    <a:solidFill>
                      <a:srgbClr val="2E1065"/>
                    </a:solidFill>
                  </a:tcPr>
                </a:tc>
                <a:tc>
                  <a:txBody>
                    <a:bodyPr/>
                    <a:lstStyle/>
                    <a:p>
                      <a:pPr algn="l"/>
                      <a:r>
                        <a:rPr sz="1400" b="1" i="0">
                          <a:solidFill>
                            <a:srgbClr val="FFFFFF"/>
                          </a:solidFill>
                          <a:latin typeface="Segoe UI"/>
                          <a:ea typeface="Segoe UI"/>
                          <a:cs typeface="Segoe UI"/>
                        </a:rPr>
                        <a:t>leading to</a:t>
                      </a:r>
                    </a:p>
                  </a:txBody>
                  <a:tcPr marL="73152" marR="73152" marT="27432" marB="27432">
                    <a:solidFill>
                      <a:srgbClr val="2E1065"/>
                    </a:solidFill>
                  </a:tcPr>
                </a:tc>
                <a:extLst>
                  <a:ext uri="{0D108BD9-81ED-4DB2-BD59-A6C34878D82A}">
                    <a16:rowId xmlns:a16="http://schemas.microsoft.com/office/drawing/2014/main" val="10000"/>
                  </a:ext>
                </a:extLst>
              </a:tr>
              <a:tr h="480060">
                <a:tc>
                  <a:txBody>
                    <a:bodyPr/>
                    <a:lstStyle/>
                    <a:p>
                      <a:pPr algn="l"/>
                      <a:r>
                        <a:rPr sz="1400" b="0" i="0">
                          <a:solidFill>
                            <a:srgbClr val="3A3A3A"/>
                          </a:solidFill>
                          <a:latin typeface="Segoe UI"/>
                          <a:ea typeface="Segoe UI"/>
                          <a:cs typeface="Segoe UI"/>
                        </a:rPr>
                        <a:t>1</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A. Daily schedule fires</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Start</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The scheduled workflow starts a run.</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next</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B. List services</a:t>
                      </a:r>
                    </a:p>
                  </a:txBody>
                  <a:tcPr marL="73152" marR="73152" marT="27432" marB="27432">
                    <a:solidFill>
                      <a:srgbClr val="F5F3FF"/>
                    </a:solidFill>
                  </a:tcPr>
                </a:tc>
                <a:extLst>
                  <a:ext uri="{0D108BD9-81ED-4DB2-BD59-A6C34878D82A}">
                    <a16:rowId xmlns:a16="http://schemas.microsoft.com/office/drawing/2014/main" val="10001"/>
                  </a:ext>
                </a:extLst>
              </a:tr>
              <a:tr h="480060">
                <a:tc>
                  <a:txBody>
                    <a:bodyPr/>
                    <a:lstStyle/>
                    <a:p>
                      <a:pPr algn="l"/>
                      <a:r>
                        <a:rPr sz="1400" b="0" i="0">
                          <a:solidFill>
                            <a:srgbClr val="3A3A3A"/>
                          </a:solidFill>
                          <a:latin typeface="Segoe UI"/>
                          <a:ea typeface="Segoe UI"/>
                          <a:cs typeface="Segoe UI"/>
                        </a:rPr>
                        <a:t>2</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B. List services</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Process</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The collector asks the Source API for every service.</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next</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C. Read counts for each service</a:t>
                      </a:r>
                    </a:p>
                  </a:txBody>
                  <a:tcPr marL="73152" marR="73152" marT="27432" marB="27432">
                    <a:solidFill>
                      <a:srgbClr val="FFFFFF"/>
                    </a:solidFill>
                  </a:tcPr>
                </a:tc>
                <a:extLst>
                  <a:ext uri="{0D108BD9-81ED-4DB2-BD59-A6C34878D82A}">
                    <a16:rowId xmlns:a16="http://schemas.microsoft.com/office/drawing/2014/main" val="10002"/>
                  </a:ext>
                </a:extLst>
              </a:tr>
              <a:tr h="480060">
                <a:tc>
                  <a:txBody>
                    <a:bodyPr/>
                    <a:lstStyle/>
                    <a:p>
                      <a:pPr algn="l"/>
                      <a:r>
                        <a:rPr sz="1400" b="0" i="0">
                          <a:solidFill>
                            <a:srgbClr val="3A3A3A"/>
                          </a:solidFill>
                          <a:latin typeface="Segoe UI"/>
                          <a:ea typeface="Segoe UI"/>
                          <a:cs typeface="Segoe UI"/>
                        </a:rPr>
                        <a:t>3</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C. Read counts for each service</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Process</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It reads each service's open-item counts and fills missing severities with zero.</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next</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D. Today's partition exists?</a:t>
                      </a:r>
                    </a:p>
                  </a:txBody>
                  <a:tcPr marL="73152" marR="73152" marT="27432" marB="27432">
                    <a:solidFill>
                      <a:srgbClr val="F5F3FF"/>
                    </a:solidFill>
                  </a:tcPr>
                </a:tc>
                <a:extLst>
                  <a:ext uri="{0D108BD9-81ED-4DB2-BD59-A6C34878D82A}">
                    <a16:rowId xmlns:a16="http://schemas.microsoft.com/office/drawing/2014/main" val="10003"/>
                  </a:ext>
                </a:extLst>
              </a:tr>
              <a:tr h="480060">
                <a:tc>
                  <a:txBody>
                    <a:bodyPr/>
                    <a:lstStyle/>
                    <a:p>
                      <a:pPr algn="l"/>
                      <a:r>
                        <a:rPr sz="1400" b="0" i="0">
                          <a:solidFill>
                            <a:srgbClr val="3A3A3A"/>
                          </a:solidFill>
                          <a:latin typeface="Segoe UI"/>
                          <a:ea typeface="Segoe UI"/>
                          <a:cs typeface="Segoe UI"/>
                        </a:rPr>
                        <a:t>4</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D. Today's partition exists?</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Decision</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It checks for a file named for today's reporting-zone date.</a:t>
                      </a:r>
                    </a:p>
                  </a:txBody>
                  <a:tcPr marL="73152" marR="73152" marT="27432" marB="27432">
                    <a:solidFill>
                      <a:srgbClr val="FFFFFF"/>
                    </a:solidFill>
                  </a:tcPr>
                </a:tc>
                <a:tc>
                  <a:txBody>
                    <a:bodyPr/>
                    <a:lstStyle/>
                    <a:p>
                      <a:pPr algn="l"/>
                      <a:r>
                        <a:rPr sz="1400" b="1" i="0">
                          <a:solidFill>
                            <a:srgbClr val="3A3A3A"/>
                          </a:solidFill>
                          <a:latin typeface="Segoe UI"/>
                          <a:ea typeface="Segoe UI"/>
                          <a:cs typeface="Segoe UI"/>
                        </a:rPr>
                        <a:t>if No</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E. Write today's partition</a:t>
                      </a:r>
                    </a:p>
                  </a:txBody>
                  <a:tcPr marL="73152" marR="73152" marT="27432" marB="27432">
                    <a:solidFill>
                      <a:srgbClr val="FFFFFF"/>
                    </a:solidFill>
                  </a:tcPr>
                </a:tc>
                <a:extLst>
                  <a:ext uri="{0D108BD9-81ED-4DB2-BD59-A6C34878D82A}">
                    <a16:rowId xmlns:a16="http://schemas.microsoft.com/office/drawing/2014/main" val="10004"/>
                  </a:ext>
                </a:extLst>
              </a:tr>
              <a:tr h="480060">
                <a:tc>
                  <a:txBody>
                    <a:bodyPr/>
                    <a:lstStyle/>
                    <a:p>
                      <a:pPr algn="l"/>
                      <a:r>
                        <a:rPr sz="1400" b="0" i="0">
                          <a:solidFill>
                            <a:srgbClr val="3A3A3A"/>
                          </a:solidFill>
                          <a:latin typeface="Segoe UI"/>
                          <a:ea typeface="Segoe UI"/>
                          <a:cs typeface="Segoe UI"/>
                        </a:rPr>
                        <a:t>5</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E. Write today's partition</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Process</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The day's counts are saved as a new, immutable file.</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next</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G. Rebuild rollup from all partitions</a:t>
                      </a:r>
                    </a:p>
                  </a:txBody>
                  <a:tcPr marL="73152" marR="73152" marT="27432" marB="27432">
                    <a:solidFill>
                      <a:srgbClr val="F5F3FF"/>
                    </a:solidFill>
                  </a:tcPr>
                </a:tc>
                <a:extLst>
                  <a:ext uri="{0D108BD9-81ED-4DB2-BD59-A6C34878D82A}">
                    <a16:rowId xmlns:a16="http://schemas.microsoft.com/office/drawing/2014/main" val="10005"/>
                  </a:ext>
                </a:extLst>
              </a:tr>
              <a:tr h="480060">
                <a:tc>
                  <a:txBody>
                    <a:bodyPr/>
                    <a:lstStyle/>
                    <a:p>
                      <a:pPr algn="l"/>
                      <a:r>
                        <a:rPr sz="1400" b="0" i="0">
                          <a:solidFill>
                            <a:srgbClr val="3A3A3A"/>
                          </a:solidFill>
                          <a:latin typeface="Segoe UI"/>
                          <a:ea typeface="Segoe UI"/>
                          <a:cs typeface="Segoe UI"/>
                        </a:rPr>
                        <a:t>6</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D. Today's partition exists?</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Decision</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A file for today is already there (for example, a re-run).</a:t>
                      </a:r>
                    </a:p>
                  </a:txBody>
                  <a:tcPr marL="73152" marR="73152" marT="27432" marB="27432">
                    <a:solidFill>
                      <a:srgbClr val="FFFFFF"/>
                    </a:solidFill>
                  </a:tcPr>
                </a:tc>
                <a:tc>
                  <a:txBody>
                    <a:bodyPr/>
                    <a:lstStyle/>
                    <a:p>
                      <a:pPr algn="l"/>
                      <a:r>
                        <a:rPr sz="1400" b="1" i="0">
                          <a:solidFill>
                            <a:srgbClr val="3A3A3A"/>
                          </a:solidFill>
                          <a:latin typeface="Segoe UI"/>
                          <a:ea typeface="Segoe UI"/>
                          <a:cs typeface="Segoe UI"/>
                        </a:rPr>
                        <a:t>but if Yes</a:t>
                      </a:r>
                    </a:p>
                  </a:txBody>
                  <a:tcPr marL="73152" marR="73152" marT="27432" marB="27432">
                    <a:solidFill>
                      <a:srgbClr val="FFFFFF"/>
                    </a:solidFill>
                  </a:tcPr>
                </a:tc>
                <a:tc>
                  <a:txBody>
                    <a:bodyPr/>
                    <a:lstStyle/>
                    <a:p>
                      <a:pPr algn="l"/>
                      <a:r>
                        <a:rPr sz="1400" b="0" i="0">
                          <a:solidFill>
                            <a:srgbClr val="3A3A3A"/>
                          </a:solidFill>
                          <a:latin typeface="Segoe UI"/>
                          <a:ea typeface="Segoe UI"/>
                          <a:cs typeface="Segoe UI"/>
                        </a:rPr>
                        <a:t>F. Keep the existing partition</a:t>
                      </a:r>
                    </a:p>
                  </a:txBody>
                  <a:tcPr marL="73152" marR="73152" marT="27432" marB="27432">
                    <a:solidFill>
                      <a:srgbClr val="FFFFFF"/>
                    </a:solidFill>
                  </a:tcPr>
                </a:tc>
                <a:extLst>
                  <a:ext uri="{0D108BD9-81ED-4DB2-BD59-A6C34878D82A}">
                    <a16:rowId xmlns:a16="http://schemas.microsoft.com/office/drawing/2014/main" val="10006"/>
                  </a:ext>
                </a:extLst>
              </a:tr>
              <a:tr h="480060">
                <a:tc>
                  <a:txBody>
                    <a:bodyPr/>
                    <a:lstStyle/>
                    <a:p>
                      <a:pPr algn="l"/>
                      <a:r>
                        <a:rPr sz="1400" b="0" i="0">
                          <a:solidFill>
                            <a:srgbClr val="3A3A3A"/>
                          </a:solidFill>
                          <a:latin typeface="Segoe UI"/>
                          <a:ea typeface="Segoe UI"/>
                          <a:cs typeface="Segoe UI"/>
                        </a:rPr>
                        <a:t>7</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F. Keep the existing partition</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Process</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History is left untouched.</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next</a:t>
                      </a:r>
                    </a:p>
                  </a:txBody>
                  <a:tcPr marL="73152" marR="73152" marT="27432" marB="27432">
                    <a:solidFill>
                      <a:srgbClr val="F5F3FF"/>
                    </a:solidFill>
                  </a:tcPr>
                </a:tc>
                <a:tc>
                  <a:txBody>
                    <a:bodyPr/>
                    <a:lstStyle/>
                    <a:p>
                      <a:pPr algn="l"/>
                      <a:r>
                        <a:rPr sz="1400" b="0" i="0">
                          <a:solidFill>
                            <a:srgbClr val="3A3A3A"/>
                          </a:solidFill>
                          <a:latin typeface="Segoe UI"/>
                          <a:ea typeface="Segoe UI"/>
                          <a:cs typeface="Segoe UI"/>
                        </a:rPr>
                        <a:t>G. Rebuild rollup from all partitions</a:t>
                      </a:r>
                    </a:p>
                  </a:txBody>
                  <a:tcPr marL="73152" marR="73152" marT="27432" marB="27432">
                    <a:solidFill>
                      <a:srgbClr val="F5F3FF"/>
                    </a:solidFill>
                  </a:tcPr>
                </a:tc>
                <a:extLst>
                  <a:ext uri="{0D108BD9-81ED-4DB2-BD59-A6C34878D82A}">
                    <a16:rowId xmlns:a16="http://schemas.microsoft.com/office/drawing/2014/main" val="10007"/>
                  </a:ext>
                </a:extLst>
              </a:tr>
            </a:tbl>
          </a:graphicData>
        </a:graphic>
      </p:graphicFrame>
      <p:sp>
        <p:nvSpPr>
          <p:cNvPr id="9003" name="TextBox 9002"/>
          <p:cNvSpPr txBox="1"/>
          <p:nvPr/>
        </p:nvSpPr>
        <p:spPr>
          <a:xfrm>
            <a:off x="841248" y="5852160"/>
            <a:ext cx="10515600" cy="320040"/>
          </a:xfrm>
          <a:prstGeom prst="rect">
            <a:avLst/>
          </a:prstGeom>
          <a:noFill/>
        </p:spPr>
        <p:txBody>
          <a:bodyPr wrap="square" lIns="0" tIns="0" rIns="0" bIns="0" anchor="t">
            <a:noAutofit/>
          </a:bodyPr>
          <a:lstStyle/>
          <a:p>
            <a:pPr algn="l"/>
            <a:r>
              <a:rPr sz="1400" b="0" i="1">
                <a:solidFill>
                  <a:srgbClr val="5F6670"/>
                </a:solidFill>
                <a:latin typeface="Segoe UI"/>
                <a:ea typeface="Segoe UI"/>
                <a:cs typeface="Segoe UI"/>
              </a:rPr>
              <a:t>Rows 1–7 of 12. Full table: documentation/example-report-technical-design.md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A tour of AGENTS.md, the working agreement</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7</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27</a:t>
            </a:fld>
            <a:endParaRPr lang="en-US"/>
          </a:p>
        </p:txBody>
      </p:sp>
      <p:sp>
        <p:nvSpPr>
          <p:cNvPr id="9002" name="TextBox 9001"/>
          <p:cNvSpPr txBox="1"/>
          <p:nvPr/>
        </p:nvSpPr>
        <p:spPr>
          <a:xfrm>
            <a:off x="841248" y="1645920"/>
            <a:ext cx="5029200" cy="320040"/>
          </a:xfrm>
          <a:prstGeom prst="rect">
            <a:avLst/>
          </a:prstGeom>
          <a:noFill/>
        </p:spPr>
        <p:txBody>
          <a:bodyPr wrap="square" lIns="0" tIns="0" rIns="0" bIns="0" anchor="t">
            <a:noAutofit/>
          </a:bodyPr>
          <a:lstStyle/>
          <a:p>
            <a:pPr algn="l"/>
            <a:r>
              <a:rPr sz="1600" b="1" i="0">
                <a:solidFill>
                  <a:srgbClr val="2E1065"/>
                </a:solidFill>
                <a:latin typeface="Segoe UI"/>
                <a:ea typeface="Segoe UI"/>
                <a:cs typeface="Segoe UI"/>
              </a:rPr>
              <a:t>The sections, top to bottom</a:t>
            </a:r>
          </a:p>
        </p:txBody>
      </p:sp>
      <p:sp>
        <p:nvSpPr>
          <p:cNvPr id="9003" name="Oval 9002"/>
          <p:cNvSpPr/>
          <p:nvPr/>
        </p:nvSpPr>
        <p:spPr>
          <a:xfrm>
            <a:off x="841248" y="206654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1</a:t>
            </a:r>
          </a:p>
        </p:txBody>
      </p:sp>
      <p:sp>
        <p:nvSpPr>
          <p:cNvPr id="9004" name="TextBox 9003"/>
          <p:cNvSpPr txBox="1"/>
          <p:nvPr/>
        </p:nvSpPr>
        <p:spPr>
          <a:xfrm>
            <a:off x="1234440" y="2011680"/>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Start here</a:t>
            </a:r>
            <a:r>
              <a:rPr sz="1400" b="0" i="0">
                <a:solidFill>
                  <a:srgbClr val="5F6670"/>
                </a:solidFill>
                <a:latin typeface="Segoe UI"/>
                <a:ea typeface="Segoe UI"/>
                <a:cs typeface="Segoe UI"/>
              </a:rPr>
              <a:t>  what to read first in a new chat</a:t>
            </a:r>
          </a:p>
        </p:txBody>
      </p:sp>
      <p:sp>
        <p:nvSpPr>
          <p:cNvPr id="9005" name="Oval 9004"/>
          <p:cNvSpPr/>
          <p:nvPr/>
        </p:nvSpPr>
        <p:spPr>
          <a:xfrm>
            <a:off x="841248" y="2450592"/>
            <a:ext cx="274320" cy="27432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2</a:t>
            </a:r>
          </a:p>
        </p:txBody>
      </p:sp>
      <p:sp>
        <p:nvSpPr>
          <p:cNvPr id="9006" name="TextBox 9005"/>
          <p:cNvSpPr txBox="1"/>
          <p:nvPr/>
        </p:nvSpPr>
        <p:spPr>
          <a:xfrm>
            <a:off x="1234440" y="2395728"/>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Working agreement</a:t>
            </a:r>
            <a:r>
              <a:rPr sz="1400" b="0" i="0">
                <a:solidFill>
                  <a:srgbClr val="5F6670"/>
                </a:solidFill>
                <a:latin typeface="Segoe UI"/>
                <a:ea typeface="Segoe UI"/>
                <a:cs typeface="Segoe UI"/>
              </a:rPr>
              <a:t>  how we collaborate</a:t>
            </a:r>
          </a:p>
        </p:txBody>
      </p:sp>
      <p:sp>
        <p:nvSpPr>
          <p:cNvPr id="9007" name="Oval 9006"/>
          <p:cNvSpPr/>
          <p:nvPr/>
        </p:nvSpPr>
        <p:spPr>
          <a:xfrm>
            <a:off x="841248" y="283464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3</a:t>
            </a:r>
          </a:p>
        </p:txBody>
      </p:sp>
      <p:sp>
        <p:nvSpPr>
          <p:cNvPr id="9008" name="TextBox 9007"/>
          <p:cNvSpPr txBox="1"/>
          <p:nvPr/>
        </p:nvSpPr>
        <p:spPr>
          <a:xfrm>
            <a:off x="1234440" y="2779776"/>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Documentation flow</a:t>
            </a:r>
            <a:r>
              <a:rPr sz="1400" b="0" i="0">
                <a:solidFill>
                  <a:srgbClr val="5F6670"/>
                </a:solidFill>
                <a:latin typeface="Segoe UI"/>
                <a:ea typeface="Segoe UI"/>
                <a:cs typeface="Segoe UI"/>
              </a:rPr>
              <a:t>  PRD → TDD → stories, in order</a:t>
            </a:r>
          </a:p>
        </p:txBody>
      </p:sp>
      <p:sp>
        <p:nvSpPr>
          <p:cNvPr id="9009" name="Oval 9008"/>
          <p:cNvSpPr/>
          <p:nvPr/>
        </p:nvSpPr>
        <p:spPr>
          <a:xfrm>
            <a:off x="841248" y="321868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4</a:t>
            </a:r>
          </a:p>
        </p:txBody>
      </p:sp>
      <p:sp>
        <p:nvSpPr>
          <p:cNvPr id="9010" name="TextBox 9009"/>
          <p:cNvSpPr txBox="1"/>
          <p:nvPr/>
        </p:nvSpPr>
        <p:spPr>
          <a:xfrm>
            <a:off x="1234440" y="3163824"/>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Jira</a:t>
            </a:r>
            <a:r>
              <a:rPr sz="1400" b="0" i="0">
                <a:solidFill>
                  <a:srgbClr val="5F6670"/>
                </a:solidFill>
                <a:latin typeface="Segoe UI"/>
                <a:ea typeface="Segoe UI"/>
                <a:cs typeface="Segoe UI"/>
              </a:rPr>
              <a:t>  the stories file is the source of truth</a:t>
            </a:r>
          </a:p>
        </p:txBody>
      </p:sp>
      <p:sp>
        <p:nvSpPr>
          <p:cNvPr id="9011" name="Oval 9010"/>
          <p:cNvSpPr/>
          <p:nvPr/>
        </p:nvSpPr>
        <p:spPr>
          <a:xfrm>
            <a:off x="841248" y="360273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5</a:t>
            </a:r>
          </a:p>
        </p:txBody>
      </p:sp>
      <p:sp>
        <p:nvSpPr>
          <p:cNvPr id="9012" name="TextBox 9011"/>
          <p:cNvSpPr txBox="1"/>
          <p:nvPr/>
        </p:nvSpPr>
        <p:spPr>
          <a:xfrm>
            <a:off x="1234440" y="3547872"/>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Project layout</a:t>
            </a:r>
            <a:r>
              <a:rPr sz="1400" b="0" i="0">
                <a:solidFill>
                  <a:srgbClr val="5F6670"/>
                </a:solidFill>
                <a:latin typeface="Segoe UI"/>
                <a:ea typeface="Segoe UI"/>
                <a:cs typeface="Segoe UI"/>
              </a:rPr>
              <a:t>  where things live</a:t>
            </a:r>
          </a:p>
        </p:txBody>
      </p:sp>
      <p:sp>
        <p:nvSpPr>
          <p:cNvPr id="9013" name="Oval 9012"/>
          <p:cNvSpPr/>
          <p:nvPr/>
        </p:nvSpPr>
        <p:spPr>
          <a:xfrm>
            <a:off x="841248" y="398678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6</a:t>
            </a:r>
          </a:p>
        </p:txBody>
      </p:sp>
      <p:sp>
        <p:nvSpPr>
          <p:cNvPr id="9014" name="TextBox 9013"/>
          <p:cNvSpPr txBox="1"/>
          <p:nvPr/>
        </p:nvSpPr>
        <p:spPr>
          <a:xfrm>
            <a:off x="1234440" y="3931920"/>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Python conventions</a:t>
            </a:r>
            <a:r>
              <a:rPr sz="1400" b="0" i="0">
                <a:solidFill>
                  <a:srgbClr val="5F6670"/>
                </a:solidFill>
                <a:latin typeface="Segoe UI"/>
                <a:ea typeface="Segoe UI"/>
                <a:cs typeface="Segoe UI"/>
              </a:rPr>
              <a:t>  headers, config, retries, UTC</a:t>
            </a:r>
          </a:p>
        </p:txBody>
      </p:sp>
      <p:sp>
        <p:nvSpPr>
          <p:cNvPr id="9015" name="Oval 9014"/>
          <p:cNvSpPr/>
          <p:nvPr/>
        </p:nvSpPr>
        <p:spPr>
          <a:xfrm>
            <a:off x="841248" y="437083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7</a:t>
            </a:r>
          </a:p>
        </p:txBody>
      </p:sp>
      <p:sp>
        <p:nvSpPr>
          <p:cNvPr id="9016" name="TextBox 9015"/>
          <p:cNvSpPr txBox="1"/>
          <p:nvPr/>
        </p:nvSpPr>
        <p:spPr>
          <a:xfrm>
            <a:off x="1234440" y="4315968"/>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GitHub Actions conventions</a:t>
            </a:r>
            <a:r>
              <a:rPr sz="1400" b="0" i="0">
                <a:solidFill>
                  <a:srgbClr val="5F6670"/>
                </a:solidFill>
                <a:latin typeface="Segoe UI"/>
                <a:ea typeface="Segoe UI"/>
                <a:cs typeface="Segoe UI"/>
              </a:rPr>
              <a:t>  least-privilege permissions</a:t>
            </a:r>
          </a:p>
        </p:txBody>
      </p:sp>
      <p:sp>
        <p:nvSpPr>
          <p:cNvPr id="9017" name="Oval 9016"/>
          <p:cNvSpPr/>
          <p:nvPr/>
        </p:nvSpPr>
        <p:spPr>
          <a:xfrm>
            <a:off x="841248" y="475488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8</a:t>
            </a:r>
          </a:p>
        </p:txBody>
      </p:sp>
      <p:sp>
        <p:nvSpPr>
          <p:cNvPr id="9018" name="TextBox 9017"/>
          <p:cNvSpPr txBox="1"/>
          <p:nvPr/>
        </p:nvSpPr>
        <p:spPr>
          <a:xfrm>
            <a:off x="1234440" y="4700016"/>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GitHub Pages</a:t>
            </a:r>
            <a:r>
              <a:rPr sz="1400" b="0" i="0">
                <a:solidFill>
                  <a:srgbClr val="5F6670"/>
                </a:solidFill>
                <a:latin typeface="Segoe UI"/>
                <a:ea typeface="Segoe UI"/>
                <a:cs typeface="Segoe UI"/>
              </a:rPr>
              <a:t>  one site per repo</a:t>
            </a:r>
          </a:p>
        </p:txBody>
      </p:sp>
      <p:sp>
        <p:nvSpPr>
          <p:cNvPr id="9019" name="Oval 9018"/>
          <p:cNvSpPr/>
          <p:nvPr/>
        </p:nvSpPr>
        <p:spPr>
          <a:xfrm>
            <a:off x="841248" y="51389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9</a:t>
            </a:r>
          </a:p>
        </p:txBody>
      </p:sp>
      <p:sp>
        <p:nvSpPr>
          <p:cNvPr id="9020" name="TextBox 9019"/>
          <p:cNvSpPr txBox="1"/>
          <p:nvPr/>
        </p:nvSpPr>
        <p:spPr>
          <a:xfrm>
            <a:off x="1234440" y="5084064"/>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Local shell (PowerShell)</a:t>
            </a:r>
            <a:r>
              <a:rPr sz="1400" b="0" i="0">
                <a:solidFill>
                  <a:srgbClr val="5F6670"/>
                </a:solidFill>
                <a:latin typeface="Segoe UI"/>
                <a:ea typeface="Segoe UI"/>
                <a:cs typeface="Segoe UI"/>
              </a:rPr>
              <a:t>  patterns that actually work</a:t>
            </a:r>
          </a:p>
        </p:txBody>
      </p:sp>
      <p:sp>
        <p:nvSpPr>
          <p:cNvPr id="9021" name="Oval 9020"/>
          <p:cNvSpPr/>
          <p:nvPr/>
        </p:nvSpPr>
        <p:spPr>
          <a:xfrm>
            <a:off x="841248" y="552297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Segoe UI"/>
                <a:ea typeface="Segoe UI"/>
                <a:cs typeface="Segoe UI"/>
              </a:rPr>
              <a:t>10</a:t>
            </a:r>
          </a:p>
        </p:txBody>
      </p:sp>
      <p:sp>
        <p:nvSpPr>
          <p:cNvPr id="9022" name="TextBox 9021"/>
          <p:cNvSpPr txBox="1"/>
          <p:nvPr/>
        </p:nvSpPr>
        <p:spPr>
          <a:xfrm>
            <a:off x="1234440" y="5468112"/>
            <a:ext cx="4754880" cy="384048"/>
          </a:xfrm>
          <a:prstGeom prst="rect">
            <a:avLst/>
          </a:prstGeom>
          <a:noFill/>
        </p:spPr>
        <p:txBody>
          <a:bodyPr wrap="square" lIns="0" tIns="0" rIns="0" bIns="0" anchor="ctr">
            <a:noAutofit/>
          </a:bodyPr>
          <a:lstStyle/>
          <a:p>
            <a:pPr algn="l"/>
            <a:r>
              <a:rPr sz="1400" b="1" i="0">
                <a:solidFill>
                  <a:srgbClr val="2E1065"/>
                </a:solidFill>
                <a:latin typeface="Segoe UI"/>
                <a:ea typeface="Segoe UI"/>
                <a:cs typeface="Segoe UI"/>
              </a:rPr>
              <a:t>Network and API learnings</a:t>
            </a:r>
            <a:r>
              <a:rPr sz="1400" b="0" i="0">
                <a:solidFill>
                  <a:srgbClr val="5F6670"/>
                </a:solidFill>
                <a:latin typeface="Segoe UI"/>
                <a:ea typeface="Segoe UI"/>
                <a:cs typeface="Segoe UI"/>
              </a:rPr>
              <a:t>  proxies, trust stores, APIs</a:t>
            </a:r>
          </a:p>
        </p:txBody>
      </p:sp>
      <p:sp>
        <p:nvSpPr>
          <p:cNvPr id="9023" name="Quotes"/>
          <p:cNvSpPr/>
          <p:nvPr/>
        </p:nvSpPr>
        <p:spPr>
          <a:xfrm>
            <a:off x="6309360" y="1645920"/>
            <a:ext cx="5047488" cy="4251960"/>
          </a:xfrm>
          <a:prstGeom prst="roundRect">
            <a:avLst>
              <a:gd name="adj" fmla="val 5000"/>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24" name="TextBox 9023"/>
          <p:cNvSpPr txBox="1"/>
          <p:nvPr/>
        </p:nvSpPr>
        <p:spPr>
          <a:xfrm>
            <a:off x="6537960" y="1783080"/>
            <a:ext cx="4572000" cy="365760"/>
          </a:xfrm>
          <a:prstGeom prst="rect">
            <a:avLst/>
          </a:prstGeom>
          <a:noFill/>
        </p:spPr>
        <p:txBody>
          <a:bodyPr wrap="square" lIns="0" tIns="0" rIns="0" bIns="0" anchor="t">
            <a:noAutofit/>
          </a:bodyPr>
          <a:lstStyle/>
          <a:p>
            <a:pPr algn="l"/>
            <a:r>
              <a:rPr sz="1600" b="1" i="0">
                <a:solidFill>
                  <a:srgbClr val="C084FC"/>
                </a:solidFill>
                <a:latin typeface="Segoe UI"/>
                <a:ea typeface="Segoe UI"/>
                <a:cs typeface="Segoe UI"/>
              </a:rPr>
              <a:t>Lines from the working agreement</a:t>
            </a:r>
          </a:p>
        </p:txBody>
      </p:sp>
      <p:sp>
        <p:nvSpPr>
          <p:cNvPr id="9025" name="TextBox 9024"/>
          <p:cNvSpPr txBox="1"/>
          <p:nvPr/>
        </p:nvSpPr>
        <p:spPr>
          <a:xfrm>
            <a:off x="6537960" y="2240280"/>
            <a:ext cx="4617720" cy="3566160"/>
          </a:xfrm>
          <a:prstGeom prst="rect">
            <a:avLst/>
          </a:prstGeom>
          <a:noFill/>
        </p:spPr>
        <p:txBody>
          <a:bodyPr wrap="square" lIns="0" tIns="0" rIns="0" bIns="0" anchor="t">
            <a:noAutofit/>
          </a:bodyPr>
          <a:lstStyle/>
          <a:p>
            <a:pPr algn="l">
              <a:spcAft>
                <a:spcPts val="1400"/>
              </a:spcAft>
            </a:pPr>
            <a:r>
              <a:rPr sz="1800" b="0" i="0">
                <a:solidFill>
                  <a:srgbClr val="FFFFFF"/>
                </a:solidFill>
                <a:latin typeface="Segoe UI"/>
                <a:ea typeface="Segoe UI"/>
                <a:cs typeface="Segoe UI"/>
              </a:rPr>
              <a:t>“Ask when intent is unclear. A question is often just a question.”</a:t>
            </a:r>
          </a:p>
          <a:p>
            <a:pPr algn="l">
              <a:spcAft>
                <a:spcPts val="1400"/>
              </a:spcAft>
            </a:pPr>
            <a:r>
              <a:rPr sz="1800" b="0" i="0">
                <a:solidFill>
                  <a:srgbClr val="FFFFFF"/>
                </a:solidFill>
                <a:latin typeface="Segoe UI"/>
                <a:ea typeface="Segoe UI"/>
                <a:cs typeface="Segoe UI"/>
              </a:rPr>
              <a:t>“Version control is the user's to drive.”</a:t>
            </a:r>
          </a:p>
          <a:p>
            <a:pPr algn="l">
              <a:spcAft>
                <a:spcPts val="1400"/>
              </a:spcAft>
            </a:pPr>
            <a:r>
              <a:rPr sz="1800" b="0" i="0">
                <a:solidFill>
                  <a:srgbClr val="FFFFFF"/>
                </a:solidFill>
                <a:latin typeface="Segoe UI"/>
                <a:ea typeface="Segoe UI"/>
                <a:cs typeface="Segoe UI"/>
              </a:rPr>
              <a:t>“Never transition a Jira issue to Done without explicit user confirmation.”</a:t>
            </a:r>
          </a:p>
          <a:p>
            <a:pPr algn="l">
              <a:spcAft>
                <a:spcPts val="1400"/>
              </a:spcAft>
            </a:pPr>
            <a:r>
              <a:rPr sz="1800" b="0" i="0">
                <a:solidFill>
                  <a:srgbClr val="FFFFFF"/>
                </a:solidFill>
                <a:latin typeface="Segoe UI"/>
                <a:ea typeface="Segoe UI"/>
                <a:cs typeface="Segoe UI"/>
              </a:rPr>
              <a:t>“Anti-freeze guard: act before you announce.”</a:t>
            </a:r>
          </a:p>
          <a:p>
            <a:pPr algn="l">
              <a:spcAft>
                <a:spcPts val="1400"/>
              </a:spcAft>
            </a:pPr>
            <a:r>
              <a:rPr sz="1800" b="0" i="0">
                <a:solidFill>
                  <a:srgbClr val="FFFFFF"/>
                </a:solidFill>
                <a:latin typeface="Segoe UI"/>
                <a:ea typeface="Segoe UI"/>
                <a:cs typeface="Segoe UI"/>
              </a:rPr>
              <a:t>“No sycophancy — push back with reasoning.”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731520"/>
            <a:ext cx="10515600" cy="658368"/>
          </a:xfrm>
        </p:spPr>
        <p:txBody>
          <a:bodyPr/>
          <a:lstStyle/>
          <a:p>
            <a:r>
              <a:t>Environment lessons: small fixes that saved hours</a:t>
            </a:r>
          </a:p>
        </p:txBody>
      </p:sp>
      <p:sp>
        <p:nvSpPr>
          <p:cNvPr id="3" name="Kicker"/>
          <p:cNvSpPr txBox="1"/>
          <p:nvPr/>
        </p:nvSpPr>
        <p:spPr>
          <a:xfrm>
            <a:off x="841248" y="457200"/>
            <a:ext cx="8229600" cy="274320"/>
          </a:xfrm>
          <a:prstGeom prst="rect">
            <a:avLst/>
          </a:prstGeom>
          <a:noFill/>
        </p:spPr>
        <p:txBody>
          <a:bodyPr wrap="square" lIns="0" tIns="0" rIns="0" bIns="0" anchor="t">
            <a:noAutofit/>
          </a:bodyPr>
          <a:lstStyle/>
          <a:p>
            <a:pPr algn="l"/>
            <a:r>
              <a:rPr sz="1400" b="1" i="0" dirty="0">
                <a:solidFill>
                  <a:srgbClr val="DB2777"/>
                </a:solidFill>
                <a:latin typeface="Segoe UI"/>
                <a:ea typeface="Segoe UI"/>
                <a:cs typeface="Segoe UI"/>
              </a:rPr>
              <a:t>APPENDIX A</a:t>
            </a:r>
            <a:r>
              <a:rPr lang="en-US" sz="1400" b="1" i="0" dirty="0">
                <a:solidFill>
                  <a:srgbClr val="DB2777"/>
                </a:solidFill>
                <a:latin typeface="Segoe UI"/>
                <a:ea typeface="Segoe UI"/>
                <a:cs typeface="Segoe UI"/>
              </a:rPr>
              <a:t>8</a:t>
            </a:r>
            <a:endParaRPr sz="1400" b="1" i="0" dirty="0">
              <a:solidFill>
                <a:srgbClr val="DB2777"/>
              </a:solidFill>
              <a:latin typeface="Segoe UI"/>
              <a:ea typeface="Segoe UI"/>
              <a:cs typeface="Segoe UI"/>
            </a:endParaRPr>
          </a:p>
        </p:txBody>
      </p:sp>
      <p:sp>
        <p:nvSpPr>
          <p:cNvPr id="9000" name="Footer Placeholder 4">
            <a:extLst>
              <a:ext uri="{FF2B5EF4-FFF2-40B4-BE49-F238E27FC236}">
                <a16:creationId xmlns:a16="http://schemas.microsoft.com/office/drawing/2014/main" id="{49E05C98-875D-9445-887D-8EA03FD962A5}"/>
              </a:ext>
            </a:extLst>
          </p:cNvPr>
          <p:cNvSpPr>
            <a:spLocks noGrp="1"/>
          </p:cNvSpPr>
          <p:nvPr>
            <p:ph type="ftr" sz="quarter" idx="11"/>
          </p:nvPr>
        </p:nvSpPr>
        <p:spPr/>
        <p:txBody>
          <a:bodyPr/>
          <a:lstStyle/>
          <a:p>
            <a:r>
              <a:rPr lang="en-US"/>
              <a:t>EPIC ROBOTS · JT LOVELL</a:t>
            </a:r>
          </a:p>
        </p:txBody>
      </p:sp>
      <p:sp>
        <p:nvSpPr>
          <p:cNvPr id="9001" name="Slide Number Placeholder 3">
            <a:extLst>
              <a:ext uri="{FF2B5EF4-FFF2-40B4-BE49-F238E27FC236}">
                <a16:creationId xmlns:a16="http://schemas.microsoft.com/office/drawing/2014/main" id="{2AC7D948-B264-914B-B959-F61945A1F33B}"/>
              </a:ext>
            </a:extLst>
          </p:cNvPr>
          <p:cNvSpPr>
            <a:spLocks noGrp="1"/>
          </p:cNvSpPr>
          <p:nvPr>
            <p:ph type="sldNum" sz="quarter" idx="12"/>
          </p:nvPr>
        </p:nvSpPr>
        <p:spPr/>
        <p:txBody>
          <a:bodyPr/>
          <a:lstStyle/>
          <a:p>
            <a:fld id="{E573346A-FCA4-684E-8D18-26E8324063ED}" type="slidenum">
              <a:rPr lang="en-US" smtClean="0"/>
              <a:t>28</a:t>
            </a:fld>
            <a:endParaRPr lang="en-US"/>
          </a:p>
        </p:txBody>
      </p:sp>
      <p:sp>
        <p:nvSpPr>
          <p:cNvPr id="9002" name="War0"/>
          <p:cNvSpPr/>
          <p:nvPr/>
        </p:nvSpPr>
        <p:spPr>
          <a:xfrm>
            <a:off x="841248" y="1691640"/>
            <a:ext cx="3346704" cy="3429000"/>
          </a:xfrm>
          <a:prstGeom prst="roundRect">
            <a:avLst>
              <a:gd name="adj" fmla="val 5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3" name="Oval 9002"/>
          <p:cNvSpPr/>
          <p:nvPr/>
        </p:nvSpPr>
        <p:spPr>
          <a:xfrm>
            <a:off x="1069848" y="1892807"/>
            <a:ext cx="658368" cy="658368"/>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4" name="Picture 9003" descr="Commands for the wrong system icon"/>
          <p:cNvPicPr>
            <a:picLocks noChangeAspect="1"/>
          </p:cNvPicPr>
          <p:nvPr/>
        </p:nvPicPr>
        <p:blipFill>
          <a:blip r:embed="rId3"/>
          <a:stretch>
            <a:fillRect/>
          </a:stretch>
        </p:blipFill>
        <p:spPr>
          <a:xfrm>
            <a:off x="1214688" y="2037648"/>
            <a:ext cx="368686" cy="368686"/>
          </a:xfrm>
          <a:prstGeom prst="rect">
            <a:avLst/>
          </a:prstGeom>
        </p:spPr>
      </p:pic>
      <p:sp>
        <p:nvSpPr>
          <p:cNvPr id="9005" name="TextBox 9004"/>
          <p:cNvSpPr txBox="1"/>
          <p:nvPr/>
        </p:nvSpPr>
        <p:spPr>
          <a:xfrm>
            <a:off x="1069848" y="2697480"/>
            <a:ext cx="2926080" cy="731520"/>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Commands for the wrong system</a:t>
            </a:r>
          </a:p>
        </p:txBody>
      </p:sp>
      <p:sp>
        <p:nvSpPr>
          <p:cNvPr id="9006" name="TextBox 9005"/>
          <p:cNvSpPr txBox="1"/>
          <p:nvPr/>
        </p:nvSpPr>
        <p:spPr>
          <a:xfrm>
            <a:off x="1069848" y="3429000"/>
            <a:ext cx="2926080" cy="160020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Examples written for Mac or Linux failed on our Windows machines. The commands that work here are now written down, so the agent uses them first.</a:t>
            </a:r>
          </a:p>
        </p:txBody>
      </p:sp>
      <p:sp>
        <p:nvSpPr>
          <p:cNvPr id="9007" name="War1"/>
          <p:cNvSpPr/>
          <p:nvPr/>
        </p:nvSpPr>
        <p:spPr>
          <a:xfrm>
            <a:off x="4425696" y="1691640"/>
            <a:ext cx="3346704" cy="3429000"/>
          </a:xfrm>
          <a:prstGeom prst="roundRect">
            <a:avLst>
              <a:gd name="adj" fmla="val 5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08" name="Oval 9007"/>
          <p:cNvSpPr/>
          <p:nvPr/>
        </p:nvSpPr>
        <p:spPr>
          <a:xfrm>
            <a:off x="4654296" y="1892807"/>
            <a:ext cx="658368" cy="658368"/>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09" name="Picture 9008" descr="A blank screen isn't a failure icon"/>
          <p:cNvPicPr>
            <a:picLocks noChangeAspect="1"/>
          </p:cNvPicPr>
          <p:nvPr/>
        </p:nvPicPr>
        <p:blipFill>
          <a:blip r:embed="rId4"/>
          <a:stretch>
            <a:fillRect/>
          </a:stretch>
        </p:blipFill>
        <p:spPr>
          <a:xfrm>
            <a:off x="4799136" y="2037648"/>
            <a:ext cx="368686" cy="368686"/>
          </a:xfrm>
          <a:prstGeom prst="rect">
            <a:avLst/>
          </a:prstGeom>
        </p:spPr>
      </p:pic>
      <p:sp>
        <p:nvSpPr>
          <p:cNvPr id="9010" name="TextBox 9009"/>
          <p:cNvSpPr txBox="1"/>
          <p:nvPr/>
        </p:nvSpPr>
        <p:spPr>
          <a:xfrm>
            <a:off x="4654296" y="2697480"/>
            <a:ext cx="2926080" cy="731520"/>
          </a:xfrm>
          <a:prstGeom prst="rect">
            <a:avLst/>
          </a:prstGeom>
          <a:noFill/>
        </p:spPr>
        <p:txBody>
          <a:bodyPr wrap="square" lIns="0" tIns="0" rIns="0" bIns="0" anchor="t">
            <a:noAutofit/>
          </a:bodyPr>
          <a:lstStyle/>
          <a:p>
            <a:pPr algn="l"/>
            <a:r>
              <a:rPr sz="1800" b="1" i="0" dirty="0">
                <a:solidFill>
                  <a:srgbClr val="2E1065"/>
                </a:solidFill>
                <a:latin typeface="Segoe UI"/>
                <a:ea typeface="Segoe UI"/>
                <a:cs typeface="Segoe UI"/>
              </a:rPr>
              <a:t>A blank screen isn’t </a:t>
            </a:r>
            <a:r>
              <a:rPr lang="en-US" sz="1800" b="1" i="0" dirty="0">
                <a:solidFill>
                  <a:srgbClr val="2E1065"/>
                </a:solidFill>
                <a:latin typeface="Segoe UI"/>
                <a:ea typeface="Segoe UI"/>
                <a:cs typeface="Segoe UI"/>
              </a:rPr>
              <a:t>always </a:t>
            </a:r>
            <a:r>
              <a:rPr sz="1800" b="1" i="0" dirty="0">
                <a:solidFill>
                  <a:srgbClr val="2E1065"/>
                </a:solidFill>
                <a:latin typeface="Segoe UI"/>
                <a:ea typeface="Segoe UI"/>
                <a:cs typeface="Segoe UI"/>
              </a:rPr>
              <a:t>a failure</a:t>
            </a:r>
          </a:p>
        </p:txBody>
      </p:sp>
      <p:sp>
        <p:nvSpPr>
          <p:cNvPr id="9011" name="TextBox 9010"/>
          <p:cNvSpPr txBox="1"/>
          <p:nvPr/>
        </p:nvSpPr>
        <p:spPr>
          <a:xfrm>
            <a:off x="4654296" y="3429000"/>
            <a:ext cx="2926080" cy="160020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Runs that worked sometimes showed no output, so they looked stuck. Now results are saved to a file and read from there.</a:t>
            </a:r>
          </a:p>
        </p:txBody>
      </p:sp>
      <p:sp>
        <p:nvSpPr>
          <p:cNvPr id="9012" name="War2"/>
          <p:cNvSpPr/>
          <p:nvPr/>
        </p:nvSpPr>
        <p:spPr>
          <a:xfrm>
            <a:off x="8010144" y="1691640"/>
            <a:ext cx="3346704" cy="3429000"/>
          </a:xfrm>
          <a:prstGeom prst="roundRect">
            <a:avLst>
              <a:gd name="adj" fmla="val 5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sp>
        <p:nvSpPr>
          <p:cNvPr id="9013" name="Oval 9012"/>
          <p:cNvSpPr/>
          <p:nvPr/>
        </p:nvSpPr>
        <p:spPr>
          <a:xfrm>
            <a:off x="8238744" y="1892807"/>
            <a:ext cx="658368" cy="658368"/>
          </a:xfrm>
          <a:prstGeom prst="ellipse">
            <a:avLst/>
          </a:prstGeom>
          <a:solidFill>
            <a:srgbClr val="2E106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ctr"/>
            <a:endParaRPr/>
          </a:p>
        </p:txBody>
      </p:sp>
      <p:pic>
        <p:nvPicPr>
          <p:cNvPr id="9014" name="Picture 9013" descr="Work-network security, kept on icon"/>
          <p:cNvPicPr>
            <a:picLocks noChangeAspect="1"/>
          </p:cNvPicPr>
          <p:nvPr/>
        </p:nvPicPr>
        <p:blipFill>
          <a:blip r:embed="rId5"/>
          <a:stretch>
            <a:fillRect/>
          </a:stretch>
        </p:blipFill>
        <p:spPr>
          <a:xfrm>
            <a:off x="8383584" y="2037648"/>
            <a:ext cx="368686" cy="368686"/>
          </a:xfrm>
          <a:prstGeom prst="rect">
            <a:avLst/>
          </a:prstGeom>
        </p:spPr>
      </p:pic>
      <p:sp>
        <p:nvSpPr>
          <p:cNvPr id="9015" name="TextBox 9014"/>
          <p:cNvSpPr txBox="1"/>
          <p:nvPr/>
        </p:nvSpPr>
        <p:spPr>
          <a:xfrm>
            <a:off x="8238744" y="2697480"/>
            <a:ext cx="2926080" cy="731520"/>
          </a:xfrm>
          <a:prstGeom prst="rect">
            <a:avLst/>
          </a:prstGeom>
          <a:noFill/>
        </p:spPr>
        <p:txBody>
          <a:bodyPr wrap="square" lIns="0" tIns="0" rIns="0" bIns="0" anchor="t">
            <a:noAutofit/>
          </a:bodyPr>
          <a:lstStyle/>
          <a:p>
            <a:pPr algn="l"/>
            <a:r>
              <a:rPr sz="1800" b="1" i="0">
                <a:solidFill>
                  <a:srgbClr val="2E1065"/>
                </a:solidFill>
                <a:latin typeface="Segoe UI"/>
                <a:ea typeface="Segoe UI"/>
                <a:cs typeface="Segoe UI"/>
              </a:rPr>
              <a:t>Work-network security, kept on</a:t>
            </a:r>
          </a:p>
        </p:txBody>
      </p:sp>
      <p:sp>
        <p:nvSpPr>
          <p:cNvPr id="9016" name="TextBox 9015"/>
          <p:cNvSpPr txBox="1"/>
          <p:nvPr/>
        </p:nvSpPr>
        <p:spPr>
          <a:xfrm>
            <a:off x="8238744" y="3429000"/>
            <a:ext cx="2926080" cy="1600200"/>
          </a:xfrm>
          <a:prstGeom prst="rect">
            <a:avLst/>
          </a:prstGeom>
          <a:noFill/>
        </p:spPr>
        <p:txBody>
          <a:bodyPr wrap="square" lIns="0" tIns="0" rIns="0" bIns="0" anchor="t">
            <a:noAutofit/>
          </a:bodyPr>
          <a:lstStyle/>
          <a:p>
            <a:pPr algn="l"/>
            <a:r>
              <a:rPr sz="1600" b="0" i="0">
                <a:solidFill>
                  <a:srgbClr val="3A3A3A"/>
                </a:solidFill>
                <a:latin typeface="Segoe UI"/>
                <a:ea typeface="Segoe UI"/>
                <a:cs typeface="Segoe UI"/>
              </a:rPr>
              <a:t>Some tools couldn't connect through our secure network. The approved fix is written down, so nobody is tempted to switch a security check off.</a:t>
            </a:r>
          </a:p>
        </p:txBody>
      </p:sp>
      <p:pic>
        <p:nvPicPr>
          <p:cNvPr id="9017" name="Picture 9016" descr="Stairs icon"/>
          <p:cNvPicPr>
            <a:picLocks noChangeAspect="1"/>
          </p:cNvPicPr>
          <p:nvPr/>
        </p:nvPicPr>
        <p:blipFill>
          <a:blip r:embed="rId6"/>
          <a:stretch>
            <a:fillRect/>
          </a:stretch>
        </p:blipFill>
        <p:spPr>
          <a:xfrm>
            <a:off x="841248" y="5349240"/>
            <a:ext cx="457200" cy="457200"/>
          </a:xfrm>
          <a:prstGeom prst="rect">
            <a:avLst/>
          </a:prstGeom>
        </p:spPr>
      </p:pic>
      <p:sp>
        <p:nvSpPr>
          <p:cNvPr id="9018" name="TextBox 9017"/>
          <p:cNvSpPr txBox="1"/>
          <p:nvPr/>
        </p:nvSpPr>
        <p:spPr>
          <a:xfrm>
            <a:off x="1417320" y="5303520"/>
            <a:ext cx="9875520" cy="548640"/>
          </a:xfrm>
          <a:prstGeom prst="rect">
            <a:avLst/>
          </a:prstGeom>
          <a:noFill/>
        </p:spPr>
        <p:txBody>
          <a:bodyPr wrap="square" lIns="0" tIns="0" rIns="0" bIns="0" anchor="ctr">
            <a:noAutofit/>
          </a:bodyPr>
          <a:lstStyle/>
          <a:p>
            <a:pPr algn="l"/>
            <a:r>
              <a:rPr sz="1800" b="1" i="0">
                <a:solidFill>
                  <a:srgbClr val="2E1065"/>
                </a:solidFill>
                <a:latin typeface="Segoe UI"/>
                <a:ea typeface="Segoe UI"/>
                <a:cs typeface="Segoe UI"/>
              </a:rPr>
              <a:t>Each one cost time exactly once. </a:t>
            </a:r>
            <a:r>
              <a:rPr sz="1800" b="0" i="0">
                <a:solidFill>
                  <a:srgbClr val="3A3A3A"/>
                </a:solidFill>
                <a:latin typeface="Segoe UI"/>
                <a:ea typeface="Segoe UI"/>
                <a:cs typeface="Segoe UI"/>
              </a:rPr>
              <a:t>Then it became a written rule the agent reads every session.</a:t>
            </a:r>
          </a:p>
        </p:txBody>
      </p:sp>
    </p:spTree>
  </p:cSld>
  <p:clrMapOvr>
    <a:masterClrMapping/>
  </p:clrMapOvr>
</p:sld>
</file>

<file path=ppt/theme/theme1.xml><?xml version="1.0" encoding="utf-8"?>
<a:theme xmlns:a="http://schemas.openxmlformats.org/drawingml/2006/main" name="OIT Tech Motion Layout">
  <a:themeElements>
    <a:clrScheme name="OIT - TechMotion Theme">
      <a:dk1>
        <a:srgbClr val="2E1065"/>
      </a:dk1>
      <a:lt1>
        <a:srgbClr val="FFFFFF"/>
      </a:lt1>
      <a:dk2>
        <a:srgbClr val="2E1065"/>
      </a:dk2>
      <a:lt2>
        <a:srgbClr val="FFFFFF"/>
      </a:lt2>
      <a:accent1>
        <a:srgbClr val="2E1065"/>
      </a:accent1>
      <a:accent2>
        <a:srgbClr val="7C3AED"/>
      </a:accent2>
      <a:accent3>
        <a:srgbClr val="C084FC"/>
      </a:accent3>
      <a:accent4>
        <a:srgbClr val="DB2777"/>
      </a:accent4>
      <a:accent5>
        <a:srgbClr val="919191"/>
      </a:accent5>
      <a:accent6>
        <a:srgbClr val="1E0B3A"/>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OIT-PPT-Template-Tech-Motion-v8-240223" id="{E24F2BD6-8E9E-054A-BCA7-50A92BBEAA67}" vid="{BCB04C1F-BC91-C74B-ABA7-195E21CF62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b58d844-294f-4033-8c37-dcffff13eaa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65806993435A64CB04CD196770FAB43" ma:contentTypeVersion="10" ma:contentTypeDescription="Create a new document." ma:contentTypeScope="" ma:versionID="85db10efbdc55c7c04d277625a1d0a20">
  <xsd:schema xmlns:xsd="http://www.w3.org/2001/XMLSchema" xmlns:xs="http://www.w3.org/2001/XMLSchema" xmlns:p="http://schemas.microsoft.com/office/2006/metadata/properties" xmlns:ns2="4b58d844-294f-4033-8c37-dcffff13eaaa" targetNamespace="http://schemas.microsoft.com/office/2006/metadata/properties" ma:root="true" ma:fieldsID="9595f7f4f1c7218f8ce3acc32d139bb5" ns2:_="">
    <xsd:import namespace="4b58d844-294f-4033-8c37-dcffff13ea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58d844-294f-4033-8c37-dcffff13ea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55CE0D-1072-472C-9944-AFF2E920F18A}">
  <ds:schemaRefs>
    <ds:schemaRef ds:uri="http://purl.org/dc/elements/1.1/"/>
    <ds:schemaRef ds:uri="7832ce91-26ca-45a0-948f-a9b08daf2513"/>
    <ds:schemaRef ds:uri="beccf663-bd2d-43e9-b614-3b1f13585373"/>
    <ds:schemaRef ds:uri="http://schemas.microsoft.com/office/2006/metadata/properties"/>
    <ds:schemaRef ds:uri="http://purl.org/dc/terms/"/>
    <ds:schemaRef ds:uri="http://schemas.microsoft.com/sharepoint/v3"/>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dcmitype/"/>
    <ds:schemaRef ds:uri="9c9cecd5-8a47-4e12-be1b-82ab622d536a"/>
    <ds:schemaRef ds:uri="e856e541-a9a3-46e4-9309-d674b2a8eb38"/>
    <ds:schemaRef ds:uri="4b58d844-294f-4033-8c37-dcffff13eaaa"/>
  </ds:schemaRefs>
</ds:datastoreItem>
</file>

<file path=customXml/itemProps2.xml><?xml version="1.0" encoding="utf-8"?>
<ds:datastoreItem xmlns:ds="http://schemas.openxmlformats.org/officeDocument/2006/customXml" ds:itemID="{F16ADF8C-15C6-4144-AA5D-2F812869A5B0}">
  <ds:schemaRefs>
    <ds:schemaRef ds:uri="http://schemas.microsoft.com/sharepoint/v3/contenttype/forms"/>
  </ds:schemaRefs>
</ds:datastoreItem>
</file>

<file path=customXml/itemProps3.xml><?xml version="1.0" encoding="utf-8"?>
<ds:datastoreItem xmlns:ds="http://schemas.openxmlformats.org/officeDocument/2006/customXml" ds:itemID="{E7CDCB2F-DF35-4885-9A89-E26330EEA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58d844-294f-4033-8c37-dcffff13e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VA-OIT-PPT-Template-Tech-Motion-v8-240323 (1)</Template>
  <TotalTime>2185</TotalTime>
  <Words>8484</Words>
  <Application>Microsoft Macintosh PowerPoint</Application>
  <PresentationFormat>Widescreen</PresentationFormat>
  <Paragraphs>834</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.AppleSystemUIFont</vt:lpstr>
      <vt:lpstr>Arial</vt:lpstr>
      <vt:lpstr>Calibri</vt:lpstr>
      <vt:lpstr>Consolas</vt:lpstr>
      <vt:lpstr>Segoe UI</vt:lpstr>
      <vt:lpstr>OIT Tech Motion Layout</vt:lpstr>
      <vt:lpstr>Epic Robots</vt:lpstr>
      <vt:lpstr>An experiment: a whole epic built with AI, tripled my velocity</vt:lpstr>
      <vt:lpstr>Then it compounded, each epic faster than the last</vt:lpstr>
      <vt:lpstr>It isn’t one build; it’s a growth engine</vt:lpstr>
      <vt:lpstr>AI helps you go faster. Structure helps you navigate at speed. Context helps you remember the shortcuts.</vt:lpstr>
      <vt:lpstr>How most people use AI vs. what's possible</vt:lpstr>
      <vt:lpstr>Same roles, same artifacts, with AI helping every step</vt:lpstr>
      <vt:lpstr>The repo holds the memories</vt:lpstr>
      <vt:lpstr>Definition of Done: code, tests, and docs, done together</vt:lpstr>
      <vt:lpstr>Humans control the risks and gates</vt:lpstr>
      <vt:lpstr>It should work. “Should” means you must test</vt:lpstr>
      <vt:lpstr>The collaboration contract</vt:lpstr>
      <vt:lpstr>Learn from your mistakes (pay the cost only once)</vt:lpstr>
      <vt:lpstr>Toolkits: plan for re-use</vt:lpstr>
      <vt:lpstr>Just Start</vt:lpstr>
      <vt:lpstr>The artifacts up close, all real files you can open</vt:lpstr>
      <vt:lpstr>Questions?</vt:lpstr>
      <vt:lpstr>Appendix</vt:lpstr>
      <vt:lpstr>The setup: what you need to run it</vt:lpstr>
      <vt:lpstr>Reminders and anti-patterns</vt:lpstr>
      <vt:lpstr>Back to that 263: some detailed stats</vt:lpstr>
      <vt:lpstr>And it works: green right now</vt:lpstr>
      <vt:lpstr>The full numbers, and how they're counted</vt:lpstr>
      <vt:lpstr>Why I don't headline cycle time</vt:lpstr>
      <vt:lpstr>TDD §5.0: one daily run, as a flowchart</vt:lpstr>
      <vt:lpstr>TDD §5.0: the walkthrough table that narrates it</vt:lpstr>
      <vt:lpstr>A tour of AGENTS.md, the working agreement</vt:lpstr>
      <vt:lpstr>Environment lessons: small fixes that saved hours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Epic Robots: AI-Powered Agile Product Management</dc:title>
  <dc:subject/>
  <dc:creator>James Lovell</dc:creator>
  <cp:keywords>PPT, OIT, presentation, Office of Information and Technology, presentaion, template, layout</cp:keywords>
  <dc:description>OIT20230327</dc:description>
  <cp:lastModifiedBy>Jt Lovell</cp:lastModifiedBy>
  <cp:revision>45</cp:revision>
  <cp:lastPrinted>2017-03-28T14:15:43Z</cp:lastPrinted>
  <dcterms:created xsi:type="dcterms:W3CDTF">2023-05-08T14:42:26Z</dcterms:created>
  <dcterms:modified xsi:type="dcterms:W3CDTF">2026-10-22T02:22:24Z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0x010100D65806993435A64CB04CD196770FAB43</vt:lpwstr>
  </property>
</Properties>
</file>